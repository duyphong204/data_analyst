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comment1.xml" ContentType="application/vnd.openxmlformats-officedocument.presentationml.comments+xml"/>
  <Override PartName="/ppt/notesSlides/notesSlide3.xml" ContentType="application/vnd.openxmlformats-officedocument.presentationml.notesSlide+xml"/>
  <Override PartName="/ppt/comments/comment2.xml" ContentType="application/vnd.openxmlformats-officedocument.presentationml.comments+xml"/>
  <Override PartName="/ppt/comments/comment3.xml" ContentType="application/vnd.openxmlformats-officedocument.presentationml.comments+xml"/>
  <Override PartName="/ppt/comments/comment4.xml" ContentType="application/vnd.openxmlformats-officedocument.presentationml.comments+xml"/>
  <Override PartName="/ppt/comments/comment5.xml" ContentType="application/vnd.openxmlformats-officedocument.presentationml.comments+xml"/>
  <Override PartName="/ppt/comments/comment6.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notesMasterIdLst>
    <p:notesMasterId r:id="rId24"/>
  </p:notesMasterIdLst>
  <p:sldIdLst>
    <p:sldId id="260" r:id="rId2"/>
    <p:sldId id="261" r:id="rId3"/>
    <p:sldId id="285" r:id="rId4"/>
    <p:sldId id="262" r:id="rId5"/>
    <p:sldId id="289" r:id="rId6"/>
    <p:sldId id="280" r:id="rId7"/>
    <p:sldId id="263" r:id="rId8"/>
    <p:sldId id="276" r:id="rId9"/>
    <p:sldId id="271" r:id="rId10"/>
    <p:sldId id="264" r:id="rId11"/>
    <p:sldId id="281" r:id="rId12"/>
    <p:sldId id="288" r:id="rId13"/>
    <p:sldId id="272" r:id="rId14"/>
    <p:sldId id="282" r:id="rId15"/>
    <p:sldId id="290" r:id="rId16"/>
    <p:sldId id="278" r:id="rId17"/>
    <p:sldId id="283" r:id="rId18"/>
    <p:sldId id="286" r:id="rId19"/>
    <p:sldId id="284" r:id="rId20"/>
    <p:sldId id="287" r:id="rId21"/>
    <p:sldId id="275" r:id="rId22"/>
    <p:sldId id="270"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ELL" initials="D" lastIdx="21" clrIdx="0">
    <p:extLst>
      <p:ext uri="{19B8F6BF-5375-455C-9EA6-DF929625EA0E}">
        <p15:presenceInfo xmlns:p15="http://schemas.microsoft.com/office/powerpoint/2012/main" userId="c80741e920081c47"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424242"/>
    <a:srgbClr val="6C6C6C"/>
    <a:srgbClr val="616161"/>
    <a:srgbClr val="0307B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4364" autoAdjust="0"/>
  </p:normalViewPr>
  <p:slideViewPr>
    <p:cSldViewPr snapToGrid="0">
      <p:cViewPr varScale="1">
        <p:scale>
          <a:sx n="78" d="100"/>
          <a:sy n="78" d="100"/>
        </p:scale>
        <p:origin x="869" y="62"/>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5-05-03T00:08:00.603" idx="20">
    <p:pos x="3589" y="763"/>
    <p:text>Đoạn này đầu vào nói là để thiết kế được mô hình như đã suy luận thì ta cần sử dụng không gian màu LAB</p:text>
    <p:extLst>
      <p:ext uri="{C676402C-5697-4E1C-873F-D02D1690AC5C}">
        <p15:threadingInfo xmlns:p15="http://schemas.microsoft.com/office/powerpoint/2012/main" timeZoneBias="-42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5-05-14T15:56:00.738" idx="10">
    <p:pos x="4492" y="694"/>
    <p:text>Cách tiếp cận cơ bản đầu tiên để giải quyết bài toán tô màu ảnh là xem nó như một bài toán hồi quy</p:text>
    <p:extLst>
      <p:ext uri="{C676402C-5697-4E1C-873F-D02D1690AC5C}">
        <p15:threadingInfo xmlns:p15="http://schemas.microsoft.com/office/powerpoint/2012/main" timeZoneBias="-420"/>
      </p:ext>
    </p:extLst>
  </p:cm>
  <p:cm authorId="1" dt="2025-05-14T16:01:51.842" idx="11">
    <p:pos x="4492" y="790"/>
    <p:text>Quy trình của hihf là: Đầu vào ảnh xám sau khi qua model thì model sẽ dự đoán được 2 màu ab, ảnh thật sau khi chuyển từ RGB-&gt;LAB thì sẽ tách lấy 2 màu ab  =&gt; Sau đó dùng Loss function để so sánh ab ảnh thật và tạo rồi thu thập các thông tin để cho model học</p:text>
    <p:extLst>
      <p:ext uri="{C676402C-5697-4E1C-873F-D02D1690AC5C}">
        <p15:threadingInfo xmlns:p15="http://schemas.microsoft.com/office/powerpoint/2012/main" timeZoneBias="-420">
          <p15:parentCm authorId="1" idx="10"/>
        </p15:threadingInfo>
      </p:ext>
    </p:extLst>
  </p:cm>
  <p:cm authorId="1" dt="2025-05-14T16:13:29.520" idx="12">
    <p:pos x="4492" y="886"/>
    <p:text>Phía dưới là ví dụ</p:text>
    <p:extLst>
      <p:ext uri="{C676402C-5697-4E1C-873F-D02D1690AC5C}">
        <p15:threadingInfo xmlns:p15="http://schemas.microsoft.com/office/powerpoint/2012/main" timeZoneBias="-420">
          <p15:parentCm authorId="1" idx="10"/>
        </p15:threadingInfo>
      </p:ext>
    </p:extLst>
  </p:cm>
  <p:cm authorId="1" dt="2025-05-14T16:15:46.391" idx="13">
    <p:pos x="4492" y="982"/>
    <p:text>Tuy nhiên, hàm mất mát (loss) này không đủ mạnh để xử lý tính mơ hồ vốn có và bản chất nhiều khả năng của bài toán tô màu. Nếu một vật thể có thể mang nhiều giá trị màu a và b khác nhau, thì nghiệm tối ưu theo hàm mất mát Euclidean sẽ là trung bình cộng của các giá trị đó.
Trong bài toán dự đoán màu, hiệu ứng trung bình này khiến cho kết quả có xu hướng xám xịt, thiếu màu sắc sống động.</p:text>
    <p:extLst>
      <p:ext uri="{C676402C-5697-4E1C-873F-D02D1690AC5C}">
        <p15:threadingInfo xmlns:p15="http://schemas.microsoft.com/office/powerpoint/2012/main" timeZoneBias="-420">
          <p15:parentCm authorId="1" idx="10"/>
        </p15:threadingInfo>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5-05-14T16:20:46.786" idx="14">
    <p:pos x="10" y="10"/>
    <p:text>-Chính vì vậy, chúng tôi xử lý bài toán như là một bài toán phân loại đa thức.Chúng tôi lượng tử hóa không gian đầu ra ab thành các ô vuông (bin) với kích thước lưới là 10 và giữ lại Q = 313 giá trị nằm trong gamut màu (phạm vi màu hợp lệ)</p:text>
    <p:extLst>
      <p:ext uri="{C676402C-5697-4E1C-873F-D02D1690AC5C}">
        <p15:threadingInfo xmlns:p15="http://schemas.microsoft.com/office/powerpoint/2012/main" timeZoneBias="-42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1" dt="2025-05-14T16:30:55.045" idx="16">
    <p:pos x="10" y="10"/>
    <p:text>Chúng tôi lượng tử hóa không gian màu ab thành 313 (Q=313) lớp rời rạc. Mỗi điểm ảnh được gán một lớp màu tương ứng, và mô hình sẽ dự đoán xác suất cho từng lớp này.</p:text>
    <p:extLst>
      <p:ext uri="{C676402C-5697-4E1C-873F-D02D1690AC5C}">
        <p15:threadingInfo xmlns:p15="http://schemas.microsoft.com/office/powerpoint/2012/main" timeZoneBias="-420"/>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1" dt="2025-05-14T16:30:55.045" idx="21">
    <p:pos x="10" y="10"/>
    <p:text>Chúng tôi lượng tử hóa không gian màu ab thành 313 (Q=313) lớp rời rạc. Mỗi điểm ảnh được gán một lớp màu tương ứng, và mô hình sẽ dự đoán xác suất cho từng lớp này.</p:text>
    <p:extLst>
      <p:ext uri="{C676402C-5697-4E1C-873F-D02D1690AC5C}">
        <p15:threadingInfo xmlns:p15="http://schemas.microsoft.com/office/powerpoint/2012/main" timeZoneBias="-420"/>
      </p:ext>
    </p:extLst>
  </p:cm>
</p:cmLst>
</file>

<file path=ppt/comments/comment6.xml><?xml version="1.0" encoding="utf-8"?>
<p:cmLst xmlns:a="http://schemas.openxmlformats.org/drawingml/2006/main" xmlns:r="http://schemas.openxmlformats.org/officeDocument/2006/relationships" xmlns:p="http://schemas.openxmlformats.org/presentationml/2006/main">
  <p:cm authorId="1" dt="2025-05-14T17:10:21.207" idx="18">
    <p:pos x="10" y="10"/>
    <p:text>Nhược điểm là đậm hơn...</p:text>
    <p:extLst>
      <p:ext uri="{C676402C-5697-4E1C-873F-D02D1690AC5C}">
        <p15:threadingInfo xmlns:p15="http://schemas.microsoft.com/office/powerpoint/2012/main" timeZoneBias="-42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70FEDE-5384-4AAC-BC2F-15E717367EFE}" type="datetimeFigureOut">
              <a:rPr lang="en-US" smtClean="0"/>
              <a:t>12/19/2025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A0FD22-CC27-4A2A-B83E-6828D7AB975F}" type="slidenum">
              <a:rPr lang="en-US" smtClean="0"/>
              <a:t>‹#›</a:t>
            </a:fld>
            <a:endParaRPr lang="en-US"/>
          </a:p>
        </p:txBody>
      </p:sp>
    </p:spTree>
    <p:extLst>
      <p:ext uri="{BB962C8B-B14F-4D97-AF65-F5344CB8AC3E}">
        <p14:creationId xmlns:p14="http://schemas.microsoft.com/office/powerpoint/2010/main" val="34134951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10d8a3913e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10d8a3913e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871281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2A0FD22-CC27-4A2A-B83E-6828D7AB975F}" type="slidenum">
              <a:rPr lang="en-US" smtClean="0"/>
              <a:t>6</a:t>
            </a:fld>
            <a:endParaRPr lang="en-US"/>
          </a:p>
        </p:txBody>
      </p:sp>
    </p:spTree>
    <p:extLst>
      <p:ext uri="{BB962C8B-B14F-4D97-AF65-F5344CB8AC3E}">
        <p14:creationId xmlns:p14="http://schemas.microsoft.com/office/powerpoint/2010/main" val="35087883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2A0FD22-CC27-4A2A-B83E-6828D7AB975F}" type="slidenum">
              <a:rPr lang="en-US" smtClean="0"/>
              <a:t>8</a:t>
            </a:fld>
            <a:endParaRPr lang="en-US"/>
          </a:p>
        </p:txBody>
      </p:sp>
    </p:spTree>
    <p:extLst>
      <p:ext uri="{BB962C8B-B14F-4D97-AF65-F5344CB8AC3E}">
        <p14:creationId xmlns:p14="http://schemas.microsoft.com/office/powerpoint/2010/main" val="1582305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 R01" type="title">
  <p:cSld name="Title slide - R01">
    <p:spTree>
      <p:nvGrpSpPr>
        <p:cNvPr id="1" name="Shape 9"/>
        <p:cNvGrpSpPr/>
        <p:nvPr/>
      </p:nvGrpSpPr>
      <p:grpSpPr>
        <a:xfrm>
          <a:off x="0" y="0"/>
          <a:ext cx="0" cy="0"/>
          <a:chOff x="0" y="0"/>
          <a:chExt cx="0" cy="0"/>
        </a:xfrm>
      </p:grpSpPr>
      <p:sp>
        <p:nvSpPr>
          <p:cNvPr id="10" name="Google Shape;10;p2"/>
          <p:cNvSpPr/>
          <p:nvPr/>
        </p:nvSpPr>
        <p:spPr>
          <a:xfrm flipH="1">
            <a:off x="10995200" y="5661233"/>
            <a:ext cx="1196800" cy="1196800"/>
          </a:xfrm>
          <a:prstGeom prst="rtTriangle">
            <a:avLst/>
          </a:prstGeom>
          <a:solidFill>
            <a:schemeClr val="lt1"/>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 name="Google Shape;11;p2"/>
          <p:cNvSpPr/>
          <p:nvPr/>
        </p:nvSpPr>
        <p:spPr>
          <a:xfrm flipH="1">
            <a:off x="10995200" y="5661167"/>
            <a:ext cx="1196800" cy="1196800"/>
          </a:xfrm>
          <a:prstGeom prst="round1Rect">
            <a:avLst>
              <a:gd name="adj" fmla="val 16667"/>
            </a:avLst>
          </a:prstGeom>
          <a:solidFill>
            <a:schemeClr val="lt1">
              <a:alpha val="68080"/>
            </a:schemeClr>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2" name="Google Shape;12;p2"/>
          <p:cNvSpPr txBox="1">
            <a:spLocks noGrp="1"/>
          </p:cNvSpPr>
          <p:nvPr>
            <p:ph type="ctrTitle"/>
          </p:nvPr>
        </p:nvSpPr>
        <p:spPr>
          <a:xfrm>
            <a:off x="520700" y="2425700"/>
            <a:ext cx="10962800" cy="1244800"/>
          </a:xfrm>
          <a:prstGeom prst="rect">
            <a:avLst/>
          </a:prstGeom>
        </p:spPr>
        <p:txBody>
          <a:bodyPr spcFirstLastPara="1" wrap="square" lIns="91425" tIns="91425" rIns="91425" bIns="91425" anchor="b" anchorCtr="0">
            <a:noAutofit/>
          </a:bodyPr>
          <a:lstStyle>
            <a:lvl1pPr lvl="0">
              <a:spcBef>
                <a:spcPts val="0"/>
              </a:spcBef>
              <a:spcAft>
                <a:spcPts val="0"/>
              </a:spcAft>
              <a:buSzPts val="4800"/>
              <a:buNone/>
              <a:defRPr sz="6400"/>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endParaRPr/>
          </a:p>
        </p:txBody>
      </p:sp>
      <p:sp>
        <p:nvSpPr>
          <p:cNvPr id="13" name="Google Shape;13;p2"/>
          <p:cNvSpPr txBox="1">
            <a:spLocks noGrp="1"/>
          </p:cNvSpPr>
          <p:nvPr>
            <p:ph type="subTitle" idx="1"/>
          </p:nvPr>
        </p:nvSpPr>
        <p:spPr>
          <a:xfrm>
            <a:off x="520700" y="3718840"/>
            <a:ext cx="10962800" cy="577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2400">
                <a:solidFill>
                  <a:schemeClr val="lt1"/>
                </a:solidFill>
              </a:defRPr>
            </a:lvl2pPr>
            <a:lvl3pPr lvl="2">
              <a:lnSpc>
                <a:spcPct val="100000"/>
              </a:lnSpc>
              <a:spcBef>
                <a:spcPts val="0"/>
              </a:spcBef>
              <a:spcAft>
                <a:spcPts val="0"/>
              </a:spcAft>
              <a:buClr>
                <a:schemeClr val="lt1"/>
              </a:buClr>
              <a:buSzPts val="1800"/>
              <a:buNone/>
              <a:defRPr sz="2400">
                <a:solidFill>
                  <a:schemeClr val="lt1"/>
                </a:solidFill>
              </a:defRPr>
            </a:lvl3pPr>
            <a:lvl4pPr lvl="3">
              <a:lnSpc>
                <a:spcPct val="100000"/>
              </a:lnSpc>
              <a:spcBef>
                <a:spcPts val="0"/>
              </a:spcBef>
              <a:spcAft>
                <a:spcPts val="0"/>
              </a:spcAft>
              <a:buClr>
                <a:schemeClr val="lt1"/>
              </a:buClr>
              <a:buSzPts val="1800"/>
              <a:buNone/>
              <a:defRPr sz="2400">
                <a:solidFill>
                  <a:schemeClr val="lt1"/>
                </a:solidFill>
              </a:defRPr>
            </a:lvl4pPr>
            <a:lvl5pPr lvl="4">
              <a:lnSpc>
                <a:spcPct val="100000"/>
              </a:lnSpc>
              <a:spcBef>
                <a:spcPts val="0"/>
              </a:spcBef>
              <a:spcAft>
                <a:spcPts val="0"/>
              </a:spcAft>
              <a:buClr>
                <a:schemeClr val="lt1"/>
              </a:buClr>
              <a:buSzPts val="1800"/>
              <a:buNone/>
              <a:defRPr sz="2400">
                <a:solidFill>
                  <a:schemeClr val="lt1"/>
                </a:solidFill>
              </a:defRPr>
            </a:lvl5pPr>
            <a:lvl6pPr lvl="5">
              <a:lnSpc>
                <a:spcPct val="100000"/>
              </a:lnSpc>
              <a:spcBef>
                <a:spcPts val="0"/>
              </a:spcBef>
              <a:spcAft>
                <a:spcPts val="0"/>
              </a:spcAft>
              <a:buClr>
                <a:schemeClr val="lt1"/>
              </a:buClr>
              <a:buSzPts val="1800"/>
              <a:buNone/>
              <a:defRPr sz="2400">
                <a:solidFill>
                  <a:schemeClr val="lt1"/>
                </a:solidFill>
              </a:defRPr>
            </a:lvl6pPr>
            <a:lvl7pPr lvl="6">
              <a:lnSpc>
                <a:spcPct val="100000"/>
              </a:lnSpc>
              <a:spcBef>
                <a:spcPts val="0"/>
              </a:spcBef>
              <a:spcAft>
                <a:spcPts val="0"/>
              </a:spcAft>
              <a:buClr>
                <a:schemeClr val="lt1"/>
              </a:buClr>
              <a:buSzPts val="1800"/>
              <a:buNone/>
              <a:defRPr sz="2400">
                <a:solidFill>
                  <a:schemeClr val="lt1"/>
                </a:solidFill>
              </a:defRPr>
            </a:lvl7pPr>
            <a:lvl8pPr lvl="7">
              <a:lnSpc>
                <a:spcPct val="100000"/>
              </a:lnSpc>
              <a:spcBef>
                <a:spcPts val="0"/>
              </a:spcBef>
              <a:spcAft>
                <a:spcPts val="0"/>
              </a:spcAft>
              <a:buClr>
                <a:schemeClr val="lt1"/>
              </a:buClr>
              <a:buSzPts val="1800"/>
              <a:buNone/>
              <a:defRPr sz="2400">
                <a:solidFill>
                  <a:schemeClr val="lt1"/>
                </a:solidFill>
              </a:defRPr>
            </a:lvl8pPr>
            <a:lvl9pPr lvl="8">
              <a:lnSpc>
                <a:spcPct val="100000"/>
              </a:lnSpc>
              <a:spcBef>
                <a:spcPts val="0"/>
              </a:spcBef>
              <a:spcAft>
                <a:spcPts val="0"/>
              </a:spcAft>
              <a:buClr>
                <a:schemeClr val="lt1"/>
              </a:buClr>
              <a:buSzPts val="1800"/>
              <a:buNone/>
              <a:defRPr sz="2400">
                <a:solidFill>
                  <a:schemeClr val="lt1"/>
                </a:solidFill>
              </a:defRPr>
            </a:lvl9pPr>
          </a:lstStyle>
          <a:p>
            <a:endParaRPr/>
          </a:p>
        </p:txBody>
      </p:sp>
    </p:spTree>
    <p:extLst>
      <p:ext uri="{BB962C8B-B14F-4D97-AF65-F5344CB8AC3E}">
        <p14:creationId xmlns:p14="http://schemas.microsoft.com/office/powerpoint/2010/main" val="1409161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 R01" type="secHead">
  <p:cSld name="Section header - R01">
    <p:spTree>
      <p:nvGrpSpPr>
        <p:cNvPr id="1" name="Shape 14"/>
        <p:cNvGrpSpPr/>
        <p:nvPr/>
      </p:nvGrpSpPr>
      <p:grpSpPr>
        <a:xfrm>
          <a:off x="0" y="0"/>
          <a:ext cx="0" cy="0"/>
          <a:chOff x="0" y="0"/>
          <a:chExt cx="0" cy="0"/>
        </a:xfrm>
      </p:grpSpPr>
      <p:sp>
        <p:nvSpPr>
          <p:cNvPr id="15" name="Google Shape;15;p3"/>
          <p:cNvSpPr txBox="1">
            <a:spLocks noGrp="1"/>
          </p:cNvSpPr>
          <p:nvPr>
            <p:ph type="title"/>
          </p:nvPr>
        </p:nvSpPr>
        <p:spPr>
          <a:xfrm>
            <a:off x="614600" y="2753800"/>
            <a:ext cx="10962800" cy="1350400"/>
          </a:xfrm>
          <a:prstGeom prst="rect">
            <a:avLst/>
          </a:prstGeom>
        </p:spPr>
        <p:txBody>
          <a:bodyPr spcFirstLastPara="1" wrap="square" lIns="91425" tIns="91425" rIns="91425" bIns="91425" anchor="ctr" anchorCtr="0">
            <a:noAutofit/>
          </a:bodyPr>
          <a:lstStyle>
            <a:lvl1pPr lvl="0">
              <a:spcBef>
                <a:spcPts val="0"/>
              </a:spcBef>
              <a:spcAft>
                <a:spcPts val="0"/>
              </a:spcAft>
              <a:buSzPts val="4200"/>
              <a:buNone/>
              <a:defRPr sz="5600"/>
            </a:lvl1pPr>
            <a:lvl2pPr lvl="1">
              <a:spcBef>
                <a:spcPts val="0"/>
              </a:spcBef>
              <a:spcAft>
                <a:spcPts val="0"/>
              </a:spcAft>
              <a:buSzPts val="4200"/>
              <a:buNone/>
              <a:defRPr sz="5600"/>
            </a:lvl2pPr>
            <a:lvl3pPr lvl="2">
              <a:spcBef>
                <a:spcPts val="0"/>
              </a:spcBef>
              <a:spcAft>
                <a:spcPts val="0"/>
              </a:spcAft>
              <a:buSzPts val="4200"/>
              <a:buNone/>
              <a:defRPr sz="5600"/>
            </a:lvl3pPr>
            <a:lvl4pPr lvl="3">
              <a:spcBef>
                <a:spcPts val="0"/>
              </a:spcBef>
              <a:spcAft>
                <a:spcPts val="0"/>
              </a:spcAft>
              <a:buSzPts val="4200"/>
              <a:buNone/>
              <a:defRPr sz="5600"/>
            </a:lvl4pPr>
            <a:lvl5pPr lvl="4">
              <a:spcBef>
                <a:spcPts val="0"/>
              </a:spcBef>
              <a:spcAft>
                <a:spcPts val="0"/>
              </a:spcAft>
              <a:buSzPts val="4200"/>
              <a:buNone/>
              <a:defRPr sz="5600"/>
            </a:lvl5pPr>
            <a:lvl6pPr lvl="5">
              <a:spcBef>
                <a:spcPts val="0"/>
              </a:spcBef>
              <a:spcAft>
                <a:spcPts val="0"/>
              </a:spcAft>
              <a:buSzPts val="4200"/>
              <a:buNone/>
              <a:defRPr sz="5600"/>
            </a:lvl6pPr>
            <a:lvl7pPr lvl="6">
              <a:spcBef>
                <a:spcPts val="0"/>
              </a:spcBef>
              <a:spcAft>
                <a:spcPts val="0"/>
              </a:spcAft>
              <a:buSzPts val="4200"/>
              <a:buNone/>
              <a:defRPr sz="5600"/>
            </a:lvl7pPr>
            <a:lvl8pPr lvl="7">
              <a:spcBef>
                <a:spcPts val="0"/>
              </a:spcBef>
              <a:spcAft>
                <a:spcPts val="0"/>
              </a:spcAft>
              <a:buSzPts val="4200"/>
              <a:buNone/>
              <a:defRPr sz="5600"/>
            </a:lvl8pPr>
            <a:lvl9pPr lvl="8">
              <a:spcBef>
                <a:spcPts val="0"/>
              </a:spcBef>
              <a:spcAft>
                <a:spcPts val="0"/>
              </a:spcAft>
              <a:buSzPts val="4200"/>
              <a:buNone/>
              <a:defRPr sz="5600"/>
            </a:lvl9pPr>
          </a:lstStyle>
          <a:p>
            <a:endParaRPr/>
          </a:p>
        </p:txBody>
      </p:sp>
    </p:spTree>
    <p:extLst>
      <p:ext uri="{BB962C8B-B14F-4D97-AF65-F5344CB8AC3E}">
        <p14:creationId xmlns:p14="http://schemas.microsoft.com/office/powerpoint/2010/main" val="2228256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 R01" type="tx">
  <p:cSld name="Title and body - R01">
    <p:spTree>
      <p:nvGrpSpPr>
        <p:cNvPr id="1" name="Shape 16"/>
        <p:cNvGrpSpPr/>
        <p:nvPr/>
      </p:nvGrpSpPr>
      <p:grpSpPr>
        <a:xfrm>
          <a:off x="0" y="0"/>
          <a:ext cx="0" cy="0"/>
          <a:chOff x="0" y="0"/>
          <a:chExt cx="0" cy="0"/>
        </a:xfrm>
      </p:grpSpPr>
      <p:sp>
        <p:nvSpPr>
          <p:cNvPr id="17" name="Google Shape;17;p4"/>
          <p:cNvSpPr/>
          <p:nvPr/>
        </p:nvSpPr>
        <p:spPr>
          <a:xfrm rot="10800000" flipH="1">
            <a:off x="0" y="971200"/>
            <a:ext cx="12192000" cy="5447200"/>
          </a:xfrm>
          <a:prstGeom prst="rect">
            <a:avLst/>
          </a:prstGeom>
          <a:solidFill>
            <a:schemeClr val="accent4"/>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8" name="Google Shape;18;p4"/>
          <p:cNvSpPr/>
          <p:nvPr/>
        </p:nvSpPr>
        <p:spPr>
          <a:xfrm>
            <a:off x="0" y="949184"/>
            <a:ext cx="12192000" cy="1448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9" name="Google Shape;19;p4"/>
          <p:cNvSpPr txBox="1">
            <a:spLocks noGrp="1"/>
          </p:cNvSpPr>
          <p:nvPr>
            <p:ph type="title"/>
          </p:nvPr>
        </p:nvSpPr>
        <p:spPr>
          <a:xfrm>
            <a:off x="629200" y="77167"/>
            <a:ext cx="10962800" cy="894000"/>
          </a:xfrm>
          <a:prstGeom prst="rect">
            <a:avLst/>
          </a:prstGeom>
        </p:spPr>
        <p:txBody>
          <a:bodyPr spcFirstLastPara="1" wrap="square" lIns="91425" tIns="91425" rIns="91425" bIns="91425" anchor="b"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20" name="Google Shape;20;p4"/>
          <p:cNvSpPr txBox="1">
            <a:spLocks noGrp="1"/>
          </p:cNvSpPr>
          <p:nvPr>
            <p:ph type="body" idx="1"/>
          </p:nvPr>
        </p:nvSpPr>
        <p:spPr>
          <a:xfrm>
            <a:off x="629200" y="1094000"/>
            <a:ext cx="10962800" cy="5211200"/>
          </a:xfrm>
          <a:prstGeom prst="rect">
            <a:avLst/>
          </a:prstGeom>
        </p:spPr>
        <p:txBody>
          <a:bodyPr spcFirstLastPara="1" wrap="square" lIns="91425" tIns="91425" rIns="91425" bIns="91425" anchor="t" anchorCtr="0">
            <a:noAutofit/>
          </a:bodyPr>
          <a:lstStyle>
            <a:lvl1pPr marL="609585" lvl="0" indent="-491054">
              <a:spcBef>
                <a:spcPts val="0"/>
              </a:spcBef>
              <a:spcAft>
                <a:spcPts val="0"/>
              </a:spcAft>
              <a:buClr>
                <a:srgbClr val="000000"/>
              </a:buClr>
              <a:buSzPts val="2200"/>
              <a:buChar char="●"/>
              <a:defRPr sz="2933">
                <a:solidFill>
                  <a:srgbClr val="000000"/>
                </a:solidFill>
              </a:defRPr>
            </a:lvl1pPr>
            <a:lvl2pPr marL="1219170" lvl="1" indent="-474121">
              <a:spcBef>
                <a:spcPts val="2133"/>
              </a:spcBef>
              <a:spcAft>
                <a:spcPts val="0"/>
              </a:spcAft>
              <a:buClr>
                <a:srgbClr val="000000"/>
              </a:buClr>
              <a:buSzPts val="2000"/>
              <a:buChar char="○"/>
              <a:defRPr sz="2667">
                <a:solidFill>
                  <a:srgbClr val="000000"/>
                </a:solidFill>
              </a:defRPr>
            </a:lvl2pPr>
            <a:lvl3pPr marL="1828754" lvl="2" indent="-457189">
              <a:spcBef>
                <a:spcPts val="2133"/>
              </a:spcBef>
              <a:spcAft>
                <a:spcPts val="0"/>
              </a:spcAft>
              <a:buClr>
                <a:srgbClr val="000000"/>
              </a:buClr>
              <a:buSzPts val="1800"/>
              <a:buChar char="■"/>
              <a:defRPr sz="2400">
                <a:solidFill>
                  <a:srgbClr val="000000"/>
                </a:solidFill>
              </a:defRPr>
            </a:lvl3pPr>
            <a:lvl4pPr marL="2438339" lvl="3" indent="-440256">
              <a:spcBef>
                <a:spcPts val="2133"/>
              </a:spcBef>
              <a:spcAft>
                <a:spcPts val="0"/>
              </a:spcAft>
              <a:buClr>
                <a:srgbClr val="000000"/>
              </a:buClr>
              <a:buSzPts val="1600"/>
              <a:buChar char="●"/>
              <a:defRPr sz="2133">
                <a:solidFill>
                  <a:srgbClr val="000000"/>
                </a:solidFill>
              </a:defRPr>
            </a:lvl4pPr>
            <a:lvl5pPr marL="3047924" lvl="4" indent="-423323">
              <a:spcBef>
                <a:spcPts val="2133"/>
              </a:spcBef>
              <a:spcAft>
                <a:spcPts val="0"/>
              </a:spcAft>
              <a:buClr>
                <a:srgbClr val="000000"/>
              </a:buClr>
              <a:buSzPts val="1400"/>
              <a:buChar char="○"/>
              <a:defRPr>
                <a:solidFill>
                  <a:srgbClr val="000000"/>
                </a:solidFill>
              </a:defRPr>
            </a:lvl5pPr>
            <a:lvl6pPr marL="3657509" lvl="5" indent="-423323">
              <a:spcBef>
                <a:spcPts val="2133"/>
              </a:spcBef>
              <a:spcAft>
                <a:spcPts val="0"/>
              </a:spcAft>
              <a:buClr>
                <a:srgbClr val="000000"/>
              </a:buClr>
              <a:buSzPts val="1400"/>
              <a:buChar char="■"/>
              <a:defRPr>
                <a:solidFill>
                  <a:srgbClr val="000000"/>
                </a:solidFill>
              </a:defRPr>
            </a:lvl6pPr>
            <a:lvl7pPr marL="4267093" lvl="6" indent="-423323">
              <a:spcBef>
                <a:spcPts val="2133"/>
              </a:spcBef>
              <a:spcAft>
                <a:spcPts val="0"/>
              </a:spcAft>
              <a:buClr>
                <a:srgbClr val="000000"/>
              </a:buClr>
              <a:buSzPts val="1400"/>
              <a:buChar char="●"/>
              <a:defRPr>
                <a:solidFill>
                  <a:srgbClr val="000000"/>
                </a:solidFill>
              </a:defRPr>
            </a:lvl7pPr>
            <a:lvl8pPr marL="4876678" lvl="7" indent="-423323">
              <a:spcBef>
                <a:spcPts val="2133"/>
              </a:spcBef>
              <a:spcAft>
                <a:spcPts val="0"/>
              </a:spcAft>
              <a:buClr>
                <a:srgbClr val="000000"/>
              </a:buClr>
              <a:buSzPts val="1400"/>
              <a:buChar char="○"/>
              <a:defRPr>
                <a:solidFill>
                  <a:srgbClr val="000000"/>
                </a:solidFill>
              </a:defRPr>
            </a:lvl8pPr>
            <a:lvl9pPr marL="5486263" lvl="8" indent="-423323">
              <a:spcBef>
                <a:spcPts val="2133"/>
              </a:spcBef>
              <a:spcAft>
                <a:spcPts val="2133"/>
              </a:spcAft>
              <a:buSzPts val="1400"/>
              <a:buChar char="■"/>
              <a:defRPr/>
            </a:lvl9pPr>
          </a:lstStyle>
          <a:p>
            <a:endParaRPr/>
          </a:p>
        </p:txBody>
      </p:sp>
      <p:sp>
        <p:nvSpPr>
          <p:cNvPr id="21" name="Google Shape;21;p4"/>
          <p:cNvSpPr txBox="1">
            <a:spLocks noGrp="1"/>
          </p:cNvSpPr>
          <p:nvPr>
            <p:ph type="sldNum" idx="12"/>
          </p:nvPr>
        </p:nvSpPr>
        <p:spPr>
          <a:xfrm>
            <a:off x="11364733" y="6418399"/>
            <a:ext cx="731600" cy="3672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defTabSz="1219170">
              <a:buClr>
                <a:srgbClr val="000000"/>
              </a:buClr>
            </a:pPr>
            <a:fld id="{00000000-1234-1234-1234-123412341234}" type="slidenum">
              <a:rPr lang="en" kern="0" smtClean="0">
                <a:solidFill>
                  <a:srgbClr val="737373"/>
                </a:solidFill>
              </a:rPr>
              <a:pPr defTabSz="1219170">
                <a:buClr>
                  <a:srgbClr val="000000"/>
                </a:buClr>
              </a:pPr>
              <a:t>‹#›</a:t>
            </a:fld>
            <a:endParaRPr lang="en" kern="0">
              <a:solidFill>
                <a:srgbClr val="737373"/>
              </a:solidFill>
            </a:endParaRPr>
          </a:p>
        </p:txBody>
      </p:sp>
      <p:sp>
        <p:nvSpPr>
          <p:cNvPr id="22" name="Google Shape;22;p4"/>
          <p:cNvSpPr txBox="1"/>
          <p:nvPr/>
        </p:nvSpPr>
        <p:spPr>
          <a:xfrm>
            <a:off x="629200" y="6404700"/>
            <a:ext cx="10844400" cy="395600"/>
          </a:xfrm>
          <a:prstGeom prst="rect">
            <a:avLst/>
          </a:prstGeom>
          <a:no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1" i="0" u="none" strike="noStrike" kern="0" cap="none" spc="0" normalizeH="0" baseline="0" noProof="0" dirty="0">
              <a:ln>
                <a:noFill/>
              </a:ln>
              <a:solidFill>
                <a:srgbClr val="FFFFFF"/>
              </a:solidFill>
              <a:effectLst/>
              <a:uLnTx/>
              <a:uFillTx/>
              <a:latin typeface="Roboto"/>
              <a:ea typeface="Roboto"/>
              <a:cs typeface="Roboto"/>
              <a:sym typeface="Roboto"/>
            </a:endParaRPr>
          </a:p>
        </p:txBody>
      </p:sp>
    </p:spTree>
    <p:extLst>
      <p:ext uri="{BB962C8B-B14F-4D97-AF65-F5344CB8AC3E}">
        <p14:creationId xmlns:p14="http://schemas.microsoft.com/office/powerpoint/2010/main" val="2149145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3"/>
        <p:cNvGrpSpPr/>
        <p:nvPr/>
      </p:nvGrpSpPr>
      <p:grpSpPr>
        <a:xfrm>
          <a:off x="0" y="0"/>
          <a:ext cx="0" cy="0"/>
          <a:chOff x="0" y="0"/>
          <a:chExt cx="0" cy="0"/>
        </a:xfrm>
      </p:grpSpPr>
      <p:sp>
        <p:nvSpPr>
          <p:cNvPr id="24" name="Google Shape;24;p5"/>
          <p:cNvSpPr/>
          <p:nvPr/>
        </p:nvSpPr>
        <p:spPr>
          <a:xfrm rot="10800000" flipH="1">
            <a:off x="0" y="2248000"/>
            <a:ext cx="12192000" cy="4610000"/>
          </a:xfrm>
          <a:prstGeom prst="rect">
            <a:avLst/>
          </a:prstGeom>
          <a:solidFill>
            <a:schemeClr val="accent4"/>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25" name="Google Shape;25;p5"/>
          <p:cNvSpPr/>
          <p:nvPr/>
        </p:nvSpPr>
        <p:spPr>
          <a:xfrm>
            <a:off x="0" y="2248000"/>
            <a:ext cx="12192000" cy="1448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26" name="Google Shape;26;p5"/>
          <p:cNvSpPr txBox="1">
            <a:spLocks noGrp="1"/>
          </p:cNvSpPr>
          <p:nvPr>
            <p:ph type="title"/>
          </p:nvPr>
        </p:nvSpPr>
        <p:spPr>
          <a:xfrm>
            <a:off x="629200" y="984967"/>
            <a:ext cx="10962800" cy="1023600"/>
          </a:xfrm>
          <a:prstGeom prst="rect">
            <a:avLst/>
          </a:prstGeom>
        </p:spPr>
        <p:txBody>
          <a:bodyPr spcFirstLastPara="1" wrap="square" lIns="91425" tIns="91425" rIns="91425" bIns="91425" anchor="b"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27" name="Google Shape;27;p5"/>
          <p:cNvSpPr txBox="1">
            <a:spLocks noGrp="1"/>
          </p:cNvSpPr>
          <p:nvPr>
            <p:ph type="body" idx="1"/>
          </p:nvPr>
        </p:nvSpPr>
        <p:spPr>
          <a:xfrm>
            <a:off x="629200" y="2558767"/>
            <a:ext cx="5333200" cy="3613600"/>
          </a:xfrm>
          <a:prstGeom prst="rect">
            <a:avLst/>
          </a:prstGeom>
        </p:spPr>
        <p:txBody>
          <a:bodyPr spcFirstLastPara="1" wrap="square" lIns="91425" tIns="91425" rIns="91425" bIns="91425" anchor="t" anchorCtr="0">
            <a:noAutofit/>
          </a:bodyPr>
          <a:lstStyle>
            <a:lvl1pPr marL="609585" lvl="0" indent="-423323">
              <a:spcBef>
                <a:spcPts val="0"/>
              </a:spcBef>
              <a:spcAft>
                <a:spcPts val="0"/>
              </a:spcAft>
              <a:buSzPts val="1400"/>
              <a:buChar char="●"/>
              <a:defRPr sz="1867"/>
            </a:lvl1pPr>
            <a:lvl2pPr marL="1219170" lvl="1" indent="-406390">
              <a:spcBef>
                <a:spcPts val="2133"/>
              </a:spcBef>
              <a:spcAft>
                <a:spcPts val="0"/>
              </a:spcAft>
              <a:buSzPts val="1200"/>
              <a:buChar char="○"/>
              <a:defRPr sz="1600"/>
            </a:lvl2pPr>
            <a:lvl3pPr marL="1828754" lvl="2" indent="-406390">
              <a:spcBef>
                <a:spcPts val="2133"/>
              </a:spcBef>
              <a:spcAft>
                <a:spcPts val="0"/>
              </a:spcAft>
              <a:buSzPts val="1200"/>
              <a:buChar char="■"/>
              <a:defRPr sz="1600"/>
            </a:lvl3pPr>
            <a:lvl4pPr marL="2438339" lvl="3" indent="-406390">
              <a:spcBef>
                <a:spcPts val="2133"/>
              </a:spcBef>
              <a:spcAft>
                <a:spcPts val="0"/>
              </a:spcAft>
              <a:buSzPts val="1200"/>
              <a:buChar char="●"/>
              <a:defRPr sz="1600"/>
            </a:lvl4pPr>
            <a:lvl5pPr marL="3047924" lvl="4" indent="-406390">
              <a:spcBef>
                <a:spcPts val="2133"/>
              </a:spcBef>
              <a:spcAft>
                <a:spcPts val="0"/>
              </a:spcAft>
              <a:buSzPts val="1200"/>
              <a:buChar char="○"/>
              <a:defRPr sz="1600"/>
            </a:lvl5pPr>
            <a:lvl6pPr marL="3657509" lvl="5" indent="-406390">
              <a:spcBef>
                <a:spcPts val="2133"/>
              </a:spcBef>
              <a:spcAft>
                <a:spcPts val="0"/>
              </a:spcAft>
              <a:buSzPts val="1200"/>
              <a:buChar char="■"/>
              <a:defRPr sz="1600"/>
            </a:lvl6pPr>
            <a:lvl7pPr marL="4267093" lvl="6" indent="-406390">
              <a:spcBef>
                <a:spcPts val="2133"/>
              </a:spcBef>
              <a:spcAft>
                <a:spcPts val="0"/>
              </a:spcAft>
              <a:buSzPts val="1200"/>
              <a:buChar char="●"/>
              <a:defRPr sz="1600"/>
            </a:lvl7pPr>
            <a:lvl8pPr marL="4876678" lvl="7" indent="-406390">
              <a:spcBef>
                <a:spcPts val="2133"/>
              </a:spcBef>
              <a:spcAft>
                <a:spcPts val="0"/>
              </a:spcAft>
              <a:buSzPts val="1200"/>
              <a:buChar char="○"/>
              <a:defRPr sz="1600"/>
            </a:lvl8pPr>
            <a:lvl9pPr marL="5486263" lvl="8" indent="-406390">
              <a:spcBef>
                <a:spcPts val="2133"/>
              </a:spcBef>
              <a:spcAft>
                <a:spcPts val="2133"/>
              </a:spcAft>
              <a:buSzPts val="1200"/>
              <a:buChar char="■"/>
              <a:defRPr sz="1600"/>
            </a:lvl9pPr>
          </a:lstStyle>
          <a:p>
            <a:endParaRPr/>
          </a:p>
        </p:txBody>
      </p:sp>
      <p:sp>
        <p:nvSpPr>
          <p:cNvPr id="28" name="Google Shape;28;p5"/>
          <p:cNvSpPr txBox="1">
            <a:spLocks noGrp="1"/>
          </p:cNvSpPr>
          <p:nvPr>
            <p:ph type="body" idx="2"/>
          </p:nvPr>
        </p:nvSpPr>
        <p:spPr>
          <a:xfrm>
            <a:off x="6259000" y="2558767"/>
            <a:ext cx="5333200" cy="3613600"/>
          </a:xfrm>
          <a:prstGeom prst="rect">
            <a:avLst/>
          </a:prstGeom>
        </p:spPr>
        <p:txBody>
          <a:bodyPr spcFirstLastPara="1" wrap="square" lIns="91425" tIns="91425" rIns="91425" bIns="91425" anchor="t" anchorCtr="0">
            <a:noAutofit/>
          </a:bodyPr>
          <a:lstStyle>
            <a:lvl1pPr marL="609585" lvl="0" indent="-423323">
              <a:spcBef>
                <a:spcPts val="0"/>
              </a:spcBef>
              <a:spcAft>
                <a:spcPts val="0"/>
              </a:spcAft>
              <a:buSzPts val="1400"/>
              <a:buChar char="●"/>
              <a:defRPr sz="1867"/>
            </a:lvl1pPr>
            <a:lvl2pPr marL="1219170" lvl="1" indent="-406390">
              <a:spcBef>
                <a:spcPts val="2133"/>
              </a:spcBef>
              <a:spcAft>
                <a:spcPts val="0"/>
              </a:spcAft>
              <a:buSzPts val="1200"/>
              <a:buChar char="○"/>
              <a:defRPr sz="1600"/>
            </a:lvl2pPr>
            <a:lvl3pPr marL="1828754" lvl="2" indent="-406390">
              <a:spcBef>
                <a:spcPts val="2133"/>
              </a:spcBef>
              <a:spcAft>
                <a:spcPts val="0"/>
              </a:spcAft>
              <a:buSzPts val="1200"/>
              <a:buChar char="■"/>
              <a:defRPr sz="1600"/>
            </a:lvl3pPr>
            <a:lvl4pPr marL="2438339" lvl="3" indent="-406390">
              <a:spcBef>
                <a:spcPts val="2133"/>
              </a:spcBef>
              <a:spcAft>
                <a:spcPts val="0"/>
              </a:spcAft>
              <a:buSzPts val="1200"/>
              <a:buChar char="●"/>
              <a:defRPr sz="1600"/>
            </a:lvl4pPr>
            <a:lvl5pPr marL="3047924" lvl="4" indent="-406390">
              <a:spcBef>
                <a:spcPts val="2133"/>
              </a:spcBef>
              <a:spcAft>
                <a:spcPts val="0"/>
              </a:spcAft>
              <a:buSzPts val="1200"/>
              <a:buChar char="○"/>
              <a:defRPr sz="1600"/>
            </a:lvl5pPr>
            <a:lvl6pPr marL="3657509" lvl="5" indent="-406390">
              <a:spcBef>
                <a:spcPts val="2133"/>
              </a:spcBef>
              <a:spcAft>
                <a:spcPts val="0"/>
              </a:spcAft>
              <a:buSzPts val="1200"/>
              <a:buChar char="■"/>
              <a:defRPr sz="1600"/>
            </a:lvl6pPr>
            <a:lvl7pPr marL="4267093" lvl="6" indent="-406390">
              <a:spcBef>
                <a:spcPts val="2133"/>
              </a:spcBef>
              <a:spcAft>
                <a:spcPts val="0"/>
              </a:spcAft>
              <a:buSzPts val="1200"/>
              <a:buChar char="●"/>
              <a:defRPr sz="1600"/>
            </a:lvl7pPr>
            <a:lvl8pPr marL="4876678" lvl="7" indent="-406390">
              <a:spcBef>
                <a:spcPts val="2133"/>
              </a:spcBef>
              <a:spcAft>
                <a:spcPts val="0"/>
              </a:spcAft>
              <a:buSzPts val="1200"/>
              <a:buChar char="○"/>
              <a:defRPr sz="1600"/>
            </a:lvl8pPr>
            <a:lvl9pPr marL="5486263" lvl="8" indent="-406390">
              <a:spcBef>
                <a:spcPts val="2133"/>
              </a:spcBef>
              <a:spcAft>
                <a:spcPts val="2133"/>
              </a:spcAft>
              <a:buSzPts val="1200"/>
              <a:buChar char="■"/>
              <a:defRPr sz="1600"/>
            </a:lvl9pPr>
          </a:lstStyle>
          <a:p>
            <a:endParaRPr/>
          </a:p>
        </p:txBody>
      </p:sp>
      <p:sp>
        <p:nvSpPr>
          <p:cNvPr id="29" name="Google Shape;29;p5"/>
          <p:cNvSpPr txBox="1">
            <a:spLocks noGrp="1"/>
          </p:cNvSpPr>
          <p:nvPr>
            <p:ph type="sldNum" idx="12"/>
          </p:nvPr>
        </p:nvSpPr>
        <p:spPr>
          <a:xfrm>
            <a:off x="11364721" y="6260831"/>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defTabSz="1219170">
              <a:buClr>
                <a:srgbClr val="000000"/>
              </a:buClr>
            </a:pPr>
            <a:fld id="{00000000-1234-1234-1234-123412341234}" type="slidenum">
              <a:rPr lang="en" kern="0" smtClean="0">
                <a:solidFill>
                  <a:srgbClr val="737373"/>
                </a:solidFill>
              </a:rPr>
              <a:pPr defTabSz="1219170">
                <a:buClr>
                  <a:srgbClr val="000000"/>
                </a:buClr>
              </a:pPr>
              <a:t>‹#›</a:t>
            </a:fld>
            <a:endParaRPr lang="en" kern="0">
              <a:solidFill>
                <a:srgbClr val="737373"/>
              </a:solidFill>
            </a:endParaRPr>
          </a:p>
        </p:txBody>
      </p:sp>
    </p:spTree>
    <p:extLst>
      <p:ext uri="{BB962C8B-B14F-4D97-AF65-F5344CB8AC3E}">
        <p14:creationId xmlns:p14="http://schemas.microsoft.com/office/powerpoint/2010/main" val="40087073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30"/>
        <p:cNvGrpSpPr/>
        <p:nvPr/>
      </p:nvGrpSpPr>
      <p:grpSpPr>
        <a:xfrm>
          <a:off x="0" y="0"/>
          <a:ext cx="0" cy="0"/>
          <a:chOff x="0" y="0"/>
          <a:chExt cx="0" cy="0"/>
        </a:xfrm>
      </p:grpSpPr>
      <p:sp>
        <p:nvSpPr>
          <p:cNvPr id="31" name="Google Shape;31;p6"/>
          <p:cNvSpPr/>
          <p:nvPr/>
        </p:nvSpPr>
        <p:spPr>
          <a:xfrm rot="10800000" flipH="1">
            <a:off x="0" y="875200"/>
            <a:ext cx="12192000" cy="5982800"/>
          </a:xfrm>
          <a:prstGeom prst="rect">
            <a:avLst/>
          </a:prstGeom>
          <a:solidFill>
            <a:schemeClr val="accent4"/>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32" name="Google Shape;32;p6"/>
          <p:cNvSpPr/>
          <p:nvPr/>
        </p:nvSpPr>
        <p:spPr>
          <a:xfrm>
            <a:off x="0" y="875133"/>
            <a:ext cx="12192000" cy="1448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33" name="Google Shape;33;p6"/>
          <p:cNvSpPr txBox="1">
            <a:spLocks noGrp="1"/>
          </p:cNvSpPr>
          <p:nvPr>
            <p:ph type="title"/>
          </p:nvPr>
        </p:nvSpPr>
        <p:spPr>
          <a:xfrm>
            <a:off x="131000" y="21800"/>
            <a:ext cx="11768800" cy="803600"/>
          </a:xfrm>
          <a:prstGeom prst="rect">
            <a:avLst/>
          </a:prstGeom>
        </p:spPr>
        <p:txBody>
          <a:bodyPr spcFirstLastPara="1" wrap="square" lIns="91425" tIns="91425" rIns="91425" bIns="91425" anchor="ctr" anchorCtr="0">
            <a:noAutofit/>
          </a:bodyPr>
          <a:lstStyle>
            <a:lvl1pPr lvl="0">
              <a:spcBef>
                <a:spcPts val="0"/>
              </a:spcBef>
              <a:spcAft>
                <a:spcPts val="0"/>
              </a:spcAft>
              <a:buSzPts val="1800"/>
              <a:buNone/>
              <a:defRPr sz="2400"/>
            </a:lvl1pPr>
            <a:lvl2pPr lvl="1">
              <a:spcBef>
                <a:spcPts val="0"/>
              </a:spcBef>
              <a:spcAft>
                <a:spcPts val="0"/>
              </a:spcAft>
              <a:buSzPts val="1800"/>
              <a:buNone/>
              <a:defRPr sz="2400"/>
            </a:lvl2pPr>
            <a:lvl3pPr lvl="2">
              <a:spcBef>
                <a:spcPts val="0"/>
              </a:spcBef>
              <a:spcAft>
                <a:spcPts val="0"/>
              </a:spcAft>
              <a:buSzPts val="1800"/>
              <a:buNone/>
              <a:defRPr sz="2400"/>
            </a:lvl3pPr>
            <a:lvl4pPr lvl="3">
              <a:spcBef>
                <a:spcPts val="0"/>
              </a:spcBef>
              <a:spcAft>
                <a:spcPts val="0"/>
              </a:spcAft>
              <a:buSzPts val="1800"/>
              <a:buNone/>
              <a:defRPr sz="2400"/>
            </a:lvl4pPr>
            <a:lvl5pPr lvl="4">
              <a:spcBef>
                <a:spcPts val="0"/>
              </a:spcBef>
              <a:spcAft>
                <a:spcPts val="0"/>
              </a:spcAft>
              <a:buSzPts val="1800"/>
              <a:buNone/>
              <a:defRPr sz="2400"/>
            </a:lvl5pPr>
            <a:lvl6pPr lvl="5">
              <a:spcBef>
                <a:spcPts val="0"/>
              </a:spcBef>
              <a:spcAft>
                <a:spcPts val="0"/>
              </a:spcAft>
              <a:buSzPts val="1800"/>
              <a:buNone/>
              <a:defRPr sz="2400"/>
            </a:lvl6pPr>
            <a:lvl7pPr lvl="6">
              <a:spcBef>
                <a:spcPts val="0"/>
              </a:spcBef>
              <a:spcAft>
                <a:spcPts val="0"/>
              </a:spcAft>
              <a:buSzPts val="1800"/>
              <a:buNone/>
              <a:defRPr sz="2400"/>
            </a:lvl7pPr>
            <a:lvl8pPr lvl="7">
              <a:spcBef>
                <a:spcPts val="0"/>
              </a:spcBef>
              <a:spcAft>
                <a:spcPts val="0"/>
              </a:spcAft>
              <a:buSzPts val="1800"/>
              <a:buNone/>
              <a:defRPr sz="2400"/>
            </a:lvl8pPr>
            <a:lvl9pPr lvl="8">
              <a:spcBef>
                <a:spcPts val="0"/>
              </a:spcBef>
              <a:spcAft>
                <a:spcPts val="0"/>
              </a:spcAft>
              <a:buSzPts val="1800"/>
              <a:buNone/>
              <a:defRPr sz="2400"/>
            </a:lvl9pPr>
          </a:lstStyle>
          <a:p>
            <a:endParaRPr/>
          </a:p>
        </p:txBody>
      </p:sp>
      <p:sp>
        <p:nvSpPr>
          <p:cNvPr id="34" name="Google Shape;34;p6"/>
          <p:cNvSpPr txBox="1">
            <a:spLocks noGrp="1"/>
          </p:cNvSpPr>
          <p:nvPr>
            <p:ph type="sldNum" idx="12"/>
          </p:nvPr>
        </p:nvSpPr>
        <p:spPr>
          <a:xfrm>
            <a:off x="11364721" y="6260831"/>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defTabSz="1219170">
              <a:buClr>
                <a:srgbClr val="000000"/>
              </a:buClr>
            </a:pPr>
            <a:fld id="{00000000-1234-1234-1234-123412341234}" type="slidenum">
              <a:rPr lang="en" kern="0" smtClean="0">
                <a:solidFill>
                  <a:srgbClr val="737373"/>
                </a:solidFill>
              </a:rPr>
              <a:pPr defTabSz="1219170">
                <a:buClr>
                  <a:srgbClr val="000000"/>
                </a:buClr>
              </a:pPr>
              <a:t>‹#›</a:t>
            </a:fld>
            <a:endParaRPr lang="en" kern="0">
              <a:solidFill>
                <a:srgbClr val="737373"/>
              </a:solidFill>
            </a:endParaRPr>
          </a:p>
        </p:txBody>
      </p:sp>
    </p:spTree>
    <p:extLst>
      <p:ext uri="{BB962C8B-B14F-4D97-AF65-F5344CB8AC3E}">
        <p14:creationId xmlns:p14="http://schemas.microsoft.com/office/powerpoint/2010/main" val="37636473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5"/>
        <p:cNvGrpSpPr/>
        <p:nvPr/>
      </p:nvGrpSpPr>
      <p:grpSpPr>
        <a:xfrm>
          <a:off x="0" y="0"/>
          <a:ext cx="0" cy="0"/>
          <a:chOff x="0" y="0"/>
          <a:chExt cx="0" cy="0"/>
        </a:xfrm>
      </p:grpSpPr>
      <p:sp>
        <p:nvSpPr>
          <p:cNvPr id="36" name="Google Shape;36;p7"/>
          <p:cNvSpPr txBox="1"/>
          <p:nvPr/>
        </p:nvSpPr>
        <p:spPr>
          <a:xfrm rot="10800000" flipH="1">
            <a:off x="4368800" y="33"/>
            <a:ext cx="7823200" cy="6858000"/>
          </a:xfrm>
          <a:prstGeom prst="rect">
            <a:avLst/>
          </a:prstGeom>
          <a:solidFill>
            <a:schemeClr val="accent4"/>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37" name="Google Shape;37;p7"/>
          <p:cNvSpPr/>
          <p:nvPr/>
        </p:nvSpPr>
        <p:spPr>
          <a:xfrm rot="-5400000">
            <a:off x="1012200" y="3356600"/>
            <a:ext cx="6858000" cy="1448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38" name="Google Shape;38;p7"/>
          <p:cNvSpPr txBox="1">
            <a:spLocks noGrp="1"/>
          </p:cNvSpPr>
          <p:nvPr>
            <p:ph type="title"/>
          </p:nvPr>
        </p:nvSpPr>
        <p:spPr>
          <a:xfrm>
            <a:off x="301437" y="477067"/>
            <a:ext cx="3744000" cy="12712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3200"/>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a:p>
        </p:txBody>
      </p:sp>
      <p:sp>
        <p:nvSpPr>
          <p:cNvPr id="39" name="Google Shape;39;p7"/>
          <p:cNvSpPr txBox="1">
            <a:spLocks noGrp="1"/>
          </p:cNvSpPr>
          <p:nvPr>
            <p:ph type="body" idx="1"/>
          </p:nvPr>
        </p:nvSpPr>
        <p:spPr>
          <a:xfrm>
            <a:off x="301433" y="1954400"/>
            <a:ext cx="3744000" cy="4218000"/>
          </a:xfrm>
          <a:prstGeom prst="rect">
            <a:avLst/>
          </a:prstGeom>
        </p:spPr>
        <p:txBody>
          <a:bodyPr spcFirstLastPara="1" wrap="square" lIns="91425" tIns="91425" rIns="91425" bIns="91425" anchor="t" anchorCtr="0">
            <a:noAutofit/>
          </a:bodyPr>
          <a:lstStyle>
            <a:lvl1pPr marL="609585" lvl="0" indent="-406390">
              <a:spcBef>
                <a:spcPts val="0"/>
              </a:spcBef>
              <a:spcAft>
                <a:spcPts val="0"/>
              </a:spcAft>
              <a:buClr>
                <a:schemeClr val="lt1"/>
              </a:buClr>
              <a:buSzPts val="1200"/>
              <a:buChar char="●"/>
              <a:defRPr sz="1600">
                <a:solidFill>
                  <a:schemeClr val="lt1"/>
                </a:solidFill>
              </a:defRPr>
            </a:lvl1pPr>
            <a:lvl2pPr marL="1219170" lvl="1" indent="-406390">
              <a:spcBef>
                <a:spcPts val="2133"/>
              </a:spcBef>
              <a:spcAft>
                <a:spcPts val="0"/>
              </a:spcAft>
              <a:buClr>
                <a:schemeClr val="lt1"/>
              </a:buClr>
              <a:buSzPts val="1200"/>
              <a:buChar char="○"/>
              <a:defRPr sz="1600">
                <a:solidFill>
                  <a:schemeClr val="lt1"/>
                </a:solidFill>
              </a:defRPr>
            </a:lvl2pPr>
            <a:lvl3pPr marL="1828754" lvl="2" indent="-406390">
              <a:spcBef>
                <a:spcPts val="2133"/>
              </a:spcBef>
              <a:spcAft>
                <a:spcPts val="0"/>
              </a:spcAft>
              <a:buClr>
                <a:schemeClr val="lt1"/>
              </a:buClr>
              <a:buSzPts val="1200"/>
              <a:buChar char="■"/>
              <a:defRPr sz="1600">
                <a:solidFill>
                  <a:schemeClr val="lt1"/>
                </a:solidFill>
              </a:defRPr>
            </a:lvl3pPr>
            <a:lvl4pPr marL="2438339" lvl="3" indent="-406390">
              <a:spcBef>
                <a:spcPts val="2133"/>
              </a:spcBef>
              <a:spcAft>
                <a:spcPts val="0"/>
              </a:spcAft>
              <a:buClr>
                <a:schemeClr val="lt1"/>
              </a:buClr>
              <a:buSzPts val="1200"/>
              <a:buChar char="●"/>
              <a:defRPr sz="1600">
                <a:solidFill>
                  <a:schemeClr val="lt1"/>
                </a:solidFill>
              </a:defRPr>
            </a:lvl4pPr>
            <a:lvl5pPr marL="3047924" lvl="4" indent="-406390">
              <a:spcBef>
                <a:spcPts val="2133"/>
              </a:spcBef>
              <a:spcAft>
                <a:spcPts val="0"/>
              </a:spcAft>
              <a:buClr>
                <a:schemeClr val="lt1"/>
              </a:buClr>
              <a:buSzPts val="1200"/>
              <a:buChar char="○"/>
              <a:defRPr sz="1600">
                <a:solidFill>
                  <a:schemeClr val="lt1"/>
                </a:solidFill>
              </a:defRPr>
            </a:lvl5pPr>
            <a:lvl6pPr marL="3657509" lvl="5" indent="-406390">
              <a:spcBef>
                <a:spcPts val="2133"/>
              </a:spcBef>
              <a:spcAft>
                <a:spcPts val="0"/>
              </a:spcAft>
              <a:buClr>
                <a:schemeClr val="lt1"/>
              </a:buClr>
              <a:buSzPts val="1200"/>
              <a:buChar char="■"/>
              <a:defRPr sz="1600">
                <a:solidFill>
                  <a:schemeClr val="lt1"/>
                </a:solidFill>
              </a:defRPr>
            </a:lvl6pPr>
            <a:lvl7pPr marL="4267093" lvl="6" indent="-406390">
              <a:spcBef>
                <a:spcPts val="2133"/>
              </a:spcBef>
              <a:spcAft>
                <a:spcPts val="0"/>
              </a:spcAft>
              <a:buClr>
                <a:schemeClr val="lt1"/>
              </a:buClr>
              <a:buSzPts val="1200"/>
              <a:buChar char="●"/>
              <a:defRPr sz="1600">
                <a:solidFill>
                  <a:schemeClr val="lt1"/>
                </a:solidFill>
              </a:defRPr>
            </a:lvl7pPr>
            <a:lvl8pPr marL="4876678" lvl="7" indent="-406390">
              <a:spcBef>
                <a:spcPts val="2133"/>
              </a:spcBef>
              <a:spcAft>
                <a:spcPts val="0"/>
              </a:spcAft>
              <a:buClr>
                <a:schemeClr val="lt1"/>
              </a:buClr>
              <a:buSzPts val="1200"/>
              <a:buChar char="○"/>
              <a:defRPr sz="1600">
                <a:solidFill>
                  <a:schemeClr val="lt1"/>
                </a:solidFill>
              </a:defRPr>
            </a:lvl8pPr>
            <a:lvl9pPr marL="5486263" lvl="8" indent="-406390">
              <a:spcBef>
                <a:spcPts val="2133"/>
              </a:spcBef>
              <a:spcAft>
                <a:spcPts val="2133"/>
              </a:spcAft>
              <a:buClr>
                <a:schemeClr val="lt1"/>
              </a:buClr>
              <a:buSzPts val="1200"/>
              <a:buChar char="■"/>
              <a:defRPr sz="1600">
                <a:solidFill>
                  <a:schemeClr val="lt1"/>
                </a:solidFill>
              </a:defRPr>
            </a:lvl9pPr>
          </a:lstStyle>
          <a:p>
            <a:endParaRPr/>
          </a:p>
        </p:txBody>
      </p:sp>
      <p:sp>
        <p:nvSpPr>
          <p:cNvPr id="40" name="Google Shape;40;p7"/>
          <p:cNvSpPr txBox="1">
            <a:spLocks noGrp="1"/>
          </p:cNvSpPr>
          <p:nvPr>
            <p:ph type="sldNum" idx="12"/>
          </p:nvPr>
        </p:nvSpPr>
        <p:spPr>
          <a:xfrm>
            <a:off x="11364721" y="6260831"/>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defTabSz="1219170">
              <a:buClr>
                <a:srgbClr val="000000"/>
              </a:buClr>
            </a:pPr>
            <a:fld id="{00000000-1234-1234-1234-123412341234}" type="slidenum">
              <a:rPr lang="en" kern="0" smtClean="0">
                <a:solidFill>
                  <a:srgbClr val="737373"/>
                </a:solidFill>
              </a:rPr>
              <a:pPr defTabSz="1219170">
                <a:buClr>
                  <a:srgbClr val="000000"/>
                </a:buClr>
              </a:pPr>
              <a:t>‹#›</a:t>
            </a:fld>
            <a:endParaRPr lang="en" kern="0">
              <a:solidFill>
                <a:srgbClr val="737373"/>
              </a:solidFill>
            </a:endParaRPr>
          </a:p>
        </p:txBody>
      </p:sp>
    </p:spTree>
    <p:extLst>
      <p:ext uri="{BB962C8B-B14F-4D97-AF65-F5344CB8AC3E}">
        <p14:creationId xmlns:p14="http://schemas.microsoft.com/office/powerpoint/2010/main" val="18360161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41"/>
        <p:cNvGrpSpPr/>
        <p:nvPr/>
      </p:nvGrpSpPr>
      <p:grpSpPr>
        <a:xfrm>
          <a:off x="0" y="0"/>
          <a:ext cx="0" cy="0"/>
          <a:chOff x="0" y="0"/>
          <a:chExt cx="0" cy="0"/>
        </a:xfrm>
      </p:grpSpPr>
      <p:sp>
        <p:nvSpPr>
          <p:cNvPr id="42" name="Google Shape;42;p8"/>
          <p:cNvSpPr txBox="1">
            <a:spLocks noGrp="1"/>
          </p:cNvSpPr>
          <p:nvPr>
            <p:ph type="title"/>
          </p:nvPr>
        </p:nvSpPr>
        <p:spPr>
          <a:xfrm>
            <a:off x="653667" y="651000"/>
            <a:ext cx="8302800" cy="5454400"/>
          </a:xfrm>
          <a:prstGeom prst="rect">
            <a:avLst/>
          </a:prstGeom>
        </p:spPr>
        <p:txBody>
          <a:bodyPr spcFirstLastPara="1" wrap="square" lIns="91425" tIns="91425" rIns="91425" bIns="91425" anchor="ctr" anchorCtr="0">
            <a:noAutofit/>
          </a:bodyPr>
          <a:lstStyle>
            <a:lvl1pPr lvl="0">
              <a:spcBef>
                <a:spcPts val="0"/>
              </a:spcBef>
              <a:spcAft>
                <a:spcPts val="0"/>
              </a:spcAft>
              <a:buSzPts val="6000"/>
              <a:buNone/>
              <a:defRPr sz="8000"/>
            </a:lvl1pPr>
            <a:lvl2pPr lvl="1">
              <a:spcBef>
                <a:spcPts val="0"/>
              </a:spcBef>
              <a:spcAft>
                <a:spcPts val="0"/>
              </a:spcAft>
              <a:buSzPts val="6000"/>
              <a:buNone/>
              <a:defRPr sz="8000"/>
            </a:lvl2pPr>
            <a:lvl3pPr lvl="2">
              <a:spcBef>
                <a:spcPts val="0"/>
              </a:spcBef>
              <a:spcAft>
                <a:spcPts val="0"/>
              </a:spcAft>
              <a:buSzPts val="6000"/>
              <a:buNone/>
              <a:defRPr sz="8000"/>
            </a:lvl3pPr>
            <a:lvl4pPr lvl="3">
              <a:spcBef>
                <a:spcPts val="0"/>
              </a:spcBef>
              <a:spcAft>
                <a:spcPts val="0"/>
              </a:spcAft>
              <a:buSzPts val="6000"/>
              <a:buNone/>
              <a:defRPr sz="8000"/>
            </a:lvl4pPr>
            <a:lvl5pPr lvl="4">
              <a:spcBef>
                <a:spcPts val="0"/>
              </a:spcBef>
              <a:spcAft>
                <a:spcPts val="0"/>
              </a:spcAft>
              <a:buSzPts val="6000"/>
              <a:buNone/>
              <a:defRPr sz="8000"/>
            </a:lvl5pPr>
            <a:lvl6pPr lvl="5">
              <a:spcBef>
                <a:spcPts val="0"/>
              </a:spcBef>
              <a:spcAft>
                <a:spcPts val="0"/>
              </a:spcAft>
              <a:buSzPts val="6000"/>
              <a:buNone/>
              <a:defRPr sz="8000"/>
            </a:lvl6pPr>
            <a:lvl7pPr lvl="6">
              <a:spcBef>
                <a:spcPts val="0"/>
              </a:spcBef>
              <a:spcAft>
                <a:spcPts val="0"/>
              </a:spcAft>
              <a:buSzPts val="6000"/>
              <a:buNone/>
              <a:defRPr sz="8000"/>
            </a:lvl7pPr>
            <a:lvl8pPr lvl="7">
              <a:spcBef>
                <a:spcPts val="0"/>
              </a:spcBef>
              <a:spcAft>
                <a:spcPts val="0"/>
              </a:spcAft>
              <a:buSzPts val="6000"/>
              <a:buNone/>
              <a:defRPr sz="8000"/>
            </a:lvl8pPr>
            <a:lvl9pPr lvl="8">
              <a:spcBef>
                <a:spcPts val="0"/>
              </a:spcBef>
              <a:spcAft>
                <a:spcPts val="0"/>
              </a:spcAft>
              <a:buSzPts val="6000"/>
              <a:buNone/>
              <a:defRPr sz="8000"/>
            </a:lvl9pPr>
          </a:lstStyle>
          <a:p>
            <a:endParaRPr/>
          </a:p>
        </p:txBody>
      </p:sp>
      <p:sp>
        <p:nvSpPr>
          <p:cNvPr id="43" name="Google Shape;43;p8"/>
          <p:cNvSpPr txBox="1">
            <a:spLocks noGrp="1"/>
          </p:cNvSpPr>
          <p:nvPr>
            <p:ph type="sldNum" idx="12"/>
          </p:nvPr>
        </p:nvSpPr>
        <p:spPr>
          <a:xfrm>
            <a:off x="11364721" y="6260831"/>
            <a:ext cx="731600" cy="5248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defTabSz="1219170">
              <a:buClr>
                <a:srgbClr val="000000"/>
              </a:buClr>
            </a:pPr>
            <a:fld id="{00000000-1234-1234-1234-123412341234}" type="slidenum">
              <a:rPr lang="en" kern="0" smtClean="0">
                <a:solidFill>
                  <a:srgbClr val="FFFFFF"/>
                </a:solidFill>
              </a:rPr>
              <a:pPr defTabSz="1219170">
                <a:buClr>
                  <a:srgbClr val="000000"/>
                </a:buClr>
              </a:pPr>
              <a:t>‹#›</a:t>
            </a:fld>
            <a:endParaRPr lang="en" kern="0">
              <a:solidFill>
                <a:srgbClr val="FFFFFF"/>
              </a:solidFill>
            </a:endParaRPr>
          </a:p>
        </p:txBody>
      </p:sp>
    </p:spTree>
    <p:extLst>
      <p:ext uri="{BB962C8B-B14F-4D97-AF65-F5344CB8AC3E}">
        <p14:creationId xmlns:p14="http://schemas.microsoft.com/office/powerpoint/2010/main" val="20628845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44"/>
        <p:cNvGrpSpPr/>
        <p:nvPr/>
      </p:nvGrpSpPr>
      <p:grpSpPr>
        <a:xfrm>
          <a:off x="0" y="0"/>
          <a:ext cx="0" cy="0"/>
          <a:chOff x="0" y="0"/>
          <a:chExt cx="0" cy="0"/>
        </a:xfrm>
      </p:grpSpPr>
      <p:sp>
        <p:nvSpPr>
          <p:cNvPr id="45" name="Google Shape;45;p9"/>
          <p:cNvSpPr/>
          <p:nvPr/>
        </p:nvSpPr>
        <p:spPr>
          <a:xfrm flipH="1">
            <a:off x="0" y="0"/>
            <a:ext cx="6096000" cy="6858000"/>
          </a:xfrm>
          <a:prstGeom prst="rect">
            <a:avLst/>
          </a:prstGeom>
          <a:solidFill>
            <a:schemeClr val="accent4"/>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46" name="Google Shape;46;p9"/>
          <p:cNvSpPr/>
          <p:nvPr/>
        </p:nvSpPr>
        <p:spPr>
          <a:xfrm rot="5400000">
            <a:off x="2595233" y="3357000"/>
            <a:ext cx="6857200" cy="1448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47" name="Google Shape;47;p9"/>
          <p:cNvSpPr txBox="1">
            <a:spLocks noGrp="1"/>
          </p:cNvSpPr>
          <p:nvPr>
            <p:ph type="title"/>
          </p:nvPr>
        </p:nvSpPr>
        <p:spPr>
          <a:xfrm>
            <a:off x="354000" y="1644233"/>
            <a:ext cx="5393600" cy="19764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dk2"/>
              </a:buClr>
              <a:buSzPts val="4200"/>
              <a:buNone/>
              <a:defRPr sz="5600">
                <a:solidFill>
                  <a:schemeClr val="dk2"/>
                </a:solidFill>
              </a:defRPr>
            </a:lvl1pPr>
            <a:lvl2pPr lvl="1" algn="ctr">
              <a:spcBef>
                <a:spcPts val="0"/>
              </a:spcBef>
              <a:spcAft>
                <a:spcPts val="0"/>
              </a:spcAft>
              <a:buClr>
                <a:schemeClr val="dk2"/>
              </a:buClr>
              <a:buSzPts val="4200"/>
              <a:buNone/>
              <a:defRPr sz="5600">
                <a:solidFill>
                  <a:schemeClr val="dk2"/>
                </a:solidFill>
              </a:defRPr>
            </a:lvl2pPr>
            <a:lvl3pPr lvl="2" algn="ctr">
              <a:spcBef>
                <a:spcPts val="0"/>
              </a:spcBef>
              <a:spcAft>
                <a:spcPts val="0"/>
              </a:spcAft>
              <a:buClr>
                <a:schemeClr val="dk2"/>
              </a:buClr>
              <a:buSzPts val="4200"/>
              <a:buNone/>
              <a:defRPr sz="5600">
                <a:solidFill>
                  <a:schemeClr val="dk2"/>
                </a:solidFill>
              </a:defRPr>
            </a:lvl3pPr>
            <a:lvl4pPr lvl="3" algn="ctr">
              <a:spcBef>
                <a:spcPts val="0"/>
              </a:spcBef>
              <a:spcAft>
                <a:spcPts val="0"/>
              </a:spcAft>
              <a:buClr>
                <a:schemeClr val="dk2"/>
              </a:buClr>
              <a:buSzPts val="4200"/>
              <a:buNone/>
              <a:defRPr sz="5600">
                <a:solidFill>
                  <a:schemeClr val="dk2"/>
                </a:solidFill>
              </a:defRPr>
            </a:lvl4pPr>
            <a:lvl5pPr lvl="4" algn="ctr">
              <a:spcBef>
                <a:spcPts val="0"/>
              </a:spcBef>
              <a:spcAft>
                <a:spcPts val="0"/>
              </a:spcAft>
              <a:buClr>
                <a:schemeClr val="dk2"/>
              </a:buClr>
              <a:buSzPts val="4200"/>
              <a:buNone/>
              <a:defRPr sz="5600">
                <a:solidFill>
                  <a:schemeClr val="dk2"/>
                </a:solidFill>
              </a:defRPr>
            </a:lvl5pPr>
            <a:lvl6pPr lvl="5" algn="ctr">
              <a:spcBef>
                <a:spcPts val="0"/>
              </a:spcBef>
              <a:spcAft>
                <a:spcPts val="0"/>
              </a:spcAft>
              <a:buClr>
                <a:schemeClr val="dk2"/>
              </a:buClr>
              <a:buSzPts val="4200"/>
              <a:buNone/>
              <a:defRPr sz="5600">
                <a:solidFill>
                  <a:schemeClr val="dk2"/>
                </a:solidFill>
              </a:defRPr>
            </a:lvl6pPr>
            <a:lvl7pPr lvl="6" algn="ctr">
              <a:spcBef>
                <a:spcPts val="0"/>
              </a:spcBef>
              <a:spcAft>
                <a:spcPts val="0"/>
              </a:spcAft>
              <a:buClr>
                <a:schemeClr val="dk2"/>
              </a:buClr>
              <a:buSzPts val="4200"/>
              <a:buNone/>
              <a:defRPr sz="5600">
                <a:solidFill>
                  <a:schemeClr val="dk2"/>
                </a:solidFill>
              </a:defRPr>
            </a:lvl7pPr>
            <a:lvl8pPr lvl="7" algn="ctr">
              <a:spcBef>
                <a:spcPts val="0"/>
              </a:spcBef>
              <a:spcAft>
                <a:spcPts val="0"/>
              </a:spcAft>
              <a:buClr>
                <a:schemeClr val="dk2"/>
              </a:buClr>
              <a:buSzPts val="4200"/>
              <a:buNone/>
              <a:defRPr sz="5600">
                <a:solidFill>
                  <a:schemeClr val="dk2"/>
                </a:solidFill>
              </a:defRPr>
            </a:lvl8pPr>
            <a:lvl9pPr lvl="8" algn="ctr">
              <a:spcBef>
                <a:spcPts val="0"/>
              </a:spcBef>
              <a:spcAft>
                <a:spcPts val="0"/>
              </a:spcAft>
              <a:buClr>
                <a:schemeClr val="dk2"/>
              </a:buClr>
              <a:buSzPts val="4200"/>
              <a:buNone/>
              <a:defRPr sz="5600">
                <a:solidFill>
                  <a:schemeClr val="dk2"/>
                </a:solidFill>
              </a:defRPr>
            </a:lvl9pPr>
          </a:lstStyle>
          <a:p>
            <a:endParaRPr/>
          </a:p>
        </p:txBody>
      </p:sp>
      <p:sp>
        <p:nvSpPr>
          <p:cNvPr id="48" name="Google Shape;48;p9"/>
          <p:cNvSpPr txBox="1">
            <a:spLocks noGrp="1"/>
          </p:cNvSpPr>
          <p:nvPr>
            <p:ph type="subTitle" idx="1"/>
          </p:nvPr>
        </p:nvSpPr>
        <p:spPr>
          <a:xfrm>
            <a:off x="354000" y="3705956"/>
            <a:ext cx="5393600" cy="1646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endParaRPr/>
          </a:p>
        </p:txBody>
      </p:sp>
      <p:sp>
        <p:nvSpPr>
          <p:cNvPr id="49" name="Google Shape;49;p9"/>
          <p:cNvSpPr txBox="1">
            <a:spLocks noGrp="1"/>
          </p:cNvSpPr>
          <p:nvPr>
            <p:ph type="body" idx="2"/>
          </p:nvPr>
        </p:nvSpPr>
        <p:spPr>
          <a:xfrm>
            <a:off x="6586000" y="965600"/>
            <a:ext cx="5116000" cy="4926800"/>
          </a:xfrm>
          <a:prstGeom prst="rect">
            <a:avLst/>
          </a:prstGeom>
        </p:spPr>
        <p:txBody>
          <a:bodyPr spcFirstLastPara="1" wrap="square" lIns="91425" tIns="91425" rIns="91425" bIns="91425" anchor="ctr" anchorCtr="0">
            <a:noAutofit/>
          </a:bodyPr>
          <a:lstStyle>
            <a:lvl1pPr marL="609585" lvl="0" indent="-457189">
              <a:spcBef>
                <a:spcPts val="0"/>
              </a:spcBef>
              <a:spcAft>
                <a:spcPts val="0"/>
              </a:spcAft>
              <a:buClr>
                <a:schemeClr val="lt1"/>
              </a:buClr>
              <a:buSzPts val="1800"/>
              <a:buChar char="●"/>
              <a:defRPr>
                <a:solidFill>
                  <a:schemeClr val="lt1"/>
                </a:solidFill>
              </a:defRPr>
            </a:lvl1pPr>
            <a:lvl2pPr marL="1219170" lvl="1" indent="-423323">
              <a:spcBef>
                <a:spcPts val="2133"/>
              </a:spcBef>
              <a:spcAft>
                <a:spcPts val="0"/>
              </a:spcAft>
              <a:buClr>
                <a:schemeClr val="lt1"/>
              </a:buClr>
              <a:buSzPts val="1400"/>
              <a:buChar char="○"/>
              <a:defRPr>
                <a:solidFill>
                  <a:schemeClr val="lt1"/>
                </a:solidFill>
              </a:defRPr>
            </a:lvl2pPr>
            <a:lvl3pPr marL="1828754" lvl="2" indent="-423323">
              <a:spcBef>
                <a:spcPts val="2133"/>
              </a:spcBef>
              <a:spcAft>
                <a:spcPts val="0"/>
              </a:spcAft>
              <a:buClr>
                <a:schemeClr val="lt1"/>
              </a:buClr>
              <a:buSzPts val="1400"/>
              <a:buChar char="■"/>
              <a:defRPr>
                <a:solidFill>
                  <a:schemeClr val="lt1"/>
                </a:solidFill>
              </a:defRPr>
            </a:lvl3pPr>
            <a:lvl4pPr marL="2438339" lvl="3" indent="-423323">
              <a:spcBef>
                <a:spcPts val="2133"/>
              </a:spcBef>
              <a:spcAft>
                <a:spcPts val="0"/>
              </a:spcAft>
              <a:buClr>
                <a:schemeClr val="lt1"/>
              </a:buClr>
              <a:buSzPts val="1400"/>
              <a:buChar char="●"/>
              <a:defRPr>
                <a:solidFill>
                  <a:schemeClr val="lt1"/>
                </a:solidFill>
              </a:defRPr>
            </a:lvl4pPr>
            <a:lvl5pPr marL="3047924" lvl="4" indent="-423323">
              <a:spcBef>
                <a:spcPts val="2133"/>
              </a:spcBef>
              <a:spcAft>
                <a:spcPts val="0"/>
              </a:spcAft>
              <a:buClr>
                <a:schemeClr val="lt1"/>
              </a:buClr>
              <a:buSzPts val="1400"/>
              <a:buChar char="○"/>
              <a:defRPr>
                <a:solidFill>
                  <a:schemeClr val="lt1"/>
                </a:solidFill>
              </a:defRPr>
            </a:lvl5pPr>
            <a:lvl6pPr marL="3657509" lvl="5" indent="-423323">
              <a:spcBef>
                <a:spcPts val="2133"/>
              </a:spcBef>
              <a:spcAft>
                <a:spcPts val="0"/>
              </a:spcAft>
              <a:buClr>
                <a:schemeClr val="lt1"/>
              </a:buClr>
              <a:buSzPts val="1400"/>
              <a:buChar char="■"/>
              <a:defRPr>
                <a:solidFill>
                  <a:schemeClr val="lt1"/>
                </a:solidFill>
              </a:defRPr>
            </a:lvl6pPr>
            <a:lvl7pPr marL="4267093" lvl="6" indent="-423323">
              <a:spcBef>
                <a:spcPts val="2133"/>
              </a:spcBef>
              <a:spcAft>
                <a:spcPts val="0"/>
              </a:spcAft>
              <a:buClr>
                <a:schemeClr val="lt1"/>
              </a:buClr>
              <a:buSzPts val="1400"/>
              <a:buChar char="●"/>
              <a:defRPr>
                <a:solidFill>
                  <a:schemeClr val="lt1"/>
                </a:solidFill>
              </a:defRPr>
            </a:lvl7pPr>
            <a:lvl8pPr marL="4876678" lvl="7" indent="-423323">
              <a:spcBef>
                <a:spcPts val="2133"/>
              </a:spcBef>
              <a:spcAft>
                <a:spcPts val="0"/>
              </a:spcAft>
              <a:buClr>
                <a:schemeClr val="lt1"/>
              </a:buClr>
              <a:buSzPts val="1400"/>
              <a:buChar char="○"/>
              <a:defRPr>
                <a:solidFill>
                  <a:schemeClr val="lt1"/>
                </a:solidFill>
              </a:defRPr>
            </a:lvl8pPr>
            <a:lvl9pPr marL="5486263" lvl="8" indent="-423323">
              <a:spcBef>
                <a:spcPts val="2133"/>
              </a:spcBef>
              <a:spcAft>
                <a:spcPts val="2133"/>
              </a:spcAft>
              <a:buClr>
                <a:schemeClr val="lt1"/>
              </a:buClr>
              <a:buSzPts val="1400"/>
              <a:buChar char="■"/>
              <a:defRPr>
                <a:solidFill>
                  <a:schemeClr val="lt1"/>
                </a:solidFill>
              </a:defRPr>
            </a:lvl9pPr>
          </a:lstStyle>
          <a:p>
            <a:endParaRPr/>
          </a:p>
        </p:txBody>
      </p:sp>
      <p:sp>
        <p:nvSpPr>
          <p:cNvPr id="50" name="Google Shape;50;p9"/>
          <p:cNvSpPr txBox="1">
            <a:spLocks noGrp="1"/>
          </p:cNvSpPr>
          <p:nvPr>
            <p:ph type="sldNum" idx="12"/>
          </p:nvPr>
        </p:nvSpPr>
        <p:spPr>
          <a:xfrm>
            <a:off x="11364721" y="6260831"/>
            <a:ext cx="731600" cy="5248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defTabSz="1219170">
              <a:buClr>
                <a:srgbClr val="000000"/>
              </a:buClr>
            </a:pPr>
            <a:fld id="{00000000-1234-1234-1234-123412341234}" type="slidenum">
              <a:rPr lang="en" kern="0" smtClean="0">
                <a:solidFill>
                  <a:srgbClr val="FFFFFF"/>
                </a:solidFill>
              </a:rPr>
              <a:pPr defTabSz="1219170">
                <a:buClr>
                  <a:srgbClr val="000000"/>
                </a:buClr>
              </a:pPr>
              <a:t>‹#›</a:t>
            </a:fld>
            <a:endParaRPr lang="en" kern="0">
              <a:solidFill>
                <a:srgbClr val="FFFFFF"/>
              </a:solidFill>
            </a:endParaRPr>
          </a:p>
        </p:txBody>
      </p:sp>
    </p:spTree>
    <p:extLst>
      <p:ext uri="{BB962C8B-B14F-4D97-AF65-F5344CB8AC3E}">
        <p14:creationId xmlns:p14="http://schemas.microsoft.com/office/powerpoint/2010/main" val="42560592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51"/>
        <p:cNvGrpSpPr/>
        <p:nvPr/>
      </p:nvGrpSpPr>
      <p:grpSpPr>
        <a:xfrm>
          <a:off x="0" y="0"/>
          <a:ext cx="0" cy="0"/>
          <a:chOff x="0" y="0"/>
          <a:chExt cx="0" cy="0"/>
        </a:xfrm>
      </p:grpSpPr>
      <p:sp>
        <p:nvSpPr>
          <p:cNvPr id="52" name="Google Shape;52;p10"/>
          <p:cNvSpPr txBox="1"/>
          <p:nvPr/>
        </p:nvSpPr>
        <p:spPr>
          <a:xfrm rot="10800000" flipH="1">
            <a:off x="0" y="0"/>
            <a:ext cx="12192000" cy="6261200"/>
          </a:xfrm>
          <a:prstGeom prst="rect">
            <a:avLst/>
          </a:prstGeom>
          <a:solidFill>
            <a:schemeClr val="accent4"/>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53" name="Google Shape;53;p10"/>
          <p:cNvSpPr/>
          <p:nvPr/>
        </p:nvSpPr>
        <p:spPr>
          <a:xfrm rot="10800000" flipH="1">
            <a:off x="0" y="6163633"/>
            <a:ext cx="12192000" cy="988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54" name="Google Shape;54;p10"/>
          <p:cNvSpPr txBox="1">
            <a:spLocks noGrp="1"/>
          </p:cNvSpPr>
          <p:nvPr>
            <p:ph type="body" idx="1"/>
          </p:nvPr>
        </p:nvSpPr>
        <p:spPr>
          <a:xfrm>
            <a:off x="76200" y="5551233"/>
            <a:ext cx="11176000" cy="595600"/>
          </a:xfrm>
          <a:prstGeom prst="rect">
            <a:avLst/>
          </a:prstGeom>
        </p:spPr>
        <p:txBody>
          <a:bodyPr spcFirstLastPara="1" wrap="square" lIns="91425" tIns="91425" rIns="91425" bIns="91425" anchor="ctr" anchorCtr="0">
            <a:noAutofit/>
          </a:bodyPr>
          <a:lstStyle>
            <a:lvl1pPr marL="609585" lvl="0" indent="-304792">
              <a:lnSpc>
                <a:spcPct val="100000"/>
              </a:lnSpc>
              <a:spcBef>
                <a:spcPts val="0"/>
              </a:spcBef>
              <a:spcAft>
                <a:spcPts val="0"/>
              </a:spcAft>
              <a:buClr>
                <a:schemeClr val="lt1"/>
              </a:buClr>
              <a:buSzPts val="1200"/>
              <a:buNone/>
              <a:defRPr sz="1600">
                <a:solidFill>
                  <a:schemeClr val="lt1"/>
                </a:solidFill>
              </a:defRPr>
            </a:lvl1pPr>
          </a:lstStyle>
          <a:p>
            <a:endParaRPr/>
          </a:p>
        </p:txBody>
      </p:sp>
      <p:sp>
        <p:nvSpPr>
          <p:cNvPr id="55" name="Google Shape;55;p10"/>
          <p:cNvSpPr txBox="1">
            <a:spLocks noGrp="1"/>
          </p:cNvSpPr>
          <p:nvPr>
            <p:ph type="sldNum" idx="12"/>
          </p:nvPr>
        </p:nvSpPr>
        <p:spPr>
          <a:xfrm>
            <a:off x="11364721" y="6260831"/>
            <a:ext cx="731600" cy="5248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defTabSz="1219170">
              <a:buClr>
                <a:srgbClr val="000000"/>
              </a:buClr>
            </a:pPr>
            <a:fld id="{00000000-1234-1234-1234-123412341234}" type="slidenum">
              <a:rPr lang="en" kern="0" smtClean="0">
                <a:solidFill>
                  <a:srgbClr val="FFFFFF"/>
                </a:solidFill>
              </a:rPr>
              <a:pPr defTabSz="1219170">
                <a:buClr>
                  <a:srgbClr val="000000"/>
                </a:buClr>
              </a:pPr>
              <a:t>‹#›</a:t>
            </a:fld>
            <a:endParaRPr lang="en" kern="0">
              <a:solidFill>
                <a:srgbClr val="FFFFFF"/>
              </a:solidFill>
            </a:endParaRPr>
          </a:p>
        </p:txBody>
      </p:sp>
    </p:spTree>
    <p:extLst>
      <p:ext uri="{BB962C8B-B14F-4D97-AF65-F5344CB8AC3E}">
        <p14:creationId xmlns:p14="http://schemas.microsoft.com/office/powerpoint/2010/main" val="1499296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 number">
    <p:bg>
      <p:bgPr>
        <a:solidFill>
          <a:schemeClr val="accent4"/>
        </a:solidFill>
        <a:effectLst/>
      </p:bgPr>
    </p:bg>
    <p:spTree>
      <p:nvGrpSpPr>
        <p:cNvPr id="1" name="Shape 56"/>
        <p:cNvGrpSpPr/>
        <p:nvPr/>
      </p:nvGrpSpPr>
      <p:grpSpPr>
        <a:xfrm>
          <a:off x="0" y="0"/>
          <a:ext cx="0" cy="0"/>
          <a:chOff x="0" y="0"/>
          <a:chExt cx="0" cy="0"/>
        </a:xfrm>
      </p:grpSpPr>
      <p:sp>
        <p:nvSpPr>
          <p:cNvPr id="57" name="Google Shape;57;p11"/>
          <p:cNvSpPr txBox="1">
            <a:spLocks noGrp="1"/>
          </p:cNvSpPr>
          <p:nvPr>
            <p:ph type="title" hasCustomPrompt="1"/>
          </p:nvPr>
        </p:nvSpPr>
        <p:spPr>
          <a:xfrm>
            <a:off x="634000" y="1678033"/>
            <a:ext cx="10962800" cy="26180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dk2"/>
              </a:buClr>
              <a:buSzPts val="12000"/>
              <a:buNone/>
              <a:defRPr sz="16000">
                <a:solidFill>
                  <a:schemeClr val="dk2"/>
                </a:solidFill>
              </a:defRPr>
            </a:lvl1pPr>
            <a:lvl2pPr lvl="1" algn="ctr">
              <a:spcBef>
                <a:spcPts val="0"/>
              </a:spcBef>
              <a:spcAft>
                <a:spcPts val="0"/>
              </a:spcAft>
              <a:buClr>
                <a:schemeClr val="dk2"/>
              </a:buClr>
              <a:buSzPts val="12000"/>
              <a:buNone/>
              <a:defRPr sz="16000">
                <a:solidFill>
                  <a:schemeClr val="dk2"/>
                </a:solidFill>
              </a:defRPr>
            </a:lvl2pPr>
            <a:lvl3pPr lvl="2" algn="ctr">
              <a:spcBef>
                <a:spcPts val="0"/>
              </a:spcBef>
              <a:spcAft>
                <a:spcPts val="0"/>
              </a:spcAft>
              <a:buClr>
                <a:schemeClr val="dk2"/>
              </a:buClr>
              <a:buSzPts val="12000"/>
              <a:buNone/>
              <a:defRPr sz="16000">
                <a:solidFill>
                  <a:schemeClr val="dk2"/>
                </a:solidFill>
              </a:defRPr>
            </a:lvl3pPr>
            <a:lvl4pPr lvl="3" algn="ctr">
              <a:spcBef>
                <a:spcPts val="0"/>
              </a:spcBef>
              <a:spcAft>
                <a:spcPts val="0"/>
              </a:spcAft>
              <a:buClr>
                <a:schemeClr val="dk2"/>
              </a:buClr>
              <a:buSzPts val="12000"/>
              <a:buNone/>
              <a:defRPr sz="16000">
                <a:solidFill>
                  <a:schemeClr val="dk2"/>
                </a:solidFill>
              </a:defRPr>
            </a:lvl4pPr>
            <a:lvl5pPr lvl="4" algn="ctr">
              <a:spcBef>
                <a:spcPts val="0"/>
              </a:spcBef>
              <a:spcAft>
                <a:spcPts val="0"/>
              </a:spcAft>
              <a:buClr>
                <a:schemeClr val="dk2"/>
              </a:buClr>
              <a:buSzPts val="12000"/>
              <a:buNone/>
              <a:defRPr sz="16000">
                <a:solidFill>
                  <a:schemeClr val="dk2"/>
                </a:solidFill>
              </a:defRPr>
            </a:lvl5pPr>
            <a:lvl6pPr lvl="5" algn="ctr">
              <a:spcBef>
                <a:spcPts val="0"/>
              </a:spcBef>
              <a:spcAft>
                <a:spcPts val="0"/>
              </a:spcAft>
              <a:buClr>
                <a:schemeClr val="dk2"/>
              </a:buClr>
              <a:buSzPts val="12000"/>
              <a:buNone/>
              <a:defRPr sz="16000">
                <a:solidFill>
                  <a:schemeClr val="dk2"/>
                </a:solidFill>
              </a:defRPr>
            </a:lvl6pPr>
            <a:lvl7pPr lvl="6" algn="ctr">
              <a:spcBef>
                <a:spcPts val="0"/>
              </a:spcBef>
              <a:spcAft>
                <a:spcPts val="0"/>
              </a:spcAft>
              <a:buClr>
                <a:schemeClr val="dk2"/>
              </a:buClr>
              <a:buSzPts val="12000"/>
              <a:buNone/>
              <a:defRPr sz="16000">
                <a:solidFill>
                  <a:schemeClr val="dk2"/>
                </a:solidFill>
              </a:defRPr>
            </a:lvl7pPr>
            <a:lvl8pPr lvl="7" algn="ctr">
              <a:spcBef>
                <a:spcPts val="0"/>
              </a:spcBef>
              <a:spcAft>
                <a:spcPts val="0"/>
              </a:spcAft>
              <a:buClr>
                <a:schemeClr val="dk2"/>
              </a:buClr>
              <a:buSzPts val="12000"/>
              <a:buNone/>
              <a:defRPr sz="16000">
                <a:solidFill>
                  <a:schemeClr val="dk2"/>
                </a:solidFill>
              </a:defRPr>
            </a:lvl8pPr>
            <a:lvl9pPr lvl="8" algn="ctr">
              <a:spcBef>
                <a:spcPts val="0"/>
              </a:spcBef>
              <a:spcAft>
                <a:spcPts val="0"/>
              </a:spcAft>
              <a:buClr>
                <a:schemeClr val="dk2"/>
              </a:buClr>
              <a:buSzPts val="12000"/>
              <a:buNone/>
              <a:defRPr sz="16000">
                <a:solidFill>
                  <a:schemeClr val="dk2"/>
                </a:solidFill>
              </a:defRPr>
            </a:lvl9pPr>
          </a:lstStyle>
          <a:p>
            <a:r>
              <a:t>xx%</a:t>
            </a:r>
          </a:p>
        </p:txBody>
      </p:sp>
      <p:sp>
        <p:nvSpPr>
          <p:cNvPr id="58" name="Google Shape;58;p11"/>
          <p:cNvSpPr txBox="1">
            <a:spLocks noGrp="1"/>
          </p:cNvSpPr>
          <p:nvPr>
            <p:ph type="body" idx="1"/>
          </p:nvPr>
        </p:nvSpPr>
        <p:spPr>
          <a:xfrm>
            <a:off x="634000" y="4406167"/>
            <a:ext cx="10962800" cy="1734400"/>
          </a:xfrm>
          <a:prstGeom prst="rect">
            <a:avLst/>
          </a:prstGeom>
        </p:spPr>
        <p:txBody>
          <a:bodyPr spcFirstLastPara="1" wrap="square" lIns="91425" tIns="91425" rIns="91425" bIns="91425" anchor="t" anchorCtr="0">
            <a:noAutofit/>
          </a:bodyPr>
          <a:lstStyle>
            <a:lvl1pPr marL="609585" lvl="0" indent="-457189" algn="ctr">
              <a:spcBef>
                <a:spcPts val="0"/>
              </a:spcBef>
              <a:spcAft>
                <a:spcPts val="0"/>
              </a:spcAft>
              <a:buSzPts val="1800"/>
              <a:buChar char="●"/>
              <a:defRPr/>
            </a:lvl1pPr>
            <a:lvl2pPr marL="1219170" lvl="1" indent="-423323" algn="ctr">
              <a:spcBef>
                <a:spcPts val="2133"/>
              </a:spcBef>
              <a:spcAft>
                <a:spcPts val="0"/>
              </a:spcAft>
              <a:buSzPts val="1400"/>
              <a:buChar char="○"/>
              <a:defRPr/>
            </a:lvl2pPr>
            <a:lvl3pPr marL="1828754" lvl="2" indent="-423323" algn="ctr">
              <a:spcBef>
                <a:spcPts val="2133"/>
              </a:spcBef>
              <a:spcAft>
                <a:spcPts val="0"/>
              </a:spcAft>
              <a:buSzPts val="1400"/>
              <a:buChar char="■"/>
              <a:defRPr/>
            </a:lvl3pPr>
            <a:lvl4pPr marL="2438339" lvl="3" indent="-423323" algn="ctr">
              <a:spcBef>
                <a:spcPts val="2133"/>
              </a:spcBef>
              <a:spcAft>
                <a:spcPts val="0"/>
              </a:spcAft>
              <a:buSzPts val="1400"/>
              <a:buChar char="●"/>
              <a:defRPr/>
            </a:lvl4pPr>
            <a:lvl5pPr marL="3047924" lvl="4" indent="-423323" algn="ctr">
              <a:spcBef>
                <a:spcPts val="2133"/>
              </a:spcBef>
              <a:spcAft>
                <a:spcPts val="0"/>
              </a:spcAft>
              <a:buSzPts val="1400"/>
              <a:buChar char="○"/>
              <a:defRPr/>
            </a:lvl5pPr>
            <a:lvl6pPr marL="3657509" lvl="5" indent="-423323" algn="ctr">
              <a:spcBef>
                <a:spcPts val="2133"/>
              </a:spcBef>
              <a:spcAft>
                <a:spcPts val="0"/>
              </a:spcAft>
              <a:buSzPts val="1400"/>
              <a:buChar char="■"/>
              <a:defRPr/>
            </a:lvl6pPr>
            <a:lvl7pPr marL="4267093" lvl="6" indent="-423323" algn="ctr">
              <a:spcBef>
                <a:spcPts val="2133"/>
              </a:spcBef>
              <a:spcAft>
                <a:spcPts val="0"/>
              </a:spcAft>
              <a:buSzPts val="1400"/>
              <a:buChar char="●"/>
              <a:defRPr/>
            </a:lvl7pPr>
            <a:lvl8pPr marL="4876678" lvl="7" indent="-423323" algn="ctr">
              <a:spcBef>
                <a:spcPts val="2133"/>
              </a:spcBef>
              <a:spcAft>
                <a:spcPts val="0"/>
              </a:spcAft>
              <a:buSzPts val="1400"/>
              <a:buChar char="○"/>
              <a:defRPr/>
            </a:lvl8pPr>
            <a:lvl9pPr marL="5486263" lvl="8" indent="-423323" algn="ctr">
              <a:spcBef>
                <a:spcPts val="2133"/>
              </a:spcBef>
              <a:spcAft>
                <a:spcPts val="2133"/>
              </a:spcAft>
              <a:buSzPts val="1400"/>
              <a:buChar char="■"/>
              <a:defRPr/>
            </a:lvl9pPr>
          </a:lstStyle>
          <a:p>
            <a:endParaRPr/>
          </a:p>
        </p:txBody>
      </p:sp>
      <p:sp>
        <p:nvSpPr>
          <p:cNvPr id="59" name="Google Shape;59;p11"/>
          <p:cNvSpPr txBox="1">
            <a:spLocks noGrp="1"/>
          </p:cNvSpPr>
          <p:nvPr>
            <p:ph type="sldNum" idx="12"/>
          </p:nvPr>
        </p:nvSpPr>
        <p:spPr>
          <a:xfrm>
            <a:off x="11364721" y="6260831"/>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defTabSz="1219170">
              <a:buClr>
                <a:srgbClr val="000000"/>
              </a:buClr>
            </a:pPr>
            <a:fld id="{00000000-1234-1234-1234-123412341234}" type="slidenum">
              <a:rPr lang="en" kern="0" smtClean="0">
                <a:solidFill>
                  <a:srgbClr val="737373"/>
                </a:solidFill>
              </a:rPr>
              <a:pPr defTabSz="1219170">
                <a:buClr>
                  <a:srgbClr val="000000"/>
                </a:buClr>
              </a:pPr>
              <a:t>‹#›</a:t>
            </a:fld>
            <a:endParaRPr lang="en" kern="0">
              <a:solidFill>
                <a:srgbClr val="737373"/>
              </a:solidFill>
            </a:endParaRPr>
          </a:p>
        </p:txBody>
      </p:sp>
    </p:spTree>
    <p:extLst>
      <p:ext uri="{BB962C8B-B14F-4D97-AF65-F5344CB8AC3E}">
        <p14:creationId xmlns:p14="http://schemas.microsoft.com/office/powerpoint/2010/main" val="33243826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4"/>
        </a:solidFill>
        <a:effectLst/>
      </p:bgPr>
    </p:bg>
    <p:spTree>
      <p:nvGrpSpPr>
        <p:cNvPr id="1" name="Shape 60"/>
        <p:cNvGrpSpPr/>
        <p:nvPr/>
      </p:nvGrpSpPr>
      <p:grpSpPr>
        <a:xfrm>
          <a:off x="0" y="0"/>
          <a:ext cx="0" cy="0"/>
          <a:chOff x="0" y="0"/>
          <a:chExt cx="0" cy="0"/>
        </a:xfrm>
      </p:grpSpPr>
      <p:sp>
        <p:nvSpPr>
          <p:cNvPr id="61" name="Google Shape;61;p12"/>
          <p:cNvSpPr txBox="1">
            <a:spLocks noGrp="1"/>
          </p:cNvSpPr>
          <p:nvPr>
            <p:ph type="sldNum" idx="12"/>
          </p:nvPr>
        </p:nvSpPr>
        <p:spPr>
          <a:xfrm>
            <a:off x="11364721" y="6260831"/>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defTabSz="1219170">
              <a:buClr>
                <a:srgbClr val="000000"/>
              </a:buClr>
            </a:pPr>
            <a:fld id="{00000000-1234-1234-1234-123412341234}" type="slidenum">
              <a:rPr lang="en" kern="0" smtClean="0">
                <a:solidFill>
                  <a:srgbClr val="737373"/>
                </a:solidFill>
              </a:rPr>
              <a:pPr defTabSz="1219170">
                <a:buClr>
                  <a:srgbClr val="000000"/>
                </a:buClr>
              </a:pPr>
              <a:t>‹#›</a:t>
            </a:fld>
            <a:endParaRPr lang="en" kern="0">
              <a:solidFill>
                <a:srgbClr val="737373"/>
              </a:solidFill>
            </a:endParaRPr>
          </a:p>
        </p:txBody>
      </p:sp>
    </p:spTree>
    <p:extLst>
      <p:ext uri="{BB962C8B-B14F-4D97-AF65-F5344CB8AC3E}">
        <p14:creationId xmlns:p14="http://schemas.microsoft.com/office/powerpoint/2010/main" val="1697768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629200" y="984967"/>
            <a:ext cx="10962800" cy="10236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629200" y="2558767"/>
            <a:ext cx="10962800" cy="36136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marL="914400" lvl="1" indent="-3175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2pPr>
            <a:lvl3pPr marL="1371600" lvl="2" indent="-3175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3pPr>
            <a:lvl4pPr marL="1828800" lvl="3" indent="-3175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4pPr>
            <a:lvl5pPr marL="2286000" lvl="4" indent="-3175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5pPr>
            <a:lvl6pPr marL="2743200" lvl="5" indent="-3175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6pPr>
            <a:lvl7pPr marL="3200400" lvl="6" indent="-3175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7pPr>
            <a:lvl8pPr marL="3657600" lvl="7" indent="-3175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8pPr>
            <a:lvl9pPr marL="4114800" lvl="8" indent="-317500">
              <a:lnSpc>
                <a:spcPct val="115000"/>
              </a:lnSpc>
              <a:spcBef>
                <a:spcPts val="1600"/>
              </a:spcBef>
              <a:spcAft>
                <a:spcPts val="1600"/>
              </a:spcAft>
              <a:buClr>
                <a:schemeClr val="lt2"/>
              </a:buClr>
              <a:buSzPts val="1400"/>
              <a:buFont typeface="Roboto"/>
              <a:buChar char="■"/>
              <a:defRPr>
                <a:solidFill>
                  <a:schemeClr val="lt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11364721" y="6260831"/>
            <a:ext cx="731600" cy="524800"/>
          </a:xfrm>
          <a:prstGeom prst="rect">
            <a:avLst/>
          </a:prstGeom>
          <a:noFill/>
          <a:ln>
            <a:noFill/>
          </a:ln>
        </p:spPr>
        <p:txBody>
          <a:bodyPr spcFirstLastPara="1" wrap="square" lIns="91425" tIns="91425" rIns="91425" bIns="91425" anchor="ctr" anchorCtr="0">
            <a:noAutofit/>
          </a:bodyPr>
          <a:lstStyle>
            <a:lvl1pPr lvl="0" algn="r">
              <a:buNone/>
              <a:defRPr sz="1333">
                <a:solidFill>
                  <a:schemeClr val="lt2"/>
                </a:solidFill>
                <a:latin typeface="Roboto"/>
                <a:ea typeface="Roboto"/>
                <a:cs typeface="Roboto"/>
                <a:sym typeface="Roboto"/>
              </a:defRPr>
            </a:lvl1pPr>
            <a:lvl2pPr lvl="1" algn="r">
              <a:buNone/>
              <a:defRPr sz="1333">
                <a:solidFill>
                  <a:schemeClr val="lt2"/>
                </a:solidFill>
                <a:latin typeface="Roboto"/>
                <a:ea typeface="Roboto"/>
                <a:cs typeface="Roboto"/>
                <a:sym typeface="Roboto"/>
              </a:defRPr>
            </a:lvl2pPr>
            <a:lvl3pPr lvl="2" algn="r">
              <a:buNone/>
              <a:defRPr sz="1333">
                <a:solidFill>
                  <a:schemeClr val="lt2"/>
                </a:solidFill>
                <a:latin typeface="Roboto"/>
                <a:ea typeface="Roboto"/>
                <a:cs typeface="Roboto"/>
                <a:sym typeface="Roboto"/>
              </a:defRPr>
            </a:lvl3pPr>
            <a:lvl4pPr lvl="3" algn="r">
              <a:buNone/>
              <a:defRPr sz="1333">
                <a:solidFill>
                  <a:schemeClr val="lt2"/>
                </a:solidFill>
                <a:latin typeface="Roboto"/>
                <a:ea typeface="Roboto"/>
                <a:cs typeface="Roboto"/>
                <a:sym typeface="Roboto"/>
              </a:defRPr>
            </a:lvl4pPr>
            <a:lvl5pPr lvl="4" algn="r">
              <a:buNone/>
              <a:defRPr sz="1333">
                <a:solidFill>
                  <a:schemeClr val="lt2"/>
                </a:solidFill>
                <a:latin typeface="Roboto"/>
                <a:ea typeface="Roboto"/>
                <a:cs typeface="Roboto"/>
                <a:sym typeface="Roboto"/>
              </a:defRPr>
            </a:lvl5pPr>
            <a:lvl6pPr lvl="5" algn="r">
              <a:buNone/>
              <a:defRPr sz="1333">
                <a:solidFill>
                  <a:schemeClr val="lt2"/>
                </a:solidFill>
                <a:latin typeface="Roboto"/>
                <a:ea typeface="Roboto"/>
                <a:cs typeface="Roboto"/>
                <a:sym typeface="Roboto"/>
              </a:defRPr>
            </a:lvl6pPr>
            <a:lvl7pPr lvl="6" algn="r">
              <a:buNone/>
              <a:defRPr sz="1333">
                <a:solidFill>
                  <a:schemeClr val="lt2"/>
                </a:solidFill>
                <a:latin typeface="Roboto"/>
                <a:ea typeface="Roboto"/>
                <a:cs typeface="Roboto"/>
                <a:sym typeface="Roboto"/>
              </a:defRPr>
            </a:lvl7pPr>
            <a:lvl8pPr lvl="7" algn="r">
              <a:buNone/>
              <a:defRPr sz="1333">
                <a:solidFill>
                  <a:schemeClr val="lt2"/>
                </a:solidFill>
                <a:latin typeface="Roboto"/>
                <a:ea typeface="Roboto"/>
                <a:cs typeface="Roboto"/>
                <a:sym typeface="Roboto"/>
              </a:defRPr>
            </a:lvl8pPr>
            <a:lvl9pPr lvl="8" algn="r">
              <a:buNone/>
              <a:defRPr sz="1333">
                <a:solidFill>
                  <a:schemeClr val="lt2"/>
                </a:solidFill>
                <a:latin typeface="Roboto"/>
                <a:ea typeface="Roboto"/>
                <a:cs typeface="Roboto"/>
                <a:sym typeface="Roboto"/>
              </a:defRPr>
            </a:lvl9pPr>
          </a:lstStyle>
          <a:p>
            <a:pPr defTabSz="1219170">
              <a:buClr>
                <a:srgbClr val="000000"/>
              </a:buClr>
            </a:pPr>
            <a:fld id="{00000000-1234-1234-1234-123412341234}" type="slidenum">
              <a:rPr lang="en" kern="0" smtClean="0">
                <a:solidFill>
                  <a:srgbClr val="737373"/>
                </a:solidFill>
              </a:rPr>
              <a:pPr defTabSz="1219170">
                <a:buClr>
                  <a:srgbClr val="000000"/>
                </a:buClr>
              </a:pPr>
              <a:t>‹#›</a:t>
            </a:fld>
            <a:endParaRPr lang="en" kern="0">
              <a:solidFill>
                <a:srgbClr val="737373"/>
              </a:solidFill>
            </a:endParaRPr>
          </a:p>
        </p:txBody>
      </p:sp>
    </p:spTree>
    <p:extLst>
      <p:ext uri="{BB962C8B-B14F-4D97-AF65-F5344CB8AC3E}">
        <p14:creationId xmlns:p14="http://schemas.microsoft.com/office/powerpoint/2010/main" val="1318542828"/>
      </p:ext>
    </p:extLst>
  </p:cSld>
  <p:clrMap bg1="lt1" tx1="dk1" bg2="dk2" tx2="lt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hf sldNum="0"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comments" Target="../comments/comment1.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comments" Target="../comments/commen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xml"/><Relationship Id="rId6" Type="http://schemas.openxmlformats.org/officeDocument/2006/relationships/comments" Target="../comments/comment3.xml"/><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 Id="rId6" Type="http://schemas.openxmlformats.org/officeDocument/2006/relationships/comments" Target="../comments/comment4.xml"/><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3.xml"/><Relationship Id="rId5" Type="http://schemas.openxmlformats.org/officeDocument/2006/relationships/comments" Target="../comments/comment5.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3.xml"/><Relationship Id="rId5" Type="http://schemas.openxmlformats.org/officeDocument/2006/relationships/image" Target="../media/image28.png"/><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3.xml"/><Relationship Id="rId5" Type="http://schemas.openxmlformats.org/officeDocument/2006/relationships/image" Target="../media/image32.png"/><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3.xml"/><Relationship Id="rId5" Type="http://schemas.openxmlformats.org/officeDocument/2006/relationships/comments" Target="../comments/comment6.xml"/><Relationship Id="rId4" Type="http://schemas.openxmlformats.org/officeDocument/2006/relationships/image" Target="../media/image35.png"/></Relationships>
</file>

<file path=ppt/slides/_rels/slide1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3.xml"/><Relationship Id="rId4" Type="http://schemas.openxmlformats.org/officeDocument/2006/relationships/image" Target="../media/image40.png"/></Relationships>
</file>

<file path=ppt/slides/_rels/slide1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3.xml"/><Relationship Id="rId4" Type="http://schemas.openxmlformats.org/officeDocument/2006/relationships/image" Target="../media/image43.png"/></Relationships>
</file>

<file path=ppt/slides/_rels/slide2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7" name="Google Shape;67;p13"/>
          <p:cNvSpPr txBox="1">
            <a:spLocks noGrp="1"/>
          </p:cNvSpPr>
          <p:nvPr>
            <p:ph type="title"/>
          </p:nvPr>
        </p:nvSpPr>
        <p:spPr>
          <a:xfrm>
            <a:off x="382600" y="723090"/>
            <a:ext cx="11426800" cy="2184800"/>
          </a:xfrm>
          <a:prstGeom prst="rect">
            <a:avLst/>
          </a:prstGeom>
        </p:spPr>
        <p:txBody>
          <a:bodyPr spcFirstLastPara="1" wrap="square" lIns="121900" tIns="121900" rIns="121900" bIns="121900" anchor="ctr" anchorCtr="0">
            <a:noAutofit/>
          </a:bodyPr>
          <a:lstStyle/>
          <a:p>
            <a:pPr algn="ctr"/>
            <a:r>
              <a:rPr lang="en-US"/>
              <a:t>Phân Tích Và Dự Đoán Giá Nhà</a:t>
            </a:r>
            <a:endParaRPr b="1" dirty="0">
              <a:highlight>
                <a:schemeClr val="dk1"/>
              </a:highlight>
              <a:latin typeface="Roboto" panose="020B0604020202020204" charset="0"/>
              <a:ea typeface="Roboto" panose="020B0604020202020204" charset="0"/>
            </a:endParaRPr>
          </a:p>
        </p:txBody>
      </p:sp>
      <p:sp>
        <p:nvSpPr>
          <p:cNvPr id="5" name="TextBox 4">
            <a:extLst>
              <a:ext uri="{FF2B5EF4-FFF2-40B4-BE49-F238E27FC236}">
                <a16:creationId xmlns:a16="http://schemas.microsoft.com/office/drawing/2014/main" id="{8CEC08CA-E933-ECCA-62C0-3DD222DCA057}"/>
              </a:ext>
            </a:extLst>
          </p:cNvPr>
          <p:cNvSpPr txBox="1"/>
          <p:nvPr/>
        </p:nvSpPr>
        <p:spPr>
          <a:xfrm>
            <a:off x="1226574" y="3039102"/>
            <a:ext cx="6268064" cy="1200329"/>
          </a:xfrm>
          <a:prstGeom prst="rect">
            <a:avLst/>
          </a:prstGeom>
          <a:noFill/>
        </p:spPr>
        <p:txBody>
          <a:bodyPr wrap="square">
            <a:spAutoFit/>
          </a:bodyPr>
          <a:lstStyle/>
          <a:p>
            <a:pPr rtl="0">
              <a:buNone/>
            </a:pPr>
            <a:r>
              <a:rPr lang="vi-VN" sz="2400" b="0" i="1" u="sng" dirty="0">
                <a:solidFill>
                  <a:schemeClr val="bg1"/>
                </a:solidFill>
                <a:effectLst/>
                <a:latin typeface="Roboto" panose="02000000000000000000" pitchFamily="2" charset="0"/>
                <a:ea typeface="Roboto" panose="02000000000000000000" pitchFamily="2" charset="0"/>
                <a:cs typeface="Roboto" panose="02000000000000000000" pitchFamily="2" charset="0"/>
              </a:rPr>
              <a:t>Giảng Viên</a:t>
            </a:r>
            <a:r>
              <a:rPr lang="vi-VN" sz="2400" b="0" i="1"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a:t>
            </a:r>
            <a:r>
              <a:rPr lang="vi-VN" sz="2400" b="0"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 </a:t>
            </a:r>
            <a:r>
              <a:rPr lang="vi-VN" sz="24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TS. Đỗ Như Tài</a:t>
            </a:r>
            <a:endParaRPr lang="vi-VN" sz="2400" b="0"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a:p>
            <a:pPr>
              <a:buNone/>
            </a:pPr>
            <a:br>
              <a:rPr lang="vi-VN" sz="2400" dirty="0">
                <a:solidFill>
                  <a:schemeClr val="bg1"/>
                </a:solidFill>
                <a:latin typeface="Roboto" panose="02000000000000000000" pitchFamily="2" charset="0"/>
                <a:ea typeface="Roboto" panose="02000000000000000000" pitchFamily="2" charset="0"/>
                <a:cs typeface="Roboto" panose="02000000000000000000" pitchFamily="2" charset="0"/>
              </a:rPr>
            </a:br>
            <a:endParaRPr lang="en-US" sz="240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6" name="Google Shape;68;p13">
            <a:extLst>
              <a:ext uri="{FF2B5EF4-FFF2-40B4-BE49-F238E27FC236}">
                <a16:creationId xmlns:a16="http://schemas.microsoft.com/office/drawing/2014/main" id="{CBC74934-5B53-B879-8B14-F45FBAC14D42}"/>
              </a:ext>
            </a:extLst>
          </p:cNvPr>
          <p:cNvSpPr txBox="1"/>
          <p:nvPr/>
        </p:nvSpPr>
        <p:spPr>
          <a:xfrm>
            <a:off x="6620837" y="4336231"/>
            <a:ext cx="5571163" cy="1723508"/>
          </a:xfrm>
          <a:prstGeom prst="rect">
            <a:avLst/>
          </a:prstGeom>
          <a:noFill/>
          <a:ln>
            <a:noFill/>
          </a:ln>
        </p:spPr>
        <p:txBody>
          <a:bodyPr spcFirstLastPara="1" wrap="square" lIns="121900" tIns="121900" rIns="121900" bIns="121900" anchor="t" anchorCtr="0">
            <a:spAutoFit/>
          </a:bodyPr>
          <a:lstStyle/>
          <a:p>
            <a:r>
              <a:rPr lang="en-US" sz="2400" dirty="0">
                <a:solidFill>
                  <a:schemeClr val="bg1"/>
                </a:solidFill>
                <a:latin typeface="Roboto" panose="02000000000000000000" pitchFamily="2" charset="0"/>
                <a:ea typeface="Roboto" panose="02000000000000000000" pitchFamily="2" charset="0"/>
                <a:cs typeface="Roboto" panose="02000000000000000000" pitchFamily="2" charset="0"/>
              </a:rPr>
              <a:t>Phan Hoàng Vũ – 3123410436</a:t>
            </a:r>
            <a:br>
              <a:rPr lang="en-US" sz="24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sz="2400" dirty="0">
                <a:solidFill>
                  <a:schemeClr val="bg1"/>
                </a:solidFill>
                <a:latin typeface="Roboto" panose="02000000000000000000" pitchFamily="2" charset="0"/>
                <a:ea typeface="Roboto" panose="02000000000000000000" pitchFamily="2" charset="0"/>
                <a:cs typeface="Roboto" panose="02000000000000000000" pitchFamily="2" charset="0"/>
              </a:rPr>
              <a:t>Đinh Nguyễn Duy Phong - 3122410306</a:t>
            </a:r>
            <a:br>
              <a:rPr lang="en-US" sz="24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sz="2400" dirty="0">
                <a:solidFill>
                  <a:schemeClr val="bg1"/>
                </a:solidFill>
                <a:latin typeface="Roboto" panose="02000000000000000000" pitchFamily="2" charset="0"/>
                <a:ea typeface="Roboto" panose="02000000000000000000" pitchFamily="2" charset="0"/>
                <a:cs typeface="Roboto" panose="02000000000000000000" pitchFamily="2" charset="0"/>
              </a:rPr>
              <a:t>Nguyễn Hoàng </a:t>
            </a:r>
            <a:r>
              <a:rPr lang="en-US" sz="2400" dirty="0" err="1">
                <a:solidFill>
                  <a:schemeClr val="bg1"/>
                </a:solidFill>
                <a:latin typeface="Roboto" panose="02000000000000000000" pitchFamily="2" charset="0"/>
                <a:ea typeface="Roboto" panose="02000000000000000000" pitchFamily="2" charset="0"/>
                <a:cs typeface="Roboto" panose="02000000000000000000" pitchFamily="2" charset="0"/>
              </a:rPr>
              <a:t>Phú</a:t>
            </a:r>
            <a:r>
              <a:rPr lang="en-US" sz="2400" dirty="0">
                <a:solidFill>
                  <a:schemeClr val="bg1"/>
                </a:solidFill>
                <a:latin typeface="Roboto" panose="02000000000000000000" pitchFamily="2" charset="0"/>
                <a:ea typeface="Roboto" panose="02000000000000000000" pitchFamily="2" charset="0"/>
                <a:cs typeface="Roboto" panose="02000000000000000000" pitchFamily="2" charset="0"/>
              </a:rPr>
              <a:t> - 3122410314</a:t>
            </a:r>
            <a:br>
              <a:rPr lang="en-US" sz="24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sz="2400" dirty="0" err="1">
                <a:solidFill>
                  <a:schemeClr val="bg1"/>
                </a:solidFill>
                <a:latin typeface="Roboto" panose="02000000000000000000" pitchFamily="2" charset="0"/>
                <a:ea typeface="Roboto" panose="02000000000000000000" pitchFamily="2" charset="0"/>
                <a:cs typeface="Roboto" panose="02000000000000000000" pitchFamily="2" charset="0"/>
              </a:rPr>
              <a:t>Trần</a:t>
            </a:r>
            <a:r>
              <a:rPr lang="en-US" sz="2400" dirty="0">
                <a:solidFill>
                  <a:schemeClr val="bg1"/>
                </a:solidFill>
                <a:latin typeface="Roboto" panose="02000000000000000000" pitchFamily="2" charset="0"/>
                <a:ea typeface="Roboto" panose="02000000000000000000" pitchFamily="2" charset="0"/>
                <a:cs typeface="Roboto" panose="02000000000000000000" pitchFamily="2" charset="0"/>
              </a:rPr>
              <a:t> Minh </a:t>
            </a:r>
            <a:r>
              <a:rPr lang="en-US" sz="2400" dirty="0" err="1">
                <a:solidFill>
                  <a:schemeClr val="bg1"/>
                </a:solidFill>
                <a:latin typeface="Roboto" panose="02000000000000000000" pitchFamily="2" charset="0"/>
                <a:ea typeface="Roboto" panose="02000000000000000000" pitchFamily="2" charset="0"/>
                <a:cs typeface="Roboto" panose="02000000000000000000" pitchFamily="2" charset="0"/>
              </a:rPr>
              <a:t>Phú</a:t>
            </a:r>
            <a:r>
              <a:rPr lang="en-US" sz="2400" dirty="0">
                <a:solidFill>
                  <a:schemeClr val="bg1"/>
                </a:solidFill>
                <a:latin typeface="Roboto" panose="02000000000000000000" pitchFamily="2" charset="0"/>
                <a:ea typeface="Roboto" panose="02000000000000000000" pitchFamily="2" charset="0"/>
                <a:cs typeface="Roboto" panose="02000000000000000000" pitchFamily="2" charset="0"/>
              </a:rPr>
              <a:t> - 3122410318</a:t>
            </a:r>
          </a:p>
        </p:txBody>
      </p:sp>
    </p:spTree>
    <p:extLst>
      <p:ext uri="{BB962C8B-B14F-4D97-AF65-F5344CB8AC3E}">
        <p14:creationId xmlns:p14="http://schemas.microsoft.com/office/powerpoint/2010/main" val="41475978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578400" y="228601"/>
            <a:ext cx="10962800" cy="688622"/>
          </a:xfrm>
        </p:spPr>
        <p:txBody>
          <a:bodyPr/>
          <a:lstStyle/>
          <a:p>
            <a:r>
              <a:rPr lang="en" sz="4800" b="1" dirty="0"/>
              <a:t>Giới thiệu</a:t>
            </a:r>
            <a:endParaRPr lang="en-US" sz="4800" dirty="0"/>
          </a:p>
        </p:txBody>
      </p:sp>
      <p:sp>
        <p:nvSpPr>
          <p:cNvPr id="7" name="TextBox 6"/>
          <p:cNvSpPr txBox="1"/>
          <p:nvPr/>
        </p:nvSpPr>
        <p:spPr>
          <a:xfrm>
            <a:off x="850900" y="1485900"/>
            <a:ext cx="9855200" cy="646331"/>
          </a:xfrm>
          <a:prstGeom prst="rect">
            <a:avLst/>
          </a:prstGeom>
          <a:noFill/>
        </p:spPr>
        <p:txBody>
          <a:bodyPr wrap="square" rtlCol="0">
            <a:spAutoFit/>
          </a:bodyPr>
          <a:lstStyle/>
          <a:p>
            <a:r>
              <a:rPr lang="en-US" b="1" dirty="0" err="1">
                <a:solidFill>
                  <a:srgbClr val="FF0000"/>
                </a:solidFill>
              </a:rPr>
              <a:t>Bất</a:t>
            </a:r>
            <a:r>
              <a:rPr lang="en-US" b="1" dirty="0">
                <a:solidFill>
                  <a:srgbClr val="FF0000"/>
                </a:solidFill>
              </a:rPr>
              <a:t> </a:t>
            </a:r>
            <a:r>
              <a:rPr lang="en-US" b="1" dirty="0" err="1">
                <a:solidFill>
                  <a:srgbClr val="FF0000"/>
                </a:solidFill>
              </a:rPr>
              <a:t>động</a:t>
            </a:r>
            <a:r>
              <a:rPr lang="en-US" b="1" dirty="0">
                <a:solidFill>
                  <a:srgbClr val="FF0000"/>
                </a:solidFill>
              </a:rPr>
              <a:t> </a:t>
            </a:r>
            <a:r>
              <a:rPr lang="en-US" b="1" dirty="0" err="1">
                <a:solidFill>
                  <a:srgbClr val="FF0000"/>
                </a:solidFill>
              </a:rPr>
              <a:t>sản</a:t>
            </a:r>
            <a:r>
              <a:rPr lang="en-US" b="1" dirty="0">
                <a:solidFill>
                  <a:srgbClr val="FF0000"/>
                </a:solidFill>
              </a:rPr>
              <a:t> </a:t>
            </a:r>
            <a:r>
              <a:rPr lang="en-US" dirty="0" err="1">
                <a:solidFill>
                  <a:schemeClr val="bg2"/>
                </a:solidFill>
              </a:rPr>
              <a:t>là</a:t>
            </a:r>
            <a:r>
              <a:rPr lang="en-US" dirty="0">
                <a:solidFill>
                  <a:schemeClr val="bg2"/>
                </a:solidFill>
              </a:rPr>
              <a:t> </a:t>
            </a:r>
            <a:r>
              <a:rPr lang="en-US" dirty="0" err="1">
                <a:solidFill>
                  <a:schemeClr val="bg2"/>
                </a:solidFill>
              </a:rPr>
              <a:t>một</a:t>
            </a:r>
            <a:r>
              <a:rPr lang="en-US" dirty="0">
                <a:solidFill>
                  <a:schemeClr val="bg2"/>
                </a:solidFill>
              </a:rPr>
              <a:t> </a:t>
            </a:r>
            <a:r>
              <a:rPr lang="en-US" dirty="0" err="1">
                <a:solidFill>
                  <a:schemeClr val="bg2"/>
                </a:solidFill>
              </a:rPr>
              <a:t>ngành</a:t>
            </a:r>
            <a:r>
              <a:rPr lang="en-US" dirty="0">
                <a:solidFill>
                  <a:schemeClr val="bg2"/>
                </a:solidFill>
              </a:rPr>
              <a:t> hot, </a:t>
            </a:r>
            <a:r>
              <a:rPr lang="en-US" dirty="0" err="1">
                <a:solidFill>
                  <a:schemeClr val="bg2"/>
                </a:solidFill>
              </a:rPr>
              <a:t>chứa</a:t>
            </a:r>
            <a:r>
              <a:rPr lang="en-US" dirty="0">
                <a:solidFill>
                  <a:schemeClr val="bg2"/>
                </a:solidFill>
              </a:rPr>
              <a:t> </a:t>
            </a:r>
            <a:r>
              <a:rPr lang="en-US" dirty="0" err="1">
                <a:solidFill>
                  <a:schemeClr val="bg2"/>
                </a:solidFill>
              </a:rPr>
              <a:t>đựng</a:t>
            </a:r>
            <a:r>
              <a:rPr lang="en-US" dirty="0">
                <a:solidFill>
                  <a:schemeClr val="bg2"/>
                </a:solidFill>
              </a:rPr>
              <a:t> </a:t>
            </a:r>
            <a:r>
              <a:rPr lang="en-US" dirty="0" err="1">
                <a:solidFill>
                  <a:schemeClr val="bg2"/>
                </a:solidFill>
              </a:rPr>
              <a:t>lượng</a:t>
            </a:r>
            <a:r>
              <a:rPr lang="en-US" dirty="0">
                <a:solidFill>
                  <a:schemeClr val="bg2"/>
                </a:solidFill>
              </a:rPr>
              <a:t> </a:t>
            </a:r>
            <a:r>
              <a:rPr lang="en-US" dirty="0" err="1">
                <a:solidFill>
                  <a:schemeClr val="bg2"/>
                </a:solidFill>
              </a:rPr>
              <a:t>dữ</a:t>
            </a:r>
            <a:r>
              <a:rPr lang="en-US" dirty="0">
                <a:solidFill>
                  <a:schemeClr val="bg2"/>
                </a:solidFill>
              </a:rPr>
              <a:t> </a:t>
            </a:r>
            <a:r>
              <a:rPr lang="en-US" dirty="0" err="1">
                <a:solidFill>
                  <a:schemeClr val="bg2"/>
                </a:solidFill>
              </a:rPr>
              <a:t>liệu</a:t>
            </a:r>
            <a:r>
              <a:rPr lang="en-US" dirty="0">
                <a:solidFill>
                  <a:schemeClr val="bg2"/>
                </a:solidFill>
              </a:rPr>
              <a:t> </a:t>
            </a:r>
            <a:r>
              <a:rPr lang="en-US" dirty="0" err="1">
                <a:solidFill>
                  <a:schemeClr val="bg2"/>
                </a:solidFill>
              </a:rPr>
              <a:t>khổng</a:t>
            </a:r>
            <a:r>
              <a:rPr lang="en-US" dirty="0">
                <a:solidFill>
                  <a:schemeClr val="bg2"/>
                </a:solidFill>
              </a:rPr>
              <a:t> </a:t>
            </a:r>
            <a:r>
              <a:rPr lang="en-US" dirty="0" err="1">
                <a:solidFill>
                  <a:schemeClr val="bg2"/>
                </a:solidFill>
              </a:rPr>
              <a:t>lồ</a:t>
            </a:r>
            <a:r>
              <a:rPr lang="en-US" dirty="0">
                <a:solidFill>
                  <a:schemeClr val="bg2"/>
                </a:solidFill>
              </a:rPr>
              <a:t>, </a:t>
            </a:r>
            <a:r>
              <a:rPr lang="en-US" dirty="0" err="1">
                <a:solidFill>
                  <a:schemeClr val="bg2"/>
                </a:solidFill>
              </a:rPr>
              <a:t>tuy</a:t>
            </a:r>
            <a:r>
              <a:rPr lang="en-US" dirty="0">
                <a:solidFill>
                  <a:schemeClr val="bg2"/>
                </a:solidFill>
              </a:rPr>
              <a:t> </a:t>
            </a:r>
            <a:r>
              <a:rPr lang="en-US" dirty="0" err="1">
                <a:solidFill>
                  <a:schemeClr val="bg2"/>
                </a:solidFill>
              </a:rPr>
              <a:t>nhiên</a:t>
            </a:r>
            <a:r>
              <a:rPr lang="en-US" dirty="0">
                <a:solidFill>
                  <a:schemeClr val="bg2"/>
                </a:solidFill>
              </a:rPr>
              <a:t> </a:t>
            </a:r>
            <a:r>
              <a:rPr lang="en-US" dirty="0" err="1">
                <a:solidFill>
                  <a:schemeClr val="bg2"/>
                </a:solidFill>
              </a:rPr>
              <a:t>việc</a:t>
            </a:r>
            <a:r>
              <a:rPr lang="en-US" dirty="0">
                <a:solidFill>
                  <a:schemeClr val="bg2"/>
                </a:solidFill>
              </a:rPr>
              <a:t> </a:t>
            </a:r>
            <a:r>
              <a:rPr lang="en-US" dirty="0" err="1">
                <a:solidFill>
                  <a:schemeClr val="bg2"/>
                </a:solidFill>
              </a:rPr>
              <a:t>dự</a:t>
            </a:r>
            <a:r>
              <a:rPr lang="en-US" dirty="0">
                <a:solidFill>
                  <a:schemeClr val="bg2"/>
                </a:solidFill>
              </a:rPr>
              <a:t> </a:t>
            </a:r>
            <a:r>
              <a:rPr lang="en-US" dirty="0" err="1">
                <a:solidFill>
                  <a:schemeClr val="bg2"/>
                </a:solidFill>
              </a:rPr>
              <a:t>đoán</a:t>
            </a:r>
            <a:r>
              <a:rPr lang="en-US" dirty="0">
                <a:solidFill>
                  <a:schemeClr val="bg2"/>
                </a:solidFill>
              </a:rPr>
              <a:t> </a:t>
            </a:r>
            <a:r>
              <a:rPr lang="en-US" dirty="0" err="1">
                <a:solidFill>
                  <a:schemeClr val="bg2"/>
                </a:solidFill>
              </a:rPr>
              <a:t>giá</a:t>
            </a:r>
            <a:r>
              <a:rPr lang="en-US" dirty="0">
                <a:solidFill>
                  <a:schemeClr val="bg2"/>
                </a:solidFill>
              </a:rPr>
              <a:t> </a:t>
            </a:r>
            <a:r>
              <a:rPr lang="en-US" dirty="0" err="1">
                <a:solidFill>
                  <a:schemeClr val="bg2"/>
                </a:solidFill>
              </a:rPr>
              <a:t>trị</a:t>
            </a:r>
            <a:r>
              <a:rPr lang="en-US" dirty="0">
                <a:solidFill>
                  <a:schemeClr val="bg2"/>
                </a:solidFill>
              </a:rPr>
              <a:t> </a:t>
            </a:r>
            <a:r>
              <a:rPr lang="en-US" dirty="0" err="1">
                <a:solidFill>
                  <a:schemeClr val="bg2"/>
                </a:solidFill>
              </a:rPr>
              <a:t>của</a:t>
            </a:r>
            <a:r>
              <a:rPr lang="en-US" dirty="0">
                <a:solidFill>
                  <a:schemeClr val="bg2"/>
                </a:solidFill>
              </a:rPr>
              <a:t> </a:t>
            </a:r>
            <a:r>
              <a:rPr lang="en-US" dirty="0" err="1">
                <a:solidFill>
                  <a:schemeClr val="bg2"/>
                </a:solidFill>
              </a:rPr>
              <a:t>giá</a:t>
            </a:r>
            <a:r>
              <a:rPr lang="en-US" dirty="0">
                <a:solidFill>
                  <a:schemeClr val="bg2"/>
                </a:solidFill>
              </a:rPr>
              <a:t> </a:t>
            </a:r>
            <a:r>
              <a:rPr lang="en-US" dirty="0" err="1">
                <a:solidFill>
                  <a:schemeClr val="bg2"/>
                </a:solidFill>
              </a:rPr>
              <a:t>nhà</a:t>
            </a:r>
            <a:r>
              <a:rPr lang="en-US" dirty="0">
                <a:solidFill>
                  <a:schemeClr val="bg2"/>
                </a:solidFill>
              </a:rPr>
              <a:t> </a:t>
            </a:r>
            <a:r>
              <a:rPr lang="en-US" dirty="0" err="1">
                <a:solidFill>
                  <a:schemeClr val="bg2"/>
                </a:solidFill>
              </a:rPr>
              <a:t>có</a:t>
            </a:r>
            <a:r>
              <a:rPr lang="en-US" dirty="0">
                <a:solidFill>
                  <a:schemeClr val="bg2"/>
                </a:solidFill>
              </a:rPr>
              <a:t> </a:t>
            </a:r>
            <a:r>
              <a:rPr lang="en-US" dirty="0" err="1">
                <a:solidFill>
                  <a:schemeClr val="bg2"/>
                </a:solidFill>
              </a:rPr>
              <a:t>nhiều</a:t>
            </a:r>
            <a:r>
              <a:rPr lang="en-US" dirty="0">
                <a:solidFill>
                  <a:schemeClr val="bg2"/>
                </a:solidFill>
              </a:rPr>
              <a:t> </a:t>
            </a:r>
            <a:r>
              <a:rPr lang="en-US" dirty="0" err="1">
                <a:solidFill>
                  <a:schemeClr val="bg2"/>
                </a:solidFill>
              </a:rPr>
              <a:t>khó</a:t>
            </a:r>
            <a:r>
              <a:rPr lang="en-US" dirty="0">
                <a:solidFill>
                  <a:schemeClr val="bg2"/>
                </a:solidFill>
              </a:rPr>
              <a:t> khan </a:t>
            </a:r>
            <a:r>
              <a:rPr lang="en-US" dirty="0" err="1">
                <a:solidFill>
                  <a:schemeClr val="bg2"/>
                </a:solidFill>
              </a:rPr>
              <a:t>vì</a:t>
            </a:r>
            <a:r>
              <a:rPr lang="en-US" dirty="0">
                <a:solidFill>
                  <a:schemeClr val="bg2"/>
                </a:solidFill>
              </a:rPr>
              <a:t>:   </a:t>
            </a:r>
          </a:p>
        </p:txBody>
      </p:sp>
      <p:sp>
        <p:nvSpPr>
          <p:cNvPr id="10" name="TextBox 9"/>
          <p:cNvSpPr txBox="1"/>
          <p:nvPr/>
        </p:nvSpPr>
        <p:spPr>
          <a:xfrm>
            <a:off x="1244600" y="2132231"/>
            <a:ext cx="9461500" cy="369332"/>
          </a:xfrm>
          <a:prstGeom prst="rect">
            <a:avLst/>
          </a:prstGeom>
          <a:noFill/>
        </p:spPr>
        <p:txBody>
          <a:bodyPr wrap="square" rtlCol="0">
            <a:spAutoFit/>
          </a:bodyPr>
          <a:lstStyle/>
          <a:p>
            <a:r>
              <a:rPr lang="en-US" dirty="0">
                <a:solidFill>
                  <a:schemeClr val="bg2"/>
                </a:solidFill>
              </a:rPr>
              <a:t>+ </a:t>
            </a:r>
            <a:r>
              <a:rPr lang="en-US" dirty="0" err="1">
                <a:solidFill>
                  <a:schemeClr val="bg2"/>
                </a:solidFill>
              </a:rPr>
              <a:t>Đa</a:t>
            </a:r>
            <a:r>
              <a:rPr lang="en-US" dirty="0">
                <a:solidFill>
                  <a:schemeClr val="bg2"/>
                </a:solidFill>
              </a:rPr>
              <a:t> </a:t>
            </a:r>
            <a:r>
              <a:rPr lang="en-US" dirty="0" err="1">
                <a:solidFill>
                  <a:schemeClr val="bg2"/>
                </a:solidFill>
              </a:rPr>
              <a:t>số</a:t>
            </a:r>
            <a:r>
              <a:rPr lang="en-US" dirty="0">
                <a:solidFill>
                  <a:schemeClr val="bg2"/>
                </a:solidFill>
              </a:rPr>
              <a:t> </a:t>
            </a:r>
            <a:r>
              <a:rPr lang="en-US" dirty="0" err="1">
                <a:solidFill>
                  <a:schemeClr val="bg2"/>
                </a:solidFill>
              </a:rPr>
              <a:t>thông</a:t>
            </a:r>
            <a:r>
              <a:rPr lang="en-US" dirty="0">
                <a:solidFill>
                  <a:schemeClr val="bg2"/>
                </a:solidFill>
              </a:rPr>
              <a:t> tin </a:t>
            </a:r>
            <a:r>
              <a:rPr lang="en-US" dirty="0" err="1">
                <a:solidFill>
                  <a:schemeClr val="bg2"/>
                </a:solidFill>
              </a:rPr>
              <a:t>được</a:t>
            </a:r>
            <a:r>
              <a:rPr lang="en-US" dirty="0">
                <a:solidFill>
                  <a:schemeClr val="bg2"/>
                </a:solidFill>
              </a:rPr>
              <a:t> </a:t>
            </a:r>
            <a:r>
              <a:rPr lang="en-US" dirty="0" err="1">
                <a:solidFill>
                  <a:schemeClr val="bg2"/>
                </a:solidFill>
              </a:rPr>
              <a:t>trình</a:t>
            </a:r>
            <a:r>
              <a:rPr lang="en-US" dirty="0">
                <a:solidFill>
                  <a:schemeClr val="bg2"/>
                </a:solidFill>
              </a:rPr>
              <a:t> </a:t>
            </a:r>
            <a:r>
              <a:rPr lang="en-US" dirty="0" err="1">
                <a:solidFill>
                  <a:schemeClr val="bg2"/>
                </a:solidFill>
              </a:rPr>
              <a:t>bày</a:t>
            </a:r>
            <a:r>
              <a:rPr lang="en-US" dirty="0">
                <a:solidFill>
                  <a:schemeClr val="bg2"/>
                </a:solidFill>
              </a:rPr>
              <a:t> </a:t>
            </a:r>
            <a:r>
              <a:rPr lang="en-US" dirty="0" err="1">
                <a:solidFill>
                  <a:schemeClr val="bg2"/>
                </a:solidFill>
              </a:rPr>
              <a:t>dưới</a:t>
            </a:r>
            <a:r>
              <a:rPr lang="en-US" dirty="0">
                <a:solidFill>
                  <a:schemeClr val="bg2"/>
                </a:solidFill>
              </a:rPr>
              <a:t> </a:t>
            </a:r>
            <a:r>
              <a:rPr lang="en-US" dirty="0" err="1">
                <a:solidFill>
                  <a:schemeClr val="bg2"/>
                </a:solidFill>
              </a:rPr>
              <a:t>dạng</a:t>
            </a:r>
            <a:r>
              <a:rPr lang="en-US" dirty="0">
                <a:solidFill>
                  <a:schemeClr val="bg2"/>
                </a:solidFill>
              </a:rPr>
              <a:t> </a:t>
            </a:r>
            <a:r>
              <a:rPr lang="en-US" dirty="0" err="1">
                <a:solidFill>
                  <a:schemeClr val="bg2"/>
                </a:solidFill>
              </a:rPr>
              <a:t>rời</a:t>
            </a:r>
            <a:r>
              <a:rPr lang="en-US" dirty="0">
                <a:solidFill>
                  <a:schemeClr val="bg2"/>
                </a:solidFill>
              </a:rPr>
              <a:t> </a:t>
            </a:r>
            <a:r>
              <a:rPr lang="en-US" dirty="0" err="1">
                <a:solidFill>
                  <a:schemeClr val="bg2"/>
                </a:solidFill>
              </a:rPr>
              <a:t>rạc</a:t>
            </a:r>
            <a:r>
              <a:rPr lang="en-US" dirty="0">
                <a:solidFill>
                  <a:schemeClr val="bg2"/>
                </a:solidFill>
              </a:rPr>
              <a:t>.</a:t>
            </a:r>
          </a:p>
        </p:txBody>
      </p:sp>
      <p:sp>
        <p:nvSpPr>
          <p:cNvPr id="11" name="TextBox 10"/>
          <p:cNvSpPr txBox="1"/>
          <p:nvPr/>
        </p:nvSpPr>
        <p:spPr>
          <a:xfrm>
            <a:off x="1244600" y="2593896"/>
            <a:ext cx="9461500" cy="369332"/>
          </a:xfrm>
          <a:prstGeom prst="rect">
            <a:avLst/>
          </a:prstGeom>
          <a:noFill/>
        </p:spPr>
        <p:txBody>
          <a:bodyPr wrap="square" rtlCol="0">
            <a:spAutoFit/>
          </a:bodyPr>
          <a:lstStyle/>
          <a:p>
            <a:r>
              <a:rPr lang="en-US" dirty="0">
                <a:solidFill>
                  <a:schemeClr val="bg2"/>
                </a:solidFill>
              </a:rPr>
              <a:t>+ </a:t>
            </a:r>
            <a:r>
              <a:rPr lang="en-US" dirty="0" err="1">
                <a:solidFill>
                  <a:schemeClr val="bg2"/>
                </a:solidFill>
              </a:rPr>
              <a:t>Chưa</a:t>
            </a:r>
            <a:r>
              <a:rPr lang="en-US" dirty="0">
                <a:solidFill>
                  <a:schemeClr val="bg2"/>
                </a:solidFill>
              </a:rPr>
              <a:t> </a:t>
            </a:r>
            <a:r>
              <a:rPr lang="en-US" dirty="0" err="1">
                <a:solidFill>
                  <a:schemeClr val="bg2"/>
                </a:solidFill>
              </a:rPr>
              <a:t>được</a:t>
            </a:r>
            <a:r>
              <a:rPr lang="en-US" dirty="0">
                <a:solidFill>
                  <a:schemeClr val="bg2"/>
                </a:solidFill>
              </a:rPr>
              <a:t> </a:t>
            </a:r>
            <a:r>
              <a:rPr lang="en-US" dirty="0" err="1">
                <a:solidFill>
                  <a:schemeClr val="bg2"/>
                </a:solidFill>
              </a:rPr>
              <a:t>xử</a:t>
            </a:r>
            <a:r>
              <a:rPr lang="en-US" dirty="0">
                <a:solidFill>
                  <a:schemeClr val="bg2"/>
                </a:solidFill>
              </a:rPr>
              <a:t> </a:t>
            </a:r>
            <a:r>
              <a:rPr lang="en-US" dirty="0" err="1">
                <a:solidFill>
                  <a:schemeClr val="bg2"/>
                </a:solidFill>
              </a:rPr>
              <a:t>lý</a:t>
            </a:r>
            <a:r>
              <a:rPr lang="en-US" dirty="0">
                <a:solidFill>
                  <a:schemeClr val="bg2"/>
                </a:solidFill>
              </a:rPr>
              <a:t> </a:t>
            </a:r>
            <a:r>
              <a:rPr lang="en-US" dirty="0" err="1">
                <a:solidFill>
                  <a:schemeClr val="bg2"/>
                </a:solidFill>
              </a:rPr>
              <a:t>thành</a:t>
            </a:r>
            <a:r>
              <a:rPr lang="en-US" dirty="0">
                <a:solidFill>
                  <a:schemeClr val="bg2"/>
                </a:solidFill>
              </a:rPr>
              <a:t> </a:t>
            </a:r>
            <a:r>
              <a:rPr lang="en-US" dirty="0" err="1">
                <a:solidFill>
                  <a:schemeClr val="bg2"/>
                </a:solidFill>
              </a:rPr>
              <a:t>các</a:t>
            </a:r>
            <a:r>
              <a:rPr lang="en-US" dirty="0">
                <a:solidFill>
                  <a:schemeClr val="bg2"/>
                </a:solidFill>
              </a:rPr>
              <a:t> </a:t>
            </a:r>
            <a:r>
              <a:rPr lang="en-US" dirty="0" err="1">
                <a:solidFill>
                  <a:schemeClr val="bg2"/>
                </a:solidFill>
              </a:rPr>
              <a:t>mô</a:t>
            </a:r>
            <a:r>
              <a:rPr lang="en-US" dirty="0">
                <a:solidFill>
                  <a:schemeClr val="bg2"/>
                </a:solidFill>
              </a:rPr>
              <a:t> </a:t>
            </a:r>
            <a:r>
              <a:rPr lang="en-US" dirty="0" err="1">
                <a:solidFill>
                  <a:schemeClr val="bg2"/>
                </a:solidFill>
              </a:rPr>
              <a:t>hình</a:t>
            </a:r>
            <a:r>
              <a:rPr lang="en-US" dirty="0">
                <a:solidFill>
                  <a:schemeClr val="bg2"/>
                </a:solidFill>
              </a:rPr>
              <a:t> </a:t>
            </a:r>
            <a:r>
              <a:rPr lang="en-US" dirty="0" err="1">
                <a:solidFill>
                  <a:schemeClr val="bg2"/>
                </a:solidFill>
              </a:rPr>
              <a:t>có</a:t>
            </a:r>
            <a:r>
              <a:rPr lang="en-US" dirty="0">
                <a:solidFill>
                  <a:schemeClr val="bg2"/>
                </a:solidFill>
              </a:rPr>
              <a:t> </a:t>
            </a:r>
            <a:r>
              <a:rPr lang="en-US" dirty="0" err="1">
                <a:solidFill>
                  <a:schemeClr val="bg2"/>
                </a:solidFill>
              </a:rPr>
              <a:t>gia</a:t>
            </a:r>
            <a:r>
              <a:rPr lang="en-US" dirty="0">
                <a:solidFill>
                  <a:schemeClr val="bg2"/>
                </a:solidFill>
              </a:rPr>
              <a:t> </a:t>
            </a:r>
            <a:r>
              <a:rPr lang="en-US" dirty="0" err="1">
                <a:solidFill>
                  <a:schemeClr val="bg2"/>
                </a:solidFill>
              </a:rPr>
              <a:t>trị</a:t>
            </a:r>
            <a:r>
              <a:rPr lang="en-US" dirty="0">
                <a:solidFill>
                  <a:schemeClr val="bg2"/>
                </a:solidFill>
              </a:rPr>
              <a:t>.</a:t>
            </a:r>
          </a:p>
        </p:txBody>
      </p:sp>
      <p:sp>
        <p:nvSpPr>
          <p:cNvPr id="12" name="TextBox 11"/>
          <p:cNvSpPr txBox="1"/>
          <p:nvPr/>
        </p:nvSpPr>
        <p:spPr>
          <a:xfrm>
            <a:off x="850900" y="3516531"/>
            <a:ext cx="9461500" cy="369332"/>
          </a:xfrm>
          <a:prstGeom prst="rect">
            <a:avLst/>
          </a:prstGeom>
          <a:noFill/>
        </p:spPr>
        <p:txBody>
          <a:bodyPr wrap="square" rtlCol="0">
            <a:spAutoFit/>
          </a:bodyPr>
          <a:lstStyle/>
          <a:p>
            <a:r>
              <a:rPr lang="en-US" b="1" dirty="0" err="1">
                <a:solidFill>
                  <a:srgbClr val="FF0000"/>
                </a:solidFill>
              </a:rPr>
              <a:t>Ứng</a:t>
            </a:r>
            <a:r>
              <a:rPr lang="en-US" b="1" dirty="0">
                <a:solidFill>
                  <a:srgbClr val="FF0000"/>
                </a:solidFill>
              </a:rPr>
              <a:t> </a:t>
            </a:r>
            <a:r>
              <a:rPr lang="en-US" b="1" dirty="0" err="1">
                <a:solidFill>
                  <a:srgbClr val="FF0000"/>
                </a:solidFill>
              </a:rPr>
              <a:t>dụng</a:t>
            </a:r>
            <a:r>
              <a:rPr lang="en-US" b="1" dirty="0">
                <a:solidFill>
                  <a:srgbClr val="FF0000"/>
                </a:solidFill>
              </a:rPr>
              <a:t>:</a:t>
            </a:r>
          </a:p>
        </p:txBody>
      </p:sp>
      <p:sp>
        <p:nvSpPr>
          <p:cNvPr id="13" name="TextBox 12"/>
          <p:cNvSpPr txBox="1"/>
          <p:nvPr/>
        </p:nvSpPr>
        <p:spPr>
          <a:xfrm>
            <a:off x="1244600" y="3978196"/>
            <a:ext cx="4677229" cy="2308324"/>
          </a:xfrm>
          <a:prstGeom prst="rect">
            <a:avLst/>
          </a:prstGeom>
          <a:noFill/>
        </p:spPr>
        <p:txBody>
          <a:bodyPr wrap="square" rtlCol="0">
            <a:spAutoFit/>
          </a:bodyPr>
          <a:lstStyle/>
          <a:p>
            <a:r>
              <a:rPr lang="en-US" dirty="0">
                <a:solidFill>
                  <a:srgbClr val="424242"/>
                </a:solidFill>
              </a:rPr>
              <a:t>+ </a:t>
            </a:r>
            <a:r>
              <a:rPr lang="vi-VN" dirty="0">
                <a:solidFill>
                  <a:srgbClr val="424242"/>
                </a:solidFill>
              </a:rPr>
              <a:t>Mang lại cái nhìn toàn diện về thị trường nhà ở Việt Nam thông qua phân tích dữ liệ</a:t>
            </a:r>
            <a:r>
              <a:rPr lang="en-US" dirty="0">
                <a:solidFill>
                  <a:srgbClr val="424242"/>
                </a:solidFill>
              </a:rPr>
              <a:t>u. </a:t>
            </a:r>
          </a:p>
          <a:p>
            <a:r>
              <a:rPr lang="en-US" dirty="0">
                <a:solidFill>
                  <a:srgbClr val="424242"/>
                </a:solidFill>
              </a:rPr>
              <a:t>+ </a:t>
            </a:r>
            <a:r>
              <a:rPr lang="vi-VN" dirty="0">
                <a:solidFill>
                  <a:srgbClr val="424242"/>
                </a:solidFill>
              </a:rPr>
              <a:t>Xác định các yếu tố quan trọng nhất ảnh hưởng đến giá nhà.</a:t>
            </a:r>
          </a:p>
          <a:p>
            <a:r>
              <a:rPr lang="en-US" dirty="0">
                <a:solidFill>
                  <a:srgbClr val="424242"/>
                </a:solidFill>
              </a:rPr>
              <a:t>+ </a:t>
            </a:r>
            <a:r>
              <a:rPr lang="en-US" dirty="0" err="1">
                <a:solidFill>
                  <a:srgbClr val="424242"/>
                </a:solidFill>
              </a:rPr>
              <a:t>Ứng</a:t>
            </a:r>
            <a:r>
              <a:rPr lang="en-US" dirty="0">
                <a:solidFill>
                  <a:srgbClr val="424242"/>
                </a:solidFill>
              </a:rPr>
              <a:t> </a:t>
            </a:r>
            <a:r>
              <a:rPr lang="en-US" dirty="0" err="1">
                <a:solidFill>
                  <a:srgbClr val="424242"/>
                </a:solidFill>
              </a:rPr>
              <a:t>dụng</a:t>
            </a:r>
            <a:r>
              <a:rPr lang="en-US" dirty="0">
                <a:solidFill>
                  <a:srgbClr val="424242"/>
                </a:solidFill>
              </a:rPr>
              <a:t> </a:t>
            </a:r>
            <a:r>
              <a:rPr lang="en-US" dirty="0" err="1">
                <a:solidFill>
                  <a:srgbClr val="424242"/>
                </a:solidFill>
              </a:rPr>
              <a:t>các</a:t>
            </a:r>
            <a:r>
              <a:rPr lang="en-US" dirty="0">
                <a:solidFill>
                  <a:srgbClr val="424242"/>
                </a:solidFill>
              </a:rPr>
              <a:t> </a:t>
            </a:r>
            <a:r>
              <a:rPr lang="en-US" dirty="0" err="1">
                <a:solidFill>
                  <a:srgbClr val="424242"/>
                </a:solidFill>
              </a:rPr>
              <a:t>mô</a:t>
            </a:r>
            <a:r>
              <a:rPr lang="en-US" dirty="0">
                <a:solidFill>
                  <a:srgbClr val="424242"/>
                </a:solidFill>
              </a:rPr>
              <a:t> </a:t>
            </a:r>
            <a:r>
              <a:rPr lang="en-US" dirty="0" err="1">
                <a:solidFill>
                  <a:srgbClr val="424242"/>
                </a:solidFill>
              </a:rPr>
              <a:t>hình</a:t>
            </a:r>
            <a:r>
              <a:rPr lang="en-US" dirty="0">
                <a:solidFill>
                  <a:srgbClr val="424242"/>
                </a:solidFill>
              </a:rPr>
              <a:t> </a:t>
            </a:r>
            <a:r>
              <a:rPr lang="en-US" dirty="0" err="1">
                <a:solidFill>
                  <a:srgbClr val="424242"/>
                </a:solidFill>
              </a:rPr>
              <a:t>học</a:t>
            </a:r>
            <a:r>
              <a:rPr lang="en-US" dirty="0">
                <a:solidFill>
                  <a:srgbClr val="424242"/>
                </a:solidFill>
              </a:rPr>
              <a:t> </a:t>
            </a:r>
            <a:r>
              <a:rPr lang="en-US" dirty="0" err="1">
                <a:solidFill>
                  <a:srgbClr val="424242"/>
                </a:solidFill>
              </a:rPr>
              <a:t>máy</a:t>
            </a:r>
            <a:r>
              <a:rPr lang="en-US" dirty="0">
                <a:solidFill>
                  <a:srgbClr val="424242"/>
                </a:solidFill>
              </a:rPr>
              <a:t> </a:t>
            </a:r>
            <a:r>
              <a:rPr lang="en-US" dirty="0" err="1">
                <a:solidFill>
                  <a:srgbClr val="424242"/>
                </a:solidFill>
              </a:rPr>
              <a:t>để</a:t>
            </a:r>
            <a:r>
              <a:rPr lang="en-US" dirty="0">
                <a:solidFill>
                  <a:srgbClr val="424242"/>
                </a:solidFill>
              </a:rPr>
              <a:t> </a:t>
            </a:r>
            <a:r>
              <a:rPr lang="en-US" dirty="0" err="1">
                <a:solidFill>
                  <a:srgbClr val="424242"/>
                </a:solidFill>
              </a:rPr>
              <a:t>dự</a:t>
            </a:r>
            <a:r>
              <a:rPr lang="en-US" dirty="0">
                <a:solidFill>
                  <a:srgbClr val="424242"/>
                </a:solidFill>
              </a:rPr>
              <a:t> </a:t>
            </a:r>
            <a:r>
              <a:rPr lang="en-US" dirty="0" err="1">
                <a:solidFill>
                  <a:srgbClr val="424242"/>
                </a:solidFill>
              </a:rPr>
              <a:t>đoán</a:t>
            </a:r>
            <a:r>
              <a:rPr lang="en-US" dirty="0">
                <a:solidFill>
                  <a:srgbClr val="424242"/>
                </a:solidFill>
              </a:rPr>
              <a:t> </a:t>
            </a:r>
            <a:r>
              <a:rPr lang="en-US" dirty="0" err="1">
                <a:solidFill>
                  <a:srgbClr val="424242"/>
                </a:solidFill>
              </a:rPr>
              <a:t>giá</a:t>
            </a:r>
            <a:r>
              <a:rPr lang="en-US" dirty="0">
                <a:solidFill>
                  <a:srgbClr val="424242"/>
                </a:solidFill>
              </a:rPr>
              <a:t> </a:t>
            </a:r>
            <a:r>
              <a:rPr lang="en-US" dirty="0" err="1">
                <a:solidFill>
                  <a:srgbClr val="424242"/>
                </a:solidFill>
              </a:rPr>
              <a:t>nhà</a:t>
            </a:r>
            <a:r>
              <a:rPr lang="en-US" dirty="0">
                <a:solidFill>
                  <a:srgbClr val="424242"/>
                </a:solidFill>
              </a:rPr>
              <a:t> </a:t>
            </a:r>
            <a:r>
              <a:rPr lang="en-US" dirty="0" err="1">
                <a:solidFill>
                  <a:srgbClr val="424242"/>
                </a:solidFill>
              </a:rPr>
              <a:t>và</a:t>
            </a:r>
            <a:r>
              <a:rPr lang="en-US" dirty="0">
                <a:solidFill>
                  <a:srgbClr val="424242"/>
                </a:solidFill>
              </a:rPr>
              <a:t> </a:t>
            </a:r>
            <a:r>
              <a:rPr lang="en-US" dirty="0" err="1">
                <a:solidFill>
                  <a:srgbClr val="424242"/>
                </a:solidFill>
              </a:rPr>
              <a:t>hỗ</a:t>
            </a:r>
            <a:r>
              <a:rPr lang="en-US" dirty="0">
                <a:solidFill>
                  <a:srgbClr val="424242"/>
                </a:solidFill>
              </a:rPr>
              <a:t> </a:t>
            </a:r>
            <a:r>
              <a:rPr lang="en-US" dirty="0" err="1">
                <a:solidFill>
                  <a:srgbClr val="424242"/>
                </a:solidFill>
              </a:rPr>
              <a:t>trợ</a:t>
            </a:r>
            <a:r>
              <a:rPr lang="en-US" dirty="0">
                <a:solidFill>
                  <a:srgbClr val="424242"/>
                </a:solidFill>
              </a:rPr>
              <a:t> </a:t>
            </a:r>
            <a:r>
              <a:rPr lang="en-US" dirty="0" err="1">
                <a:solidFill>
                  <a:srgbClr val="424242"/>
                </a:solidFill>
              </a:rPr>
              <a:t>ra</a:t>
            </a:r>
            <a:r>
              <a:rPr lang="en-US" dirty="0">
                <a:solidFill>
                  <a:srgbClr val="424242"/>
                </a:solidFill>
              </a:rPr>
              <a:t> </a:t>
            </a:r>
            <a:r>
              <a:rPr lang="en-US" dirty="0" err="1">
                <a:solidFill>
                  <a:srgbClr val="424242"/>
                </a:solidFill>
              </a:rPr>
              <a:t>quyết</a:t>
            </a:r>
            <a:r>
              <a:rPr lang="en-US" dirty="0">
                <a:solidFill>
                  <a:srgbClr val="424242"/>
                </a:solidFill>
              </a:rPr>
              <a:t> </a:t>
            </a:r>
            <a:r>
              <a:rPr lang="en-US" dirty="0" err="1">
                <a:solidFill>
                  <a:srgbClr val="424242"/>
                </a:solidFill>
              </a:rPr>
              <a:t>định</a:t>
            </a:r>
            <a:r>
              <a:rPr lang="en-US" dirty="0">
                <a:solidFill>
                  <a:srgbClr val="424242"/>
                </a:solidFill>
              </a:rPr>
              <a:t>.</a:t>
            </a:r>
          </a:p>
          <a:p>
            <a:endParaRPr lang="en-US" dirty="0">
              <a:solidFill>
                <a:srgbClr val="424242"/>
              </a:solidFill>
            </a:endParaRPr>
          </a:p>
        </p:txBody>
      </p:sp>
      <p:pic>
        <p:nvPicPr>
          <p:cNvPr id="1026" name="Picture 2" descr="Các chuyên gia quốc tế kỳ cựu dự đoán như thế nào về giá vàng năm 2025?">
            <a:extLst>
              <a:ext uri="{FF2B5EF4-FFF2-40B4-BE49-F238E27FC236}">
                <a16:creationId xmlns:a16="http://schemas.microsoft.com/office/drawing/2014/main" id="{D2D27224-A61F-D6CF-3A3A-B574F351E1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22180" y="2945051"/>
            <a:ext cx="4203135" cy="33414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34036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80109-FB5A-9069-81EC-826396FCB8B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7B75D0A-4733-6104-5D87-122814949FA0}"/>
              </a:ext>
            </a:extLst>
          </p:cNvPr>
          <p:cNvSpPr>
            <a:spLocks noGrp="1"/>
          </p:cNvSpPr>
          <p:nvPr>
            <p:ph type="title"/>
          </p:nvPr>
        </p:nvSpPr>
        <p:spPr>
          <a:xfrm>
            <a:off x="578400" y="228601"/>
            <a:ext cx="10962800" cy="688622"/>
          </a:xfrm>
        </p:spPr>
        <p:txBody>
          <a:bodyPr/>
          <a:lstStyle/>
          <a:p>
            <a:r>
              <a:rPr lang="en" sz="4800" b="1" dirty="0"/>
              <a:t>Giới thiệu</a:t>
            </a:r>
            <a:endParaRPr lang="en-US" sz="4800" dirty="0"/>
          </a:p>
        </p:txBody>
      </p:sp>
      <p:sp>
        <p:nvSpPr>
          <p:cNvPr id="7" name="TextBox 6">
            <a:extLst>
              <a:ext uri="{FF2B5EF4-FFF2-40B4-BE49-F238E27FC236}">
                <a16:creationId xmlns:a16="http://schemas.microsoft.com/office/drawing/2014/main" id="{5595DE2B-7227-B24F-81EA-BEC1A8A9DDA1}"/>
              </a:ext>
            </a:extLst>
          </p:cNvPr>
          <p:cNvSpPr txBox="1"/>
          <p:nvPr/>
        </p:nvSpPr>
        <p:spPr>
          <a:xfrm>
            <a:off x="170180" y="1069340"/>
            <a:ext cx="9855200" cy="369332"/>
          </a:xfrm>
          <a:prstGeom prst="rect">
            <a:avLst/>
          </a:prstGeom>
          <a:noFill/>
        </p:spPr>
        <p:txBody>
          <a:bodyPr wrap="square" rtlCol="0">
            <a:spAutoFit/>
          </a:bodyPr>
          <a:lstStyle/>
          <a:p>
            <a:r>
              <a:rPr lang="en-US" b="1" dirty="0" err="1">
                <a:solidFill>
                  <a:srgbClr val="FF0000"/>
                </a:solidFill>
              </a:rPr>
              <a:t>Những</a:t>
            </a:r>
            <a:r>
              <a:rPr lang="en-US" b="1" dirty="0">
                <a:solidFill>
                  <a:srgbClr val="FF0000"/>
                </a:solidFill>
              </a:rPr>
              <a:t> </a:t>
            </a:r>
            <a:r>
              <a:rPr lang="en-US" b="1" dirty="0" err="1">
                <a:solidFill>
                  <a:srgbClr val="FF0000"/>
                </a:solidFill>
              </a:rPr>
              <a:t>câu</a:t>
            </a:r>
            <a:r>
              <a:rPr lang="en-US" b="1" dirty="0">
                <a:solidFill>
                  <a:srgbClr val="FF0000"/>
                </a:solidFill>
              </a:rPr>
              <a:t> </a:t>
            </a:r>
            <a:r>
              <a:rPr lang="en-US" b="1" dirty="0" err="1">
                <a:solidFill>
                  <a:srgbClr val="FF0000"/>
                </a:solidFill>
              </a:rPr>
              <a:t>hỏi</a:t>
            </a:r>
            <a:r>
              <a:rPr lang="en-US" b="1" dirty="0">
                <a:solidFill>
                  <a:srgbClr val="FF0000"/>
                </a:solidFill>
              </a:rPr>
              <a:t> </a:t>
            </a:r>
            <a:r>
              <a:rPr lang="en-US" b="1" dirty="0" err="1">
                <a:solidFill>
                  <a:srgbClr val="FF0000"/>
                </a:solidFill>
              </a:rPr>
              <a:t>nghiên</a:t>
            </a:r>
            <a:r>
              <a:rPr lang="en-US" b="1" dirty="0">
                <a:solidFill>
                  <a:srgbClr val="FF0000"/>
                </a:solidFill>
              </a:rPr>
              <a:t> </a:t>
            </a:r>
            <a:r>
              <a:rPr lang="en-US" b="1" dirty="0" err="1">
                <a:solidFill>
                  <a:srgbClr val="FF0000"/>
                </a:solidFill>
              </a:rPr>
              <a:t>cứu</a:t>
            </a:r>
            <a:r>
              <a:rPr lang="en-US" b="1" dirty="0">
                <a:solidFill>
                  <a:srgbClr val="FF0000"/>
                </a:solidFill>
              </a:rPr>
              <a:t> </a:t>
            </a:r>
            <a:r>
              <a:rPr lang="en-US" b="1" dirty="0" err="1">
                <a:solidFill>
                  <a:srgbClr val="FF0000"/>
                </a:solidFill>
              </a:rPr>
              <a:t>đặt</a:t>
            </a:r>
            <a:r>
              <a:rPr lang="en-US" b="1" dirty="0">
                <a:solidFill>
                  <a:srgbClr val="FF0000"/>
                </a:solidFill>
              </a:rPr>
              <a:t> </a:t>
            </a:r>
            <a:r>
              <a:rPr lang="en-US" b="1" dirty="0" err="1">
                <a:solidFill>
                  <a:srgbClr val="FF0000"/>
                </a:solidFill>
              </a:rPr>
              <a:t>ra</a:t>
            </a:r>
            <a:endParaRPr lang="en-US" dirty="0">
              <a:solidFill>
                <a:schemeClr val="bg2"/>
              </a:solidFill>
            </a:endParaRPr>
          </a:p>
        </p:txBody>
      </p:sp>
      <p:sp>
        <p:nvSpPr>
          <p:cNvPr id="10" name="TextBox 9">
            <a:extLst>
              <a:ext uri="{FF2B5EF4-FFF2-40B4-BE49-F238E27FC236}">
                <a16:creationId xmlns:a16="http://schemas.microsoft.com/office/drawing/2014/main" id="{998260BC-6D09-7723-B780-8757945EEA0B}"/>
              </a:ext>
            </a:extLst>
          </p:cNvPr>
          <p:cNvSpPr txBox="1"/>
          <p:nvPr/>
        </p:nvSpPr>
        <p:spPr>
          <a:xfrm>
            <a:off x="367030" y="1369846"/>
            <a:ext cx="9461500" cy="5632311"/>
          </a:xfrm>
          <a:prstGeom prst="rect">
            <a:avLst/>
          </a:prstGeom>
          <a:noFill/>
        </p:spPr>
        <p:txBody>
          <a:bodyPr wrap="square" rtlCol="0">
            <a:spAutoFit/>
          </a:bodyPr>
          <a:lstStyle/>
          <a:p>
            <a:r>
              <a:rPr lang="vi-VN" dirty="0">
                <a:solidFill>
                  <a:schemeClr val="bg2"/>
                </a:solidFill>
              </a:rPr>
              <a:t>Câu 1: Phân tích theo vị trí Giá nhà ở các thành phố Việt Nam hiện nay phân bố như thế nào giữa các khu vực, và sự khác biệt này phản ánh điều gì về mức độ đô thị hóa, nhu cầu nhà ở và chênh lệch phát triển giữa các thành phố?</a:t>
            </a:r>
          </a:p>
          <a:p>
            <a:r>
              <a:rPr lang="vi-VN" dirty="0">
                <a:solidFill>
                  <a:schemeClr val="bg2"/>
                </a:solidFill>
              </a:rPr>
              <a:t>Câu 2: Phân tích theo đặc điểm vật lý Giá nhà thay đổi như thế nào theo các đặc điểm vật lý của bất động sản (diện tích, mặt tiền, số tầng, số phòng ngủ, số phòng tắm), và các đặc điểm nào phản ánh rõ nhất sự khác biệt giữa các phân khúc nhà ở (nhỏ – trung bình – lớn)?</a:t>
            </a:r>
          </a:p>
          <a:p>
            <a:r>
              <a:rPr lang="vi-VN" dirty="0">
                <a:solidFill>
                  <a:schemeClr val="bg2"/>
                </a:solidFill>
              </a:rPr>
              <a:t>Câu 3: Tình trạng pháp lý (Legal status) và mức độ hoàn thiện nội thất (Furniture) ảnh hưởng như thế nào đến giá nhà, và mức độ ảnh hưởng này có khác nhau giữa các khu vực và phân khúc nhà ở hay không?</a:t>
            </a:r>
          </a:p>
          <a:p>
            <a:r>
              <a:rPr lang="vi-VN" dirty="0">
                <a:solidFill>
                  <a:schemeClr val="bg2"/>
                </a:solidFill>
              </a:rPr>
              <a:t>Câu 4: Thị trường nhà ở có thể được phân chia thành những nhóm (phân khúc) nào dựa trên các đặc điểm vật lý của bất động sản, và mỗi nhóm có đặc điểm giá như thế nào?</a:t>
            </a:r>
          </a:p>
          <a:p>
            <a:r>
              <a:rPr lang="vi-VN" dirty="0">
                <a:solidFill>
                  <a:schemeClr val="bg2"/>
                </a:solidFill>
              </a:rPr>
              <a:t>Câu 5: Mô hình học máy dự đoán giá nhà dựa trên các đặc điểm của bất động sản và vị trí hoạt động hiệu quả đến mức nào (so sánh và tối ưu hiệu suất mô hình), và những yếu tố nào đóng vai trò quan trọng nhất trong việc quyết định giá nhà (feature importance)?</a:t>
            </a:r>
          </a:p>
          <a:p>
            <a:r>
              <a:rPr lang="vi-VN" dirty="0">
                <a:solidFill>
                  <a:schemeClr val="bg2"/>
                </a:solidFill>
              </a:rPr>
              <a:t>Câu 6: Từ kết quả phân tích, mô hình dự đoán và phân cụm, có thể rút ra những hàm ý gì cho người mua, nhà đầu tư và nhà quản lý trong việc định giá, đầu tư và phát triển thị trường nhà ở theo hướng minh bạch và bền vững?</a:t>
            </a:r>
          </a:p>
          <a:p>
            <a:br>
              <a:rPr lang="vi-VN" dirty="0"/>
            </a:br>
            <a:endParaRPr lang="en-US" dirty="0">
              <a:solidFill>
                <a:schemeClr val="bg2"/>
              </a:solidFill>
            </a:endParaRPr>
          </a:p>
        </p:txBody>
      </p:sp>
      <p:pic>
        <p:nvPicPr>
          <p:cNvPr id="6" name="Picture 5" descr="A cartoon of a child with question marks&#10;&#10;AI-generated content may be incorrect.">
            <a:extLst>
              <a:ext uri="{FF2B5EF4-FFF2-40B4-BE49-F238E27FC236}">
                <a16:creationId xmlns:a16="http://schemas.microsoft.com/office/drawing/2014/main" id="{9667317B-14F0-BADD-C503-709356951418}"/>
              </a:ext>
            </a:extLst>
          </p:cNvPr>
          <p:cNvPicPr>
            <a:picLocks noChangeAspect="1"/>
          </p:cNvPicPr>
          <p:nvPr/>
        </p:nvPicPr>
        <p:blipFill>
          <a:blip r:embed="rId2"/>
          <a:stretch>
            <a:fillRect/>
          </a:stretch>
        </p:blipFill>
        <p:spPr>
          <a:xfrm>
            <a:off x="9828530" y="2763519"/>
            <a:ext cx="2151601" cy="2139875"/>
          </a:xfrm>
          <a:prstGeom prst="rect">
            <a:avLst/>
          </a:prstGeom>
        </p:spPr>
      </p:pic>
    </p:spTree>
    <p:extLst>
      <p:ext uri="{BB962C8B-B14F-4D97-AF65-F5344CB8AC3E}">
        <p14:creationId xmlns:p14="http://schemas.microsoft.com/office/powerpoint/2010/main" val="23615913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 sz="4800" b="1" dirty="0"/>
              <a:t>Giới thiệu</a:t>
            </a:r>
            <a:endParaRPr lang="en-US" sz="4800" dirty="0"/>
          </a:p>
        </p:txBody>
      </p:sp>
      <p:sp>
        <p:nvSpPr>
          <p:cNvPr id="4" name="TextBox 3"/>
          <p:cNvSpPr txBox="1"/>
          <p:nvPr/>
        </p:nvSpPr>
        <p:spPr>
          <a:xfrm>
            <a:off x="734786" y="1039761"/>
            <a:ext cx="9855200" cy="400110"/>
          </a:xfrm>
          <a:prstGeom prst="rect">
            <a:avLst/>
          </a:prstGeom>
          <a:noFill/>
        </p:spPr>
        <p:txBody>
          <a:bodyPr wrap="square" rtlCol="0">
            <a:spAutoFit/>
          </a:bodyPr>
          <a:lstStyle/>
          <a:p>
            <a:r>
              <a:rPr lang="en-US" sz="2000" b="1" dirty="0" err="1">
                <a:solidFill>
                  <a:srgbClr val="FF0000"/>
                </a:solidFill>
              </a:rPr>
              <a:t>Về</a:t>
            </a:r>
            <a:r>
              <a:rPr lang="en-US" sz="2000" b="1" dirty="0">
                <a:solidFill>
                  <a:srgbClr val="FF0000"/>
                </a:solidFill>
              </a:rPr>
              <a:t> </a:t>
            </a:r>
            <a:r>
              <a:rPr lang="en-US" sz="2000" b="1" dirty="0" err="1">
                <a:solidFill>
                  <a:srgbClr val="FF0000"/>
                </a:solidFill>
              </a:rPr>
              <a:t>dữ</a:t>
            </a:r>
            <a:r>
              <a:rPr lang="en-US" sz="2000" b="1" dirty="0">
                <a:solidFill>
                  <a:srgbClr val="FF0000"/>
                </a:solidFill>
              </a:rPr>
              <a:t> </a:t>
            </a:r>
            <a:r>
              <a:rPr lang="en-US" sz="2000" b="1" dirty="0" err="1">
                <a:solidFill>
                  <a:srgbClr val="FF0000"/>
                </a:solidFill>
              </a:rPr>
              <a:t>liệu</a:t>
            </a:r>
            <a:endParaRPr lang="en-US" sz="2000" b="1" dirty="0">
              <a:solidFill>
                <a:srgbClr val="FF0000"/>
              </a:solidFill>
            </a:endParaRPr>
          </a:p>
        </p:txBody>
      </p:sp>
      <p:sp>
        <p:nvSpPr>
          <p:cNvPr id="5" name="TextBox 4"/>
          <p:cNvSpPr txBox="1"/>
          <p:nvPr/>
        </p:nvSpPr>
        <p:spPr>
          <a:xfrm>
            <a:off x="1128486" y="1494973"/>
            <a:ext cx="9461500" cy="2031325"/>
          </a:xfrm>
          <a:prstGeom prst="rect">
            <a:avLst/>
          </a:prstGeom>
          <a:noFill/>
        </p:spPr>
        <p:txBody>
          <a:bodyPr wrap="square" rtlCol="0">
            <a:spAutoFit/>
          </a:bodyPr>
          <a:lstStyle/>
          <a:p>
            <a:r>
              <a:rPr lang="en-US" dirty="0">
                <a:solidFill>
                  <a:schemeClr val="bg2"/>
                </a:solidFill>
              </a:rPr>
              <a:t>+ </a:t>
            </a:r>
            <a:r>
              <a:rPr lang="en-US" b="1" dirty="0">
                <a:solidFill>
                  <a:schemeClr val="bg2"/>
                </a:solidFill>
              </a:rPr>
              <a:t>Input: </a:t>
            </a:r>
            <a:r>
              <a:rPr lang="en-US" dirty="0">
                <a:solidFill>
                  <a:srgbClr val="6C6C6C"/>
                </a:solidFill>
              </a:rPr>
              <a:t>30.229 </a:t>
            </a:r>
            <a:r>
              <a:rPr lang="en-US" dirty="0" err="1">
                <a:solidFill>
                  <a:srgbClr val="6C6C6C"/>
                </a:solidFill>
              </a:rPr>
              <a:t>mẫu</a:t>
            </a:r>
            <a:r>
              <a:rPr lang="en-US" dirty="0">
                <a:solidFill>
                  <a:srgbClr val="6C6C6C"/>
                </a:solidFill>
              </a:rPr>
              <a:t> </a:t>
            </a:r>
            <a:r>
              <a:rPr lang="en-US" dirty="0" err="1">
                <a:solidFill>
                  <a:srgbClr val="6C6C6C"/>
                </a:solidFill>
              </a:rPr>
              <a:t>thông</a:t>
            </a:r>
            <a:r>
              <a:rPr lang="en-US" dirty="0">
                <a:solidFill>
                  <a:srgbClr val="6C6C6C"/>
                </a:solidFill>
              </a:rPr>
              <a:t> tin </a:t>
            </a:r>
            <a:r>
              <a:rPr lang="en-US" dirty="0" err="1">
                <a:solidFill>
                  <a:srgbClr val="6C6C6C"/>
                </a:solidFill>
              </a:rPr>
              <a:t>bất</a:t>
            </a:r>
            <a:r>
              <a:rPr lang="en-US" dirty="0">
                <a:solidFill>
                  <a:srgbClr val="6C6C6C"/>
                </a:solidFill>
              </a:rPr>
              <a:t> </a:t>
            </a:r>
            <a:r>
              <a:rPr lang="en-US" dirty="0" err="1">
                <a:solidFill>
                  <a:srgbClr val="6C6C6C"/>
                </a:solidFill>
              </a:rPr>
              <a:t>động</a:t>
            </a:r>
            <a:r>
              <a:rPr lang="en-US" dirty="0">
                <a:solidFill>
                  <a:srgbClr val="6C6C6C"/>
                </a:solidFill>
              </a:rPr>
              <a:t> </a:t>
            </a:r>
            <a:r>
              <a:rPr lang="en-US" dirty="0" err="1">
                <a:solidFill>
                  <a:srgbClr val="6C6C6C"/>
                </a:solidFill>
              </a:rPr>
              <a:t>sản</a:t>
            </a:r>
            <a:r>
              <a:rPr lang="en-US" dirty="0">
                <a:solidFill>
                  <a:srgbClr val="6C6C6C"/>
                </a:solidFill>
              </a:rPr>
              <a:t>, 10.265 </a:t>
            </a:r>
            <a:r>
              <a:rPr lang="en-US" dirty="0" err="1">
                <a:solidFill>
                  <a:srgbClr val="6C6C6C"/>
                </a:solidFill>
              </a:rPr>
              <a:t>địa</a:t>
            </a:r>
            <a:r>
              <a:rPr lang="en-US" dirty="0">
                <a:solidFill>
                  <a:srgbClr val="6C6C6C"/>
                </a:solidFill>
              </a:rPr>
              <a:t> </a:t>
            </a:r>
            <a:r>
              <a:rPr lang="en-US" dirty="0" err="1">
                <a:solidFill>
                  <a:srgbClr val="6C6C6C"/>
                </a:solidFill>
              </a:rPr>
              <a:t>chỉ</a:t>
            </a:r>
            <a:r>
              <a:rPr lang="en-US" dirty="0">
                <a:solidFill>
                  <a:srgbClr val="6C6C6C"/>
                </a:solidFill>
              </a:rPr>
              <a:t> </a:t>
            </a:r>
            <a:r>
              <a:rPr lang="en-US" dirty="0" err="1">
                <a:solidFill>
                  <a:srgbClr val="6C6C6C"/>
                </a:solidFill>
              </a:rPr>
              <a:t>duy</a:t>
            </a:r>
            <a:r>
              <a:rPr lang="en-US" dirty="0">
                <a:solidFill>
                  <a:srgbClr val="6C6C6C"/>
                </a:solidFill>
              </a:rPr>
              <a:t> </a:t>
            </a:r>
            <a:r>
              <a:rPr lang="en-US" dirty="0" err="1">
                <a:solidFill>
                  <a:srgbClr val="6C6C6C"/>
                </a:solidFill>
              </a:rPr>
              <a:t>nhất</a:t>
            </a:r>
            <a:r>
              <a:rPr lang="en-US" dirty="0">
                <a:solidFill>
                  <a:srgbClr val="6C6C6C"/>
                </a:solidFill>
              </a:rPr>
              <a:t> (https://www.kaggle.com/datasets/nguyentiennhan/vietnam-housing-dataset-2024)</a:t>
            </a:r>
          </a:p>
          <a:p>
            <a:pPr marL="285750" indent="-285750">
              <a:buFont typeface="Arial" panose="020B0604020202020204" pitchFamily="34" charset="0"/>
              <a:buChar char="•"/>
            </a:pPr>
            <a:r>
              <a:rPr lang="en-US" dirty="0" err="1">
                <a:solidFill>
                  <a:srgbClr val="424242"/>
                </a:solidFill>
              </a:rPr>
              <a:t>Biến</a:t>
            </a:r>
            <a:r>
              <a:rPr lang="en-US" dirty="0">
                <a:solidFill>
                  <a:srgbClr val="424242"/>
                </a:solidFill>
              </a:rPr>
              <a:t> </a:t>
            </a:r>
            <a:r>
              <a:rPr lang="en-US" dirty="0" err="1">
                <a:solidFill>
                  <a:srgbClr val="424242"/>
                </a:solidFill>
              </a:rPr>
              <a:t>số</a:t>
            </a:r>
            <a:r>
              <a:rPr lang="en-US" dirty="0">
                <a:solidFill>
                  <a:srgbClr val="424242"/>
                </a:solidFill>
              </a:rPr>
              <a:t> </a:t>
            </a:r>
            <a:r>
              <a:rPr lang="en-US" dirty="0" err="1">
                <a:solidFill>
                  <a:srgbClr val="424242"/>
                </a:solidFill>
              </a:rPr>
              <a:t>liệu</a:t>
            </a:r>
            <a:r>
              <a:rPr lang="en-US" dirty="0">
                <a:solidFill>
                  <a:srgbClr val="424242"/>
                </a:solidFill>
              </a:rPr>
              <a:t> </a:t>
            </a:r>
            <a:r>
              <a:rPr lang="en-US" dirty="0" err="1">
                <a:solidFill>
                  <a:srgbClr val="424242"/>
                </a:solidFill>
              </a:rPr>
              <a:t>liên</a:t>
            </a:r>
            <a:r>
              <a:rPr lang="en-US" dirty="0">
                <a:solidFill>
                  <a:srgbClr val="424242"/>
                </a:solidFill>
              </a:rPr>
              <a:t> </a:t>
            </a:r>
            <a:r>
              <a:rPr lang="en-US" dirty="0" err="1">
                <a:solidFill>
                  <a:srgbClr val="424242"/>
                </a:solidFill>
              </a:rPr>
              <a:t>tục</a:t>
            </a:r>
            <a:r>
              <a:rPr lang="en-US" dirty="0">
                <a:solidFill>
                  <a:srgbClr val="424242"/>
                </a:solidFill>
              </a:rPr>
              <a:t> (Numerical): Area (m²), Frontage (m), Access Road (m), Floors, Bedrooms, Bathrooms</a:t>
            </a:r>
          </a:p>
          <a:p>
            <a:pPr marL="285750" indent="-285750">
              <a:buFont typeface="Arial" panose="020B0604020202020204" pitchFamily="34" charset="0"/>
              <a:buChar char="•"/>
            </a:pPr>
            <a:r>
              <a:rPr lang="en-US" dirty="0" err="1">
                <a:solidFill>
                  <a:srgbClr val="424242"/>
                </a:solidFill>
              </a:rPr>
              <a:t>Biến</a:t>
            </a:r>
            <a:r>
              <a:rPr lang="en-US" dirty="0">
                <a:solidFill>
                  <a:srgbClr val="424242"/>
                </a:solidFill>
              </a:rPr>
              <a:t> </a:t>
            </a:r>
            <a:r>
              <a:rPr lang="en-US" dirty="0" err="1">
                <a:solidFill>
                  <a:srgbClr val="424242"/>
                </a:solidFill>
              </a:rPr>
              <a:t>danh</a:t>
            </a:r>
            <a:r>
              <a:rPr lang="en-US" dirty="0">
                <a:solidFill>
                  <a:srgbClr val="424242"/>
                </a:solidFill>
              </a:rPr>
              <a:t> </a:t>
            </a:r>
            <a:r>
              <a:rPr lang="en-US" dirty="0" err="1">
                <a:solidFill>
                  <a:srgbClr val="424242"/>
                </a:solidFill>
              </a:rPr>
              <a:t>mục</a:t>
            </a:r>
            <a:r>
              <a:rPr lang="en-US" dirty="0">
                <a:solidFill>
                  <a:srgbClr val="424242"/>
                </a:solidFill>
              </a:rPr>
              <a:t> (Categorical): Address, Legal Status, Furniture State, House Direction / Balcony Direction</a:t>
            </a:r>
          </a:p>
          <a:p>
            <a:r>
              <a:rPr lang="en-US" dirty="0">
                <a:solidFill>
                  <a:srgbClr val="424242"/>
                </a:solidFill>
              </a:rPr>
              <a:t>+ </a:t>
            </a:r>
            <a:r>
              <a:rPr lang="en-US" b="1" dirty="0">
                <a:solidFill>
                  <a:srgbClr val="424242"/>
                </a:solidFill>
              </a:rPr>
              <a:t>Output: </a:t>
            </a:r>
            <a:r>
              <a:rPr lang="en-US" dirty="0">
                <a:solidFill>
                  <a:srgbClr val="424242"/>
                </a:solidFill>
              </a:rPr>
              <a:t>Price (</a:t>
            </a:r>
            <a:r>
              <a:rPr lang="en-US" dirty="0" err="1">
                <a:solidFill>
                  <a:srgbClr val="424242"/>
                </a:solidFill>
              </a:rPr>
              <a:t>tỷ</a:t>
            </a:r>
            <a:r>
              <a:rPr lang="en-US" dirty="0">
                <a:solidFill>
                  <a:srgbClr val="424242"/>
                </a:solidFill>
              </a:rPr>
              <a:t> VND)</a:t>
            </a:r>
            <a:endParaRPr lang="en-US" b="1" dirty="0">
              <a:solidFill>
                <a:srgbClr val="424242"/>
              </a:solidFill>
            </a:endParaRPr>
          </a:p>
        </p:txBody>
      </p:sp>
      <p:sp>
        <p:nvSpPr>
          <p:cNvPr id="3" name="AutoShape 2" descr="Kết quả hình ảnh cho Hedonic Pricing Model">
            <a:extLst>
              <a:ext uri="{FF2B5EF4-FFF2-40B4-BE49-F238E27FC236}">
                <a16:creationId xmlns:a16="http://schemas.microsoft.com/office/drawing/2014/main" id="{523DBC46-56D4-24AB-C1A4-10C942282BFE}"/>
              </a:ext>
            </a:extLst>
          </p:cNvPr>
          <p:cNvSpPr>
            <a:spLocks noChangeAspect="1" noChangeArrowheads="1"/>
          </p:cNvSpPr>
          <p:nvPr/>
        </p:nvSpPr>
        <p:spPr bwMode="auto">
          <a:xfrm>
            <a:off x="5943599" y="1039761"/>
            <a:ext cx="2541639" cy="254163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4" descr="Hedonic Pricing Model (Definition, Formula) | Top 2 Examples with ...">
            <a:extLst>
              <a:ext uri="{FF2B5EF4-FFF2-40B4-BE49-F238E27FC236}">
                <a16:creationId xmlns:a16="http://schemas.microsoft.com/office/drawing/2014/main" id="{A620163E-5A5A-3F09-E955-CECD9773D6B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3" name="Picture 12" descr="A diagram of a price&#10;&#10;AI-generated content may be incorrect.">
            <a:extLst>
              <a:ext uri="{FF2B5EF4-FFF2-40B4-BE49-F238E27FC236}">
                <a16:creationId xmlns:a16="http://schemas.microsoft.com/office/drawing/2014/main" id="{8B114460-39C3-8EEB-214C-E36BDF09EA85}"/>
              </a:ext>
            </a:extLst>
          </p:cNvPr>
          <p:cNvPicPr>
            <a:picLocks noChangeAspect="1"/>
          </p:cNvPicPr>
          <p:nvPr/>
        </p:nvPicPr>
        <p:blipFill>
          <a:blip r:embed="rId2"/>
          <a:stretch>
            <a:fillRect/>
          </a:stretch>
        </p:blipFill>
        <p:spPr>
          <a:xfrm>
            <a:off x="955210" y="3465899"/>
            <a:ext cx="5293190" cy="2872765"/>
          </a:xfrm>
          <a:prstGeom prst="rect">
            <a:avLst/>
          </a:prstGeom>
        </p:spPr>
      </p:pic>
      <p:pic>
        <p:nvPicPr>
          <p:cNvPr id="2054" name="Picture 6" descr="PPT - UST 200 Introduction to Urban Studies PowerPoint Presentation ...">
            <a:extLst>
              <a:ext uri="{FF2B5EF4-FFF2-40B4-BE49-F238E27FC236}">
                <a16:creationId xmlns:a16="http://schemas.microsoft.com/office/drawing/2014/main" id="{6AC2824C-7A3A-3317-88F8-2DE8987ECF5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30064" y="3466008"/>
            <a:ext cx="3830208" cy="28726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86110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E3DBD-7FDF-DC47-0242-8048A8668151}"/>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D952B28B-9407-45FB-925F-88F2B13A322C}"/>
              </a:ext>
            </a:extLst>
          </p:cNvPr>
          <p:cNvSpPr>
            <a:spLocks noGrp="1"/>
          </p:cNvSpPr>
          <p:nvPr>
            <p:ph type="title"/>
          </p:nvPr>
        </p:nvSpPr>
        <p:spPr>
          <a:xfrm>
            <a:off x="629200" y="77167"/>
            <a:ext cx="10962800" cy="894000"/>
          </a:xfrm>
        </p:spPr>
        <p:txBody>
          <a:bodyPr/>
          <a:lstStyle/>
          <a:p>
            <a:r>
              <a:rPr lang="en" sz="4800" b="1" dirty="0"/>
              <a:t>Giới thiệu</a:t>
            </a:r>
            <a:endParaRPr lang="en-US" sz="4800" dirty="0"/>
          </a:p>
        </p:txBody>
      </p:sp>
      <p:sp>
        <p:nvSpPr>
          <p:cNvPr id="17" name="TextBox 16">
            <a:extLst>
              <a:ext uri="{FF2B5EF4-FFF2-40B4-BE49-F238E27FC236}">
                <a16:creationId xmlns:a16="http://schemas.microsoft.com/office/drawing/2014/main" id="{BBB69014-8196-E5E6-B2F0-3C7ECAB9077D}"/>
              </a:ext>
            </a:extLst>
          </p:cNvPr>
          <p:cNvSpPr txBox="1"/>
          <p:nvPr/>
        </p:nvSpPr>
        <p:spPr>
          <a:xfrm>
            <a:off x="9056866" y="5382139"/>
            <a:ext cx="755640" cy="307777"/>
          </a:xfrm>
          <a:prstGeom prst="rect">
            <a:avLst/>
          </a:prstGeom>
          <a:noFill/>
        </p:spPr>
        <p:txBody>
          <a:bodyPr wrap="square" rtlCol="0">
            <a:spAutoFit/>
          </a:bodyPr>
          <a:lstStyle/>
          <a:p>
            <a:r>
              <a:rPr lang="en-US" sz="1400" b="1" dirty="0">
                <a:solidFill>
                  <a:schemeClr val="bg1"/>
                </a:solidFill>
                <a:latin typeface="Roboto" panose="020B0604020202020204" charset="0"/>
                <a:ea typeface="Roboto" panose="020B0604020202020204" charset="0"/>
              </a:rPr>
              <a:t>Model</a:t>
            </a:r>
          </a:p>
        </p:txBody>
      </p:sp>
      <p:pic>
        <p:nvPicPr>
          <p:cNvPr id="1026" name="Picture 2">
            <a:extLst>
              <a:ext uri="{FF2B5EF4-FFF2-40B4-BE49-F238E27FC236}">
                <a16:creationId xmlns:a16="http://schemas.microsoft.com/office/drawing/2014/main" id="{4A2F3C6D-DE3D-3CF3-3F99-1D7B8540A7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23948" y="3377381"/>
            <a:ext cx="3668052" cy="275103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670128B-7A65-B59E-D4A7-EF7F783064AB}"/>
              </a:ext>
            </a:extLst>
          </p:cNvPr>
          <p:cNvSpPr txBox="1"/>
          <p:nvPr/>
        </p:nvSpPr>
        <p:spPr>
          <a:xfrm>
            <a:off x="324466" y="1014583"/>
            <a:ext cx="8809702" cy="5519460"/>
          </a:xfrm>
          <a:prstGeom prst="rect">
            <a:avLst/>
          </a:prstGeom>
          <a:noFill/>
        </p:spPr>
        <p:txBody>
          <a:bodyPr wrap="square">
            <a:spAutoFit/>
          </a:bodyPr>
          <a:lstStyle/>
          <a:p>
            <a:pPr algn="l">
              <a:spcBef>
                <a:spcPts val="1200"/>
              </a:spcBef>
              <a:spcAft>
                <a:spcPts val="1200"/>
              </a:spcAft>
              <a:buNone/>
            </a:pPr>
            <a:r>
              <a:rPr lang="en-US" b="1" dirty="0">
                <a:solidFill>
                  <a:srgbClr val="424242"/>
                </a:solidFill>
              </a:rPr>
              <a:t>A</a:t>
            </a:r>
            <a:r>
              <a:rPr lang="vi-VN" b="1" i="0" dirty="0">
                <a:solidFill>
                  <a:srgbClr val="424242"/>
                </a:solidFill>
                <a:effectLst/>
              </a:rPr>
              <a:t>. Mục đích</a:t>
            </a:r>
            <a:br>
              <a:rPr lang="vi-VN" b="0" i="0" dirty="0">
                <a:solidFill>
                  <a:srgbClr val="424242"/>
                </a:solidFill>
                <a:effectLst/>
              </a:rPr>
            </a:br>
            <a:r>
              <a:rPr lang="vi-VN" b="0" i="0" dirty="0">
                <a:solidFill>
                  <a:srgbClr val="424242"/>
                </a:solidFill>
                <a:effectLst/>
              </a:rPr>
              <a:t>Tự động nhóm các mẫu dữ liệu (căn nhà) có </a:t>
            </a:r>
            <a:r>
              <a:rPr lang="vi-VN" b="1" i="0" dirty="0">
                <a:solidFill>
                  <a:srgbClr val="424242"/>
                </a:solidFill>
                <a:effectLst/>
              </a:rPr>
              <a:t>đặc điểm tương tự</a:t>
            </a:r>
            <a:r>
              <a:rPr lang="vi-VN" b="0" i="0" dirty="0">
                <a:solidFill>
                  <a:srgbClr val="424242"/>
                </a:solidFill>
                <a:effectLst/>
              </a:rPr>
              <a:t> (ví dụ: diện tích, số phòng, giá...) vào cùng một </a:t>
            </a:r>
            <a:r>
              <a:rPr lang="vi-VN" b="1" i="0" dirty="0">
                <a:solidFill>
                  <a:srgbClr val="424242"/>
                </a:solidFill>
                <a:effectLst/>
              </a:rPr>
              <a:t>cụm</a:t>
            </a:r>
            <a:r>
              <a:rPr lang="vi-VN" b="0" i="0" dirty="0">
                <a:solidFill>
                  <a:srgbClr val="424242"/>
                </a:solidFill>
                <a:effectLst/>
              </a:rPr>
              <a:t> để phát hiện cấu trúc phân khúc tiềm ẩn.</a:t>
            </a:r>
          </a:p>
          <a:p>
            <a:pPr algn="l">
              <a:spcBef>
                <a:spcPts val="1200"/>
              </a:spcBef>
              <a:spcAft>
                <a:spcPts val="1200"/>
              </a:spcAft>
              <a:buNone/>
            </a:pPr>
            <a:r>
              <a:rPr lang="en-US" b="1" dirty="0">
                <a:solidFill>
                  <a:srgbClr val="424242"/>
                </a:solidFill>
              </a:rPr>
              <a:t>B</a:t>
            </a:r>
            <a:r>
              <a:rPr lang="vi-VN" b="1" i="0" dirty="0">
                <a:solidFill>
                  <a:srgbClr val="424242"/>
                </a:solidFill>
                <a:effectLst/>
              </a:rPr>
              <a:t>. Nguyên lý hoạt động</a:t>
            </a:r>
            <a:endParaRPr lang="vi-VN" b="0" i="0" dirty="0">
              <a:solidFill>
                <a:srgbClr val="424242"/>
              </a:solidFill>
              <a:effectLst/>
            </a:endParaRPr>
          </a:p>
          <a:p>
            <a:pPr algn="l">
              <a:spcBef>
                <a:spcPts val="1200"/>
              </a:spcBef>
              <a:spcAft>
                <a:spcPts val="1200"/>
              </a:spcAft>
              <a:buFont typeface="+mj-lt"/>
              <a:buAutoNum type="arabicPeriod"/>
            </a:pPr>
            <a:r>
              <a:rPr lang="vi-VN" b="1" i="0" dirty="0">
                <a:solidFill>
                  <a:srgbClr val="424242"/>
                </a:solidFill>
                <a:effectLst/>
              </a:rPr>
              <a:t>Chọn K tâm cụm</a:t>
            </a:r>
            <a:r>
              <a:rPr lang="vi-VN" b="0" i="0" dirty="0">
                <a:solidFill>
                  <a:srgbClr val="424242"/>
                </a:solidFill>
                <a:effectLst/>
              </a:rPr>
              <a:t> ban đầu.</a:t>
            </a:r>
          </a:p>
          <a:p>
            <a:pPr algn="l">
              <a:spcBef>
                <a:spcPts val="450"/>
              </a:spcBef>
              <a:spcAft>
                <a:spcPts val="1200"/>
              </a:spcAft>
              <a:buFont typeface="+mj-lt"/>
              <a:buAutoNum type="arabicPeriod"/>
            </a:pPr>
            <a:r>
              <a:rPr lang="vi-VN" b="1" i="0" dirty="0">
                <a:solidFill>
                  <a:srgbClr val="424242"/>
                </a:solidFill>
                <a:effectLst/>
              </a:rPr>
              <a:t>Gán từng điểm</a:t>
            </a:r>
            <a:r>
              <a:rPr lang="vi-VN" b="0" i="0" dirty="0">
                <a:solidFill>
                  <a:srgbClr val="424242"/>
                </a:solidFill>
                <a:effectLst/>
              </a:rPr>
              <a:t> vào cụm có tâm gần nhất.</a:t>
            </a:r>
          </a:p>
          <a:p>
            <a:pPr algn="l">
              <a:spcBef>
                <a:spcPts val="450"/>
              </a:spcBef>
              <a:spcAft>
                <a:spcPts val="1200"/>
              </a:spcAft>
              <a:buFont typeface="+mj-lt"/>
              <a:buAutoNum type="arabicPeriod"/>
            </a:pPr>
            <a:r>
              <a:rPr lang="vi-VN" b="1" i="0" dirty="0">
                <a:solidFill>
                  <a:srgbClr val="424242"/>
                </a:solidFill>
                <a:effectLst/>
              </a:rPr>
              <a:t>Cập nhật vị trí tâm cụm</a:t>
            </a:r>
            <a:r>
              <a:rPr lang="vi-VN" b="0" i="0" dirty="0">
                <a:solidFill>
                  <a:srgbClr val="424242"/>
                </a:solidFill>
                <a:effectLst/>
              </a:rPr>
              <a:t> mới (bằng trung bình các điểm trong cụm).</a:t>
            </a:r>
          </a:p>
          <a:p>
            <a:pPr algn="l">
              <a:spcBef>
                <a:spcPts val="450"/>
              </a:spcBef>
              <a:spcAft>
                <a:spcPts val="1200"/>
              </a:spcAft>
              <a:buFont typeface="+mj-lt"/>
              <a:buAutoNum type="arabicPeriod"/>
            </a:pPr>
            <a:r>
              <a:rPr lang="vi-VN" b="1" i="0" dirty="0">
                <a:solidFill>
                  <a:srgbClr val="424242"/>
                </a:solidFill>
                <a:effectLst/>
              </a:rPr>
              <a:t>Lặp lại</a:t>
            </a:r>
            <a:r>
              <a:rPr lang="vi-VN" b="0" i="0" dirty="0">
                <a:solidFill>
                  <a:srgbClr val="424242"/>
                </a:solidFill>
                <a:effectLst/>
              </a:rPr>
              <a:t> bước 2 &amp; 3 cho đến khi các cụm ổn định.</a:t>
            </a:r>
          </a:p>
          <a:p>
            <a:pPr algn="l">
              <a:spcBef>
                <a:spcPts val="1200"/>
              </a:spcBef>
              <a:spcAft>
                <a:spcPts val="1200"/>
              </a:spcAft>
              <a:buNone/>
            </a:pPr>
            <a:r>
              <a:rPr lang="en-US" b="1" dirty="0">
                <a:solidFill>
                  <a:srgbClr val="424242"/>
                </a:solidFill>
              </a:rPr>
              <a:t>C</a:t>
            </a:r>
            <a:r>
              <a:rPr lang="vi-VN" b="1" i="0" dirty="0">
                <a:solidFill>
                  <a:srgbClr val="424242"/>
                </a:solidFill>
                <a:effectLst/>
              </a:rPr>
              <a:t>. Ưu điểm cho bài toán</a:t>
            </a:r>
            <a:endParaRPr lang="vi-VN" b="0" i="0" dirty="0">
              <a:solidFill>
                <a:srgbClr val="424242"/>
              </a:solidFill>
              <a:effectLst/>
            </a:endParaRPr>
          </a:p>
          <a:p>
            <a:pPr algn="l">
              <a:spcBef>
                <a:spcPts val="1200"/>
              </a:spcBef>
              <a:spcAft>
                <a:spcPts val="1200"/>
              </a:spcAft>
              <a:buFont typeface="Arial" panose="020B0604020202020204" pitchFamily="34" charset="0"/>
              <a:buChar char="•"/>
            </a:pPr>
            <a:r>
              <a:rPr lang="vi-VN" b="1" i="0" dirty="0">
                <a:solidFill>
                  <a:srgbClr val="424242"/>
                </a:solidFill>
                <a:effectLst/>
              </a:rPr>
              <a:t>Trực quan:</a:t>
            </a:r>
            <a:r>
              <a:rPr lang="vi-VN" b="0" i="0" dirty="0">
                <a:solidFill>
                  <a:srgbClr val="424242"/>
                </a:solidFill>
                <a:effectLst/>
              </a:rPr>
              <a:t> Giúp hình dung cấu trúc thị trường.</a:t>
            </a:r>
          </a:p>
          <a:p>
            <a:pPr algn="l">
              <a:spcBef>
                <a:spcPts val="450"/>
              </a:spcBef>
              <a:spcAft>
                <a:spcPts val="1200"/>
              </a:spcAft>
              <a:buFont typeface="Arial" panose="020B0604020202020204" pitchFamily="34" charset="0"/>
              <a:buChar char="•"/>
            </a:pPr>
            <a:r>
              <a:rPr lang="vi-VN" b="1" i="0" dirty="0">
                <a:solidFill>
                  <a:srgbClr val="424242"/>
                </a:solidFill>
                <a:effectLst/>
              </a:rPr>
              <a:t>Định hướng chiến lược:</a:t>
            </a:r>
            <a:r>
              <a:rPr lang="vi-VN" b="0" i="0" dirty="0">
                <a:solidFill>
                  <a:srgbClr val="424242"/>
                </a:solidFill>
                <a:effectLst/>
              </a:rPr>
              <a:t> Hỗ trợ người mua, nhà đầu tư và quản lý đưa ra quyết định phù hợp với từng phân khúc.</a:t>
            </a:r>
          </a:p>
        </p:txBody>
      </p:sp>
    </p:spTree>
    <p:extLst>
      <p:ext uri="{BB962C8B-B14F-4D97-AF65-F5344CB8AC3E}">
        <p14:creationId xmlns:p14="http://schemas.microsoft.com/office/powerpoint/2010/main" val="35713715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B1A51-A078-60CA-6512-AA84B416C52E}"/>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55BEEA4A-77A4-C17E-8953-4596C51204B6}"/>
              </a:ext>
            </a:extLst>
          </p:cNvPr>
          <p:cNvSpPr>
            <a:spLocks noGrp="1"/>
          </p:cNvSpPr>
          <p:nvPr>
            <p:ph type="title"/>
          </p:nvPr>
        </p:nvSpPr>
        <p:spPr>
          <a:xfrm>
            <a:off x="629200" y="77167"/>
            <a:ext cx="10962800" cy="894000"/>
          </a:xfrm>
        </p:spPr>
        <p:txBody>
          <a:bodyPr/>
          <a:lstStyle/>
          <a:p>
            <a:r>
              <a:rPr lang="en" sz="4800" b="1" dirty="0"/>
              <a:t>Giới thiệu</a:t>
            </a:r>
            <a:endParaRPr lang="en-US" sz="4800" dirty="0"/>
          </a:p>
        </p:txBody>
      </p:sp>
      <p:sp>
        <p:nvSpPr>
          <p:cNvPr id="7" name="TextBox 6">
            <a:extLst>
              <a:ext uri="{FF2B5EF4-FFF2-40B4-BE49-F238E27FC236}">
                <a16:creationId xmlns:a16="http://schemas.microsoft.com/office/drawing/2014/main" id="{B98BCFE1-D1CD-7EA0-9A2C-41DAB44B6E46}"/>
              </a:ext>
            </a:extLst>
          </p:cNvPr>
          <p:cNvSpPr txBox="1"/>
          <p:nvPr/>
        </p:nvSpPr>
        <p:spPr>
          <a:xfrm>
            <a:off x="306263" y="1113784"/>
            <a:ext cx="7329543" cy="1200329"/>
          </a:xfrm>
          <a:prstGeom prst="rect">
            <a:avLst/>
          </a:prstGeom>
          <a:noFill/>
        </p:spPr>
        <p:txBody>
          <a:bodyPr wrap="square" rtlCol="0">
            <a:spAutoFit/>
          </a:bodyPr>
          <a:lstStyle/>
          <a:p>
            <a:r>
              <a:rPr lang="en-US" b="1" dirty="0">
                <a:solidFill>
                  <a:srgbClr val="6C6C6C"/>
                </a:solidFill>
              </a:rPr>
              <a:t>Random Forest (</a:t>
            </a:r>
            <a:r>
              <a:rPr lang="en-US" b="1" dirty="0" err="1">
                <a:solidFill>
                  <a:srgbClr val="6C6C6C"/>
                </a:solidFill>
              </a:rPr>
              <a:t>Rừng</a:t>
            </a:r>
            <a:r>
              <a:rPr lang="en-US" b="1" dirty="0">
                <a:solidFill>
                  <a:srgbClr val="6C6C6C"/>
                </a:solidFill>
              </a:rPr>
              <a:t> </a:t>
            </a:r>
            <a:r>
              <a:rPr lang="en-US" b="1" dirty="0" err="1">
                <a:solidFill>
                  <a:srgbClr val="6C6C6C"/>
                </a:solidFill>
              </a:rPr>
              <a:t>Ngẫu</a:t>
            </a:r>
            <a:r>
              <a:rPr lang="en-US" b="1" dirty="0">
                <a:solidFill>
                  <a:srgbClr val="6C6C6C"/>
                </a:solidFill>
              </a:rPr>
              <a:t> </a:t>
            </a:r>
            <a:r>
              <a:rPr lang="en-US" b="1" dirty="0" err="1">
                <a:solidFill>
                  <a:srgbClr val="6C6C6C"/>
                </a:solidFill>
              </a:rPr>
              <a:t>Nhiên</a:t>
            </a:r>
            <a:r>
              <a:rPr lang="en-US" b="1" dirty="0">
                <a:solidFill>
                  <a:srgbClr val="6C6C6C"/>
                </a:solidFill>
              </a:rPr>
              <a:t>)</a:t>
            </a:r>
            <a:r>
              <a:rPr lang="en-US" dirty="0">
                <a:solidFill>
                  <a:srgbClr val="6C6C6C"/>
                </a:solidFill>
              </a:rPr>
              <a:t> </a:t>
            </a:r>
            <a:r>
              <a:rPr lang="en-US" dirty="0" err="1">
                <a:solidFill>
                  <a:srgbClr val="6C6C6C"/>
                </a:solidFill>
              </a:rPr>
              <a:t>là</a:t>
            </a:r>
            <a:r>
              <a:rPr lang="en-US" dirty="0">
                <a:solidFill>
                  <a:srgbClr val="6C6C6C"/>
                </a:solidFill>
              </a:rPr>
              <a:t> </a:t>
            </a:r>
            <a:r>
              <a:rPr lang="en-US" dirty="0" err="1">
                <a:solidFill>
                  <a:srgbClr val="6C6C6C"/>
                </a:solidFill>
              </a:rPr>
              <a:t>một</a:t>
            </a:r>
            <a:r>
              <a:rPr lang="en-US" dirty="0">
                <a:solidFill>
                  <a:srgbClr val="6C6C6C"/>
                </a:solidFill>
              </a:rPr>
              <a:t> </a:t>
            </a:r>
            <a:r>
              <a:rPr lang="en-US" dirty="0" err="1">
                <a:solidFill>
                  <a:srgbClr val="6C6C6C"/>
                </a:solidFill>
              </a:rPr>
              <a:t>thuật</a:t>
            </a:r>
            <a:r>
              <a:rPr lang="en-US" dirty="0">
                <a:solidFill>
                  <a:srgbClr val="6C6C6C"/>
                </a:solidFill>
              </a:rPr>
              <a:t> </a:t>
            </a:r>
            <a:r>
              <a:rPr lang="en-US" dirty="0" err="1">
                <a:solidFill>
                  <a:srgbClr val="6C6C6C"/>
                </a:solidFill>
              </a:rPr>
              <a:t>toán</a:t>
            </a:r>
            <a:r>
              <a:rPr lang="en-US" dirty="0">
                <a:solidFill>
                  <a:srgbClr val="6C6C6C"/>
                </a:solidFill>
              </a:rPr>
              <a:t> </a:t>
            </a:r>
            <a:r>
              <a:rPr lang="en-US" b="1" dirty="0">
                <a:solidFill>
                  <a:srgbClr val="6C6C6C"/>
                </a:solidFill>
              </a:rPr>
              <a:t>Machine Learning </a:t>
            </a:r>
            <a:r>
              <a:rPr lang="en-US" b="1" dirty="0" err="1">
                <a:solidFill>
                  <a:srgbClr val="6C6C6C"/>
                </a:solidFill>
              </a:rPr>
              <a:t>mạnh</a:t>
            </a:r>
            <a:r>
              <a:rPr lang="en-US" b="1" dirty="0">
                <a:solidFill>
                  <a:srgbClr val="6C6C6C"/>
                </a:solidFill>
              </a:rPr>
              <a:t> </a:t>
            </a:r>
            <a:r>
              <a:rPr lang="en-US" b="1" dirty="0" err="1">
                <a:solidFill>
                  <a:srgbClr val="6C6C6C"/>
                </a:solidFill>
              </a:rPr>
              <a:t>mẽ</a:t>
            </a:r>
            <a:r>
              <a:rPr lang="en-US" b="1" dirty="0">
                <a:solidFill>
                  <a:srgbClr val="6C6C6C"/>
                </a:solidFill>
              </a:rPr>
              <a:t> </a:t>
            </a:r>
            <a:r>
              <a:rPr lang="en-US" b="1" dirty="0" err="1">
                <a:solidFill>
                  <a:srgbClr val="6C6C6C"/>
                </a:solidFill>
              </a:rPr>
              <a:t>thuộc</a:t>
            </a:r>
            <a:r>
              <a:rPr lang="en-US" b="1" dirty="0">
                <a:solidFill>
                  <a:srgbClr val="6C6C6C"/>
                </a:solidFill>
              </a:rPr>
              <a:t> </a:t>
            </a:r>
            <a:r>
              <a:rPr lang="en-US" b="1" dirty="0" err="1">
                <a:solidFill>
                  <a:srgbClr val="6C6C6C"/>
                </a:solidFill>
              </a:rPr>
              <a:t>nhóm</a:t>
            </a:r>
            <a:r>
              <a:rPr lang="en-US" b="1" dirty="0">
                <a:solidFill>
                  <a:srgbClr val="6C6C6C"/>
                </a:solidFill>
              </a:rPr>
              <a:t> Ensemble Learning</a:t>
            </a:r>
            <a:r>
              <a:rPr lang="en-US" dirty="0">
                <a:solidFill>
                  <a:srgbClr val="6C6C6C"/>
                </a:solidFill>
              </a:rPr>
              <a:t>, </a:t>
            </a:r>
            <a:r>
              <a:rPr lang="en-US" dirty="0" err="1">
                <a:solidFill>
                  <a:srgbClr val="6C6C6C"/>
                </a:solidFill>
              </a:rPr>
              <a:t>sử</a:t>
            </a:r>
            <a:r>
              <a:rPr lang="en-US" dirty="0">
                <a:solidFill>
                  <a:srgbClr val="6C6C6C"/>
                </a:solidFill>
              </a:rPr>
              <a:t> </a:t>
            </a:r>
            <a:r>
              <a:rPr lang="en-US" dirty="0" err="1">
                <a:solidFill>
                  <a:srgbClr val="6C6C6C"/>
                </a:solidFill>
              </a:rPr>
              <a:t>dụng</a:t>
            </a:r>
            <a:r>
              <a:rPr lang="en-US" dirty="0">
                <a:solidFill>
                  <a:srgbClr val="6C6C6C"/>
                </a:solidFill>
              </a:rPr>
              <a:t> </a:t>
            </a:r>
            <a:r>
              <a:rPr lang="en-US" dirty="0" err="1">
                <a:solidFill>
                  <a:srgbClr val="6C6C6C"/>
                </a:solidFill>
              </a:rPr>
              <a:t>nhiều</a:t>
            </a:r>
            <a:r>
              <a:rPr lang="en-US" dirty="0">
                <a:solidFill>
                  <a:srgbClr val="6C6C6C"/>
                </a:solidFill>
              </a:rPr>
              <a:t> </a:t>
            </a:r>
            <a:r>
              <a:rPr lang="en-US" dirty="0" err="1">
                <a:solidFill>
                  <a:srgbClr val="6C6C6C"/>
                </a:solidFill>
              </a:rPr>
              <a:t>cây</a:t>
            </a:r>
            <a:r>
              <a:rPr lang="en-US" dirty="0">
                <a:solidFill>
                  <a:srgbClr val="6C6C6C"/>
                </a:solidFill>
              </a:rPr>
              <a:t> </a:t>
            </a:r>
            <a:r>
              <a:rPr lang="en-US" dirty="0" err="1">
                <a:solidFill>
                  <a:srgbClr val="6C6C6C"/>
                </a:solidFill>
              </a:rPr>
              <a:t>quyết</a:t>
            </a:r>
            <a:r>
              <a:rPr lang="en-US" dirty="0">
                <a:solidFill>
                  <a:srgbClr val="6C6C6C"/>
                </a:solidFill>
              </a:rPr>
              <a:t> </a:t>
            </a:r>
            <a:r>
              <a:rPr lang="en-US" dirty="0" err="1">
                <a:solidFill>
                  <a:srgbClr val="6C6C6C"/>
                </a:solidFill>
              </a:rPr>
              <a:t>định</a:t>
            </a:r>
            <a:r>
              <a:rPr lang="en-US" dirty="0">
                <a:solidFill>
                  <a:srgbClr val="6C6C6C"/>
                </a:solidFill>
              </a:rPr>
              <a:t> (Decision Trees) </a:t>
            </a:r>
            <a:r>
              <a:rPr lang="en-US" dirty="0" err="1">
                <a:solidFill>
                  <a:srgbClr val="6C6C6C"/>
                </a:solidFill>
              </a:rPr>
              <a:t>để</a:t>
            </a:r>
            <a:r>
              <a:rPr lang="en-US" dirty="0">
                <a:solidFill>
                  <a:srgbClr val="6C6C6C"/>
                </a:solidFill>
              </a:rPr>
              <a:t> </a:t>
            </a:r>
            <a:r>
              <a:rPr lang="en-US" dirty="0" err="1">
                <a:solidFill>
                  <a:srgbClr val="6C6C6C"/>
                </a:solidFill>
              </a:rPr>
              <a:t>cho</a:t>
            </a:r>
            <a:r>
              <a:rPr lang="en-US" dirty="0">
                <a:solidFill>
                  <a:srgbClr val="6C6C6C"/>
                </a:solidFill>
              </a:rPr>
              <a:t> </a:t>
            </a:r>
            <a:r>
              <a:rPr lang="en-US" dirty="0" err="1">
                <a:solidFill>
                  <a:srgbClr val="6C6C6C"/>
                </a:solidFill>
              </a:rPr>
              <a:t>kết</a:t>
            </a:r>
            <a:r>
              <a:rPr lang="en-US" dirty="0">
                <a:solidFill>
                  <a:srgbClr val="6C6C6C"/>
                </a:solidFill>
              </a:rPr>
              <a:t> </a:t>
            </a:r>
            <a:r>
              <a:rPr lang="en-US" dirty="0" err="1">
                <a:solidFill>
                  <a:srgbClr val="6C6C6C"/>
                </a:solidFill>
              </a:rPr>
              <a:t>quả</a:t>
            </a:r>
            <a:r>
              <a:rPr lang="en-US" dirty="0">
                <a:solidFill>
                  <a:srgbClr val="6C6C6C"/>
                </a:solidFill>
              </a:rPr>
              <a:t> </a:t>
            </a:r>
            <a:r>
              <a:rPr lang="en-US" dirty="0" err="1">
                <a:solidFill>
                  <a:srgbClr val="6C6C6C"/>
                </a:solidFill>
              </a:rPr>
              <a:t>dự</a:t>
            </a:r>
            <a:r>
              <a:rPr lang="en-US" dirty="0">
                <a:solidFill>
                  <a:srgbClr val="6C6C6C"/>
                </a:solidFill>
              </a:rPr>
              <a:t> </a:t>
            </a:r>
            <a:r>
              <a:rPr lang="en-US" dirty="0" err="1">
                <a:solidFill>
                  <a:srgbClr val="6C6C6C"/>
                </a:solidFill>
              </a:rPr>
              <a:t>đoán</a:t>
            </a:r>
            <a:r>
              <a:rPr lang="en-US" dirty="0">
                <a:solidFill>
                  <a:srgbClr val="6C6C6C"/>
                </a:solidFill>
              </a:rPr>
              <a:t> </a:t>
            </a:r>
            <a:r>
              <a:rPr lang="en-US" dirty="0" err="1">
                <a:solidFill>
                  <a:srgbClr val="6C6C6C"/>
                </a:solidFill>
              </a:rPr>
              <a:t>cuối</a:t>
            </a:r>
            <a:r>
              <a:rPr lang="en-US" dirty="0">
                <a:solidFill>
                  <a:srgbClr val="6C6C6C"/>
                </a:solidFill>
              </a:rPr>
              <a:t> </a:t>
            </a:r>
            <a:r>
              <a:rPr lang="en-US" dirty="0" err="1">
                <a:solidFill>
                  <a:srgbClr val="6C6C6C"/>
                </a:solidFill>
              </a:rPr>
              <a:t>cùng</a:t>
            </a:r>
            <a:r>
              <a:rPr lang="en-US" dirty="0">
                <a:solidFill>
                  <a:srgbClr val="6C6C6C"/>
                </a:solidFill>
              </a:rPr>
              <a:t>. </a:t>
            </a:r>
            <a:r>
              <a:rPr lang="en-US" dirty="0" err="1">
                <a:solidFill>
                  <a:srgbClr val="6C6C6C"/>
                </a:solidFill>
              </a:rPr>
              <a:t>Nó</a:t>
            </a:r>
            <a:r>
              <a:rPr lang="en-US" dirty="0">
                <a:solidFill>
                  <a:srgbClr val="6C6C6C"/>
                </a:solidFill>
              </a:rPr>
              <a:t> bao </a:t>
            </a:r>
            <a:r>
              <a:rPr lang="en-US" dirty="0" err="1">
                <a:solidFill>
                  <a:srgbClr val="6C6C6C"/>
                </a:solidFill>
              </a:rPr>
              <a:t>gồm</a:t>
            </a:r>
            <a:endParaRPr lang="en-US" dirty="0">
              <a:solidFill>
                <a:srgbClr val="6C6C6C"/>
              </a:solidFill>
            </a:endParaRPr>
          </a:p>
        </p:txBody>
      </p:sp>
      <p:sp>
        <p:nvSpPr>
          <p:cNvPr id="17" name="TextBox 16">
            <a:extLst>
              <a:ext uri="{FF2B5EF4-FFF2-40B4-BE49-F238E27FC236}">
                <a16:creationId xmlns:a16="http://schemas.microsoft.com/office/drawing/2014/main" id="{BE7F1553-1595-FF97-14FF-CEFC614093BA}"/>
              </a:ext>
            </a:extLst>
          </p:cNvPr>
          <p:cNvSpPr txBox="1"/>
          <p:nvPr/>
        </p:nvSpPr>
        <p:spPr>
          <a:xfrm>
            <a:off x="9056866" y="5382139"/>
            <a:ext cx="755640" cy="307777"/>
          </a:xfrm>
          <a:prstGeom prst="rect">
            <a:avLst/>
          </a:prstGeom>
          <a:noFill/>
        </p:spPr>
        <p:txBody>
          <a:bodyPr wrap="square" rtlCol="0">
            <a:spAutoFit/>
          </a:bodyPr>
          <a:lstStyle/>
          <a:p>
            <a:r>
              <a:rPr lang="en-US" sz="1400" b="1" dirty="0">
                <a:solidFill>
                  <a:schemeClr val="bg1"/>
                </a:solidFill>
                <a:latin typeface="Roboto" panose="020B0604020202020204" charset="0"/>
                <a:ea typeface="Roboto" panose="020B0604020202020204" charset="0"/>
              </a:rPr>
              <a:t>Model</a:t>
            </a:r>
          </a:p>
        </p:txBody>
      </p:sp>
      <p:sp>
        <p:nvSpPr>
          <p:cNvPr id="38" name="TextBox 37">
            <a:extLst>
              <a:ext uri="{FF2B5EF4-FFF2-40B4-BE49-F238E27FC236}">
                <a16:creationId xmlns:a16="http://schemas.microsoft.com/office/drawing/2014/main" id="{6AA2C20A-C625-C71B-D24C-680BADF39B16}"/>
              </a:ext>
            </a:extLst>
          </p:cNvPr>
          <p:cNvSpPr txBox="1"/>
          <p:nvPr/>
        </p:nvSpPr>
        <p:spPr>
          <a:xfrm>
            <a:off x="306262" y="5536027"/>
            <a:ext cx="9083543" cy="372666"/>
          </a:xfrm>
          <a:prstGeom prst="rect">
            <a:avLst/>
          </a:prstGeom>
          <a:noFill/>
        </p:spPr>
        <p:txBody>
          <a:bodyPr wrap="square">
            <a:spAutoFit/>
          </a:bodyPr>
          <a:lstStyle/>
          <a:p>
            <a:pPr>
              <a:lnSpc>
                <a:spcPts val="2250"/>
              </a:lnSpc>
              <a:spcBef>
                <a:spcPts val="2400"/>
              </a:spcBef>
              <a:spcAft>
                <a:spcPts val="1200"/>
              </a:spcAft>
            </a:pPr>
            <a:r>
              <a:rPr lang="en-US" b="1" dirty="0" err="1">
                <a:solidFill>
                  <a:schemeClr val="bg2">
                    <a:lumMod val="50000"/>
                  </a:schemeClr>
                </a:solidFill>
                <a:latin typeface="quote-cjk-patch"/>
              </a:rPr>
              <a:t>Đầu</a:t>
            </a:r>
            <a:r>
              <a:rPr lang="en-US" b="1" dirty="0">
                <a:solidFill>
                  <a:schemeClr val="bg2">
                    <a:lumMod val="50000"/>
                  </a:schemeClr>
                </a:solidFill>
                <a:latin typeface="quote-cjk-patch"/>
              </a:rPr>
              <a:t> </a:t>
            </a:r>
            <a:r>
              <a:rPr lang="en-US" b="1" dirty="0" err="1">
                <a:solidFill>
                  <a:schemeClr val="bg2">
                    <a:lumMod val="50000"/>
                  </a:schemeClr>
                </a:solidFill>
                <a:latin typeface="quote-cjk-patch"/>
              </a:rPr>
              <a:t>ra</a:t>
            </a:r>
            <a:r>
              <a:rPr lang="en-US" b="1" dirty="0">
                <a:solidFill>
                  <a:schemeClr val="bg2">
                    <a:lumMod val="50000"/>
                  </a:schemeClr>
                </a:solidFill>
                <a:latin typeface="quote-cjk-patch"/>
              </a:rPr>
              <a:t>: </a:t>
            </a:r>
            <a:r>
              <a:rPr lang="en-US" dirty="0" err="1">
                <a:solidFill>
                  <a:srgbClr val="424242"/>
                </a:solidFill>
                <a:effectLst/>
              </a:rPr>
              <a:t>giá</a:t>
            </a:r>
            <a:r>
              <a:rPr lang="en-US" dirty="0">
                <a:solidFill>
                  <a:srgbClr val="424242"/>
                </a:solidFill>
                <a:effectLst/>
              </a:rPr>
              <a:t> </a:t>
            </a:r>
            <a:r>
              <a:rPr lang="en-US" dirty="0" err="1">
                <a:solidFill>
                  <a:srgbClr val="424242"/>
                </a:solidFill>
                <a:effectLst/>
              </a:rPr>
              <a:t>nhà</a:t>
            </a:r>
            <a:endParaRPr lang="en-US" b="1" dirty="0">
              <a:solidFill>
                <a:srgbClr val="6C6C6C"/>
              </a:solidFill>
            </a:endParaRPr>
          </a:p>
        </p:txBody>
      </p:sp>
      <p:sp>
        <p:nvSpPr>
          <p:cNvPr id="3" name="TextBox 2">
            <a:extLst>
              <a:ext uri="{FF2B5EF4-FFF2-40B4-BE49-F238E27FC236}">
                <a16:creationId xmlns:a16="http://schemas.microsoft.com/office/drawing/2014/main" id="{63A43E5E-5C3F-8DE4-7A73-A156829C4A73}"/>
              </a:ext>
            </a:extLst>
          </p:cNvPr>
          <p:cNvSpPr txBox="1"/>
          <p:nvPr/>
        </p:nvSpPr>
        <p:spPr>
          <a:xfrm>
            <a:off x="306262" y="2256293"/>
            <a:ext cx="7018770" cy="3139321"/>
          </a:xfrm>
          <a:prstGeom prst="rect">
            <a:avLst/>
          </a:prstGeom>
          <a:noFill/>
        </p:spPr>
        <p:txBody>
          <a:bodyPr wrap="square">
            <a:spAutoFit/>
          </a:bodyPr>
          <a:lstStyle/>
          <a:p>
            <a:r>
              <a:rPr lang="en-US" b="1" i="0" dirty="0" err="1">
                <a:solidFill>
                  <a:srgbClr val="6C6C6C"/>
                </a:solidFill>
                <a:effectLst/>
              </a:rPr>
              <a:t>RandomForestRegressor</a:t>
            </a:r>
            <a:r>
              <a:rPr lang="en-US" b="1" i="0" dirty="0">
                <a:solidFill>
                  <a:srgbClr val="6C6C6C"/>
                </a:solidFill>
                <a:effectLst/>
              </a:rPr>
              <a:t>: </a:t>
            </a:r>
            <a:r>
              <a:rPr lang="en-US" b="0" i="0" dirty="0" err="1">
                <a:solidFill>
                  <a:srgbClr val="6C6C6C"/>
                </a:solidFill>
                <a:effectLst/>
              </a:rPr>
              <a:t>Mô</a:t>
            </a:r>
            <a:r>
              <a:rPr lang="en-US" b="0" i="0" dirty="0">
                <a:solidFill>
                  <a:srgbClr val="6C6C6C"/>
                </a:solidFill>
                <a:effectLst/>
              </a:rPr>
              <a:t> </a:t>
            </a:r>
            <a:r>
              <a:rPr lang="en-US" b="0" i="0" dirty="0" err="1">
                <a:solidFill>
                  <a:srgbClr val="6C6C6C"/>
                </a:solidFill>
                <a:effectLst/>
              </a:rPr>
              <a:t>hình</a:t>
            </a:r>
            <a:r>
              <a:rPr lang="en-US" b="0" i="0" dirty="0">
                <a:solidFill>
                  <a:srgbClr val="6C6C6C"/>
                </a:solidFill>
                <a:effectLst/>
              </a:rPr>
              <a:t> </a:t>
            </a:r>
            <a:r>
              <a:rPr lang="en-US" b="0" i="0" dirty="0" err="1">
                <a:solidFill>
                  <a:srgbClr val="6C6C6C"/>
                </a:solidFill>
                <a:effectLst/>
              </a:rPr>
              <a:t>hồi</a:t>
            </a:r>
            <a:r>
              <a:rPr lang="en-US" b="0" i="0" dirty="0">
                <a:solidFill>
                  <a:srgbClr val="6C6C6C"/>
                </a:solidFill>
                <a:effectLst/>
              </a:rPr>
              <a:t> </a:t>
            </a:r>
            <a:r>
              <a:rPr lang="en-US" b="0" i="0" dirty="0" err="1">
                <a:solidFill>
                  <a:srgbClr val="6C6C6C"/>
                </a:solidFill>
                <a:effectLst/>
              </a:rPr>
              <a:t>quy</a:t>
            </a:r>
            <a:r>
              <a:rPr lang="en-US" b="0" i="0" dirty="0">
                <a:solidFill>
                  <a:srgbClr val="6C6C6C"/>
                </a:solidFill>
                <a:effectLst/>
              </a:rPr>
              <a:t> </a:t>
            </a:r>
            <a:r>
              <a:rPr lang="en-US" b="0" i="0" dirty="0" err="1">
                <a:solidFill>
                  <a:srgbClr val="6C6C6C"/>
                </a:solidFill>
                <a:effectLst/>
              </a:rPr>
              <a:t>dựa</a:t>
            </a:r>
            <a:r>
              <a:rPr lang="en-US" b="0" i="0" dirty="0">
                <a:solidFill>
                  <a:srgbClr val="6C6C6C"/>
                </a:solidFill>
                <a:effectLst/>
              </a:rPr>
              <a:t> </a:t>
            </a:r>
            <a:r>
              <a:rPr lang="en-US" b="0" i="0" dirty="0" err="1">
                <a:solidFill>
                  <a:srgbClr val="6C6C6C"/>
                </a:solidFill>
                <a:effectLst/>
              </a:rPr>
              <a:t>trên</a:t>
            </a:r>
            <a:r>
              <a:rPr lang="en-US" b="0" i="0" dirty="0">
                <a:solidFill>
                  <a:srgbClr val="6C6C6C"/>
                </a:solidFill>
                <a:effectLst/>
              </a:rPr>
              <a:t> Random Forest </a:t>
            </a:r>
            <a:r>
              <a:rPr lang="en-US" b="0" i="0" dirty="0" err="1">
                <a:solidFill>
                  <a:srgbClr val="6C6C6C"/>
                </a:solidFill>
                <a:effectLst/>
              </a:rPr>
              <a:t>để</a:t>
            </a:r>
            <a:r>
              <a:rPr lang="en-US" b="0" i="0" dirty="0">
                <a:solidFill>
                  <a:srgbClr val="6C6C6C"/>
                </a:solidFill>
                <a:effectLst/>
              </a:rPr>
              <a:t> </a:t>
            </a:r>
            <a:r>
              <a:rPr lang="en-US" b="0" i="0" dirty="0" err="1">
                <a:solidFill>
                  <a:srgbClr val="6C6C6C"/>
                </a:solidFill>
                <a:effectLst/>
              </a:rPr>
              <a:t>dự</a:t>
            </a:r>
            <a:r>
              <a:rPr lang="en-US" b="0" i="0" dirty="0">
                <a:solidFill>
                  <a:srgbClr val="6C6C6C"/>
                </a:solidFill>
                <a:effectLst/>
              </a:rPr>
              <a:t> </a:t>
            </a:r>
            <a:r>
              <a:rPr lang="en-US" b="0" i="0" dirty="0" err="1">
                <a:solidFill>
                  <a:srgbClr val="6C6C6C"/>
                </a:solidFill>
                <a:effectLst/>
              </a:rPr>
              <a:t>đoán</a:t>
            </a:r>
            <a:r>
              <a:rPr lang="en-US" b="0" i="0" dirty="0">
                <a:solidFill>
                  <a:srgbClr val="6C6C6C"/>
                </a:solidFill>
                <a:effectLst/>
              </a:rPr>
              <a:t> </a:t>
            </a:r>
            <a:r>
              <a:rPr lang="en-US" b="0" i="0" dirty="0" err="1">
                <a:solidFill>
                  <a:srgbClr val="6C6C6C"/>
                </a:solidFill>
                <a:effectLst/>
              </a:rPr>
              <a:t>giá</a:t>
            </a:r>
            <a:r>
              <a:rPr lang="en-US" b="0" i="0" dirty="0">
                <a:solidFill>
                  <a:srgbClr val="6C6C6C"/>
                </a:solidFill>
                <a:effectLst/>
              </a:rPr>
              <a:t> </a:t>
            </a:r>
            <a:r>
              <a:rPr lang="en-US" b="0" i="0" dirty="0" err="1">
                <a:solidFill>
                  <a:srgbClr val="6C6C6C"/>
                </a:solidFill>
                <a:effectLst/>
              </a:rPr>
              <a:t>trị</a:t>
            </a:r>
            <a:r>
              <a:rPr lang="en-US" b="0" i="0" dirty="0">
                <a:solidFill>
                  <a:srgbClr val="6C6C6C"/>
                </a:solidFill>
                <a:effectLst/>
              </a:rPr>
              <a:t> </a:t>
            </a:r>
            <a:r>
              <a:rPr lang="en-US" b="0" i="0" dirty="0" err="1">
                <a:solidFill>
                  <a:srgbClr val="6C6C6C"/>
                </a:solidFill>
                <a:effectLst/>
              </a:rPr>
              <a:t>số</a:t>
            </a:r>
            <a:r>
              <a:rPr lang="en-US" b="0" i="0" dirty="0">
                <a:solidFill>
                  <a:srgbClr val="6C6C6C"/>
                </a:solidFill>
                <a:effectLst/>
              </a:rPr>
              <a:t>.</a:t>
            </a:r>
            <a:br>
              <a:rPr lang="en-US" dirty="0">
                <a:solidFill>
                  <a:srgbClr val="6C6C6C"/>
                </a:solidFill>
              </a:rPr>
            </a:br>
            <a:r>
              <a:rPr lang="en-US" b="1" i="0" dirty="0" err="1">
                <a:solidFill>
                  <a:srgbClr val="6C6C6C"/>
                </a:solidFill>
                <a:effectLst/>
              </a:rPr>
              <a:t>LabelEncoder</a:t>
            </a:r>
            <a:r>
              <a:rPr lang="en-US" b="1" i="0" dirty="0">
                <a:solidFill>
                  <a:srgbClr val="6C6C6C"/>
                </a:solidFill>
                <a:effectLst/>
              </a:rPr>
              <a:t>:</a:t>
            </a:r>
            <a:r>
              <a:rPr lang="en-US" b="0" i="0" dirty="0">
                <a:solidFill>
                  <a:srgbClr val="6C6C6C"/>
                </a:solidFill>
                <a:effectLst/>
              </a:rPr>
              <a:t> </a:t>
            </a:r>
            <a:r>
              <a:rPr lang="en-US" b="0" i="0" dirty="0" err="1">
                <a:solidFill>
                  <a:srgbClr val="6C6C6C"/>
                </a:solidFill>
                <a:effectLst/>
              </a:rPr>
              <a:t>Chuyển</a:t>
            </a:r>
            <a:r>
              <a:rPr lang="en-US" b="0" i="0" dirty="0">
                <a:solidFill>
                  <a:srgbClr val="6C6C6C"/>
                </a:solidFill>
                <a:effectLst/>
              </a:rPr>
              <a:t> </a:t>
            </a:r>
            <a:r>
              <a:rPr lang="en-US" b="0" i="0" dirty="0" err="1">
                <a:solidFill>
                  <a:srgbClr val="6C6C6C"/>
                </a:solidFill>
                <a:effectLst/>
              </a:rPr>
              <a:t>đổi</a:t>
            </a:r>
            <a:r>
              <a:rPr lang="en-US" b="0" i="0" dirty="0">
                <a:solidFill>
                  <a:srgbClr val="6C6C6C"/>
                </a:solidFill>
                <a:effectLst/>
              </a:rPr>
              <a:t> </a:t>
            </a:r>
            <a:r>
              <a:rPr lang="en-US" b="0" i="0" dirty="0" err="1">
                <a:solidFill>
                  <a:srgbClr val="6C6C6C"/>
                </a:solidFill>
                <a:effectLst/>
              </a:rPr>
              <a:t>dữ</a:t>
            </a:r>
            <a:r>
              <a:rPr lang="en-US" b="0" i="0" dirty="0">
                <a:solidFill>
                  <a:srgbClr val="6C6C6C"/>
                </a:solidFill>
                <a:effectLst/>
              </a:rPr>
              <a:t> </a:t>
            </a:r>
            <a:r>
              <a:rPr lang="en-US" b="0" i="0" dirty="0" err="1">
                <a:solidFill>
                  <a:srgbClr val="6C6C6C"/>
                </a:solidFill>
                <a:effectLst/>
              </a:rPr>
              <a:t>liệu</a:t>
            </a:r>
            <a:r>
              <a:rPr lang="en-US" b="0" i="0" dirty="0">
                <a:solidFill>
                  <a:srgbClr val="6C6C6C"/>
                </a:solidFill>
                <a:effectLst/>
              </a:rPr>
              <a:t> </a:t>
            </a:r>
            <a:r>
              <a:rPr lang="en-US" b="0" i="0" dirty="0" err="1">
                <a:solidFill>
                  <a:srgbClr val="6C6C6C"/>
                </a:solidFill>
                <a:effectLst/>
              </a:rPr>
              <a:t>phân</a:t>
            </a:r>
            <a:r>
              <a:rPr lang="en-US" b="0" i="0" dirty="0">
                <a:solidFill>
                  <a:srgbClr val="6C6C6C"/>
                </a:solidFill>
                <a:effectLst/>
              </a:rPr>
              <a:t> </a:t>
            </a:r>
            <a:r>
              <a:rPr lang="en-US" b="0" i="0" dirty="0" err="1">
                <a:solidFill>
                  <a:srgbClr val="6C6C6C"/>
                </a:solidFill>
                <a:effectLst/>
              </a:rPr>
              <a:t>loại</a:t>
            </a:r>
            <a:r>
              <a:rPr lang="en-US" b="0" i="0" dirty="0">
                <a:solidFill>
                  <a:srgbClr val="6C6C6C"/>
                </a:solidFill>
                <a:effectLst/>
              </a:rPr>
              <a:t> (categorical) </a:t>
            </a:r>
            <a:r>
              <a:rPr lang="en-US" b="0" i="0" dirty="0" err="1">
                <a:solidFill>
                  <a:srgbClr val="6C6C6C"/>
                </a:solidFill>
                <a:effectLst/>
              </a:rPr>
              <a:t>thành</a:t>
            </a:r>
            <a:r>
              <a:rPr lang="en-US" b="0" i="0" dirty="0">
                <a:solidFill>
                  <a:srgbClr val="6C6C6C"/>
                </a:solidFill>
                <a:effectLst/>
              </a:rPr>
              <a:t> </a:t>
            </a:r>
            <a:r>
              <a:rPr lang="en-US" b="0" i="0" dirty="0" err="1">
                <a:solidFill>
                  <a:srgbClr val="6C6C6C"/>
                </a:solidFill>
                <a:effectLst/>
              </a:rPr>
              <a:t>số</a:t>
            </a:r>
            <a:r>
              <a:rPr lang="en-US" b="0" i="0" dirty="0">
                <a:solidFill>
                  <a:srgbClr val="6C6C6C"/>
                </a:solidFill>
                <a:effectLst/>
              </a:rPr>
              <a:t>.</a:t>
            </a:r>
            <a:br>
              <a:rPr lang="en-US" dirty="0">
                <a:solidFill>
                  <a:srgbClr val="6C6C6C"/>
                </a:solidFill>
              </a:rPr>
            </a:br>
            <a:r>
              <a:rPr lang="en-US" b="1" i="0" dirty="0" err="1">
                <a:solidFill>
                  <a:srgbClr val="6C6C6C"/>
                </a:solidFill>
                <a:effectLst/>
              </a:rPr>
              <a:t>KNNImputer</a:t>
            </a:r>
            <a:r>
              <a:rPr lang="en-US" b="1" i="0" dirty="0">
                <a:solidFill>
                  <a:srgbClr val="6C6C6C"/>
                </a:solidFill>
                <a:effectLst/>
              </a:rPr>
              <a:t>:</a:t>
            </a:r>
            <a:r>
              <a:rPr lang="en-US" b="0" i="0" dirty="0">
                <a:solidFill>
                  <a:srgbClr val="6C6C6C"/>
                </a:solidFill>
                <a:effectLst/>
              </a:rPr>
              <a:t> </a:t>
            </a:r>
            <a:r>
              <a:rPr lang="en-US" b="0" i="0" dirty="0" err="1">
                <a:solidFill>
                  <a:srgbClr val="6C6C6C"/>
                </a:solidFill>
                <a:effectLst/>
              </a:rPr>
              <a:t>Điền</a:t>
            </a:r>
            <a:r>
              <a:rPr lang="en-US" b="0" i="0" dirty="0">
                <a:solidFill>
                  <a:srgbClr val="6C6C6C"/>
                </a:solidFill>
                <a:effectLst/>
              </a:rPr>
              <a:t> </a:t>
            </a:r>
            <a:r>
              <a:rPr lang="en-US" b="0" i="0" dirty="0" err="1">
                <a:solidFill>
                  <a:srgbClr val="6C6C6C"/>
                </a:solidFill>
                <a:effectLst/>
              </a:rPr>
              <a:t>giá</a:t>
            </a:r>
            <a:r>
              <a:rPr lang="en-US" b="0" i="0" dirty="0">
                <a:solidFill>
                  <a:srgbClr val="6C6C6C"/>
                </a:solidFill>
                <a:effectLst/>
              </a:rPr>
              <a:t> </a:t>
            </a:r>
            <a:r>
              <a:rPr lang="en-US" b="0" i="0" dirty="0" err="1">
                <a:solidFill>
                  <a:srgbClr val="6C6C6C"/>
                </a:solidFill>
                <a:effectLst/>
              </a:rPr>
              <a:t>trị</a:t>
            </a:r>
            <a:r>
              <a:rPr lang="en-US" b="0" i="0" dirty="0">
                <a:solidFill>
                  <a:srgbClr val="6C6C6C"/>
                </a:solidFill>
                <a:effectLst/>
              </a:rPr>
              <a:t> </a:t>
            </a:r>
            <a:r>
              <a:rPr lang="en-US" b="0" i="0" dirty="0" err="1">
                <a:solidFill>
                  <a:srgbClr val="6C6C6C"/>
                </a:solidFill>
                <a:effectLst/>
              </a:rPr>
              <a:t>thiếu</a:t>
            </a:r>
            <a:r>
              <a:rPr lang="en-US" b="0" i="0" dirty="0">
                <a:solidFill>
                  <a:srgbClr val="6C6C6C"/>
                </a:solidFill>
                <a:effectLst/>
              </a:rPr>
              <a:t> </a:t>
            </a:r>
            <a:r>
              <a:rPr lang="en-US" b="0" i="0" dirty="0" err="1">
                <a:solidFill>
                  <a:srgbClr val="6C6C6C"/>
                </a:solidFill>
                <a:effectLst/>
              </a:rPr>
              <a:t>bằng</a:t>
            </a:r>
            <a:r>
              <a:rPr lang="en-US" b="0" i="0" dirty="0">
                <a:solidFill>
                  <a:srgbClr val="6C6C6C"/>
                </a:solidFill>
                <a:effectLst/>
              </a:rPr>
              <a:t> </a:t>
            </a:r>
            <a:r>
              <a:rPr lang="en-US" b="0" i="0" dirty="0" err="1">
                <a:solidFill>
                  <a:srgbClr val="6C6C6C"/>
                </a:solidFill>
                <a:effectLst/>
              </a:rPr>
              <a:t>cách</a:t>
            </a:r>
            <a:r>
              <a:rPr lang="en-US" b="0" i="0" dirty="0">
                <a:solidFill>
                  <a:srgbClr val="6C6C6C"/>
                </a:solidFill>
                <a:effectLst/>
              </a:rPr>
              <a:t> </a:t>
            </a:r>
            <a:r>
              <a:rPr lang="en-US" b="0" i="0" dirty="0" err="1">
                <a:solidFill>
                  <a:srgbClr val="6C6C6C"/>
                </a:solidFill>
                <a:effectLst/>
              </a:rPr>
              <a:t>sử</a:t>
            </a:r>
            <a:r>
              <a:rPr lang="en-US" b="0" i="0" dirty="0">
                <a:solidFill>
                  <a:srgbClr val="6C6C6C"/>
                </a:solidFill>
                <a:effectLst/>
              </a:rPr>
              <a:t> </a:t>
            </a:r>
            <a:r>
              <a:rPr lang="en-US" b="0" i="0" dirty="0" err="1">
                <a:solidFill>
                  <a:srgbClr val="6C6C6C"/>
                </a:solidFill>
                <a:effectLst/>
              </a:rPr>
              <a:t>dụng</a:t>
            </a:r>
            <a:r>
              <a:rPr lang="en-US" b="0" i="0" dirty="0">
                <a:solidFill>
                  <a:srgbClr val="6C6C6C"/>
                </a:solidFill>
                <a:effectLst/>
              </a:rPr>
              <a:t> </a:t>
            </a:r>
            <a:r>
              <a:rPr lang="en-US" b="0" i="0" dirty="0" err="1">
                <a:solidFill>
                  <a:srgbClr val="6C6C6C"/>
                </a:solidFill>
                <a:effectLst/>
              </a:rPr>
              <a:t>giá</a:t>
            </a:r>
            <a:r>
              <a:rPr lang="en-US" b="0" i="0" dirty="0">
                <a:solidFill>
                  <a:srgbClr val="6C6C6C"/>
                </a:solidFill>
                <a:effectLst/>
              </a:rPr>
              <a:t> </a:t>
            </a:r>
            <a:r>
              <a:rPr lang="en-US" b="0" i="0" dirty="0" err="1">
                <a:solidFill>
                  <a:srgbClr val="6C6C6C"/>
                </a:solidFill>
                <a:effectLst/>
              </a:rPr>
              <a:t>trị</a:t>
            </a:r>
            <a:r>
              <a:rPr lang="en-US" b="0" i="0" dirty="0">
                <a:solidFill>
                  <a:srgbClr val="6C6C6C"/>
                </a:solidFill>
                <a:effectLst/>
              </a:rPr>
              <a:t> </a:t>
            </a:r>
            <a:r>
              <a:rPr lang="en-US" b="0" i="0" dirty="0" err="1">
                <a:solidFill>
                  <a:srgbClr val="6C6C6C"/>
                </a:solidFill>
                <a:effectLst/>
              </a:rPr>
              <a:t>trung</a:t>
            </a:r>
            <a:r>
              <a:rPr lang="en-US" b="0" i="0" dirty="0">
                <a:solidFill>
                  <a:srgbClr val="6C6C6C"/>
                </a:solidFill>
                <a:effectLst/>
              </a:rPr>
              <a:t> </a:t>
            </a:r>
            <a:r>
              <a:rPr lang="en-US" b="0" i="0" dirty="0" err="1">
                <a:solidFill>
                  <a:srgbClr val="6C6C6C"/>
                </a:solidFill>
                <a:effectLst/>
              </a:rPr>
              <a:t>bình</a:t>
            </a:r>
            <a:r>
              <a:rPr lang="en-US" b="0" i="0" dirty="0">
                <a:solidFill>
                  <a:srgbClr val="6C6C6C"/>
                </a:solidFill>
                <a:effectLst/>
              </a:rPr>
              <a:t> </a:t>
            </a:r>
            <a:r>
              <a:rPr lang="en-US" b="0" i="0" dirty="0" err="1">
                <a:solidFill>
                  <a:srgbClr val="6C6C6C"/>
                </a:solidFill>
                <a:effectLst/>
              </a:rPr>
              <a:t>của</a:t>
            </a:r>
            <a:r>
              <a:rPr lang="en-US" b="0" i="0" dirty="0">
                <a:solidFill>
                  <a:srgbClr val="6C6C6C"/>
                </a:solidFill>
                <a:effectLst/>
              </a:rPr>
              <a:t> k </a:t>
            </a:r>
            <a:r>
              <a:rPr lang="en-US" b="0" i="0" dirty="0" err="1">
                <a:solidFill>
                  <a:srgbClr val="6C6C6C"/>
                </a:solidFill>
                <a:effectLst/>
              </a:rPr>
              <a:t>điểm</a:t>
            </a:r>
            <a:r>
              <a:rPr lang="en-US" b="0" i="0" dirty="0">
                <a:solidFill>
                  <a:srgbClr val="6C6C6C"/>
                </a:solidFill>
                <a:effectLst/>
              </a:rPr>
              <a:t> </a:t>
            </a:r>
            <a:r>
              <a:rPr lang="en-US" b="0" i="0" dirty="0" err="1">
                <a:solidFill>
                  <a:srgbClr val="6C6C6C"/>
                </a:solidFill>
                <a:effectLst/>
              </a:rPr>
              <a:t>dữ</a:t>
            </a:r>
            <a:r>
              <a:rPr lang="en-US" b="0" i="0" dirty="0">
                <a:solidFill>
                  <a:srgbClr val="6C6C6C"/>
                </a:solidFill>
                <a:effectLst/>
              </a:rPr>
              <a:t> </a:t>
            </a:r>
            <a:r>
              <a:rPr lang="en-US" b="0" i="0" dirty="0" err="1">
                <a:solidFill>
                  <a:srgbClr val="6C6C6C"/>
                </a:solidFill>
                <a:effectLst/>
              </a:rPr>
              <a:t>liệu</a:t>
            </a:r>
            <a:r>
              <a:rPr lang="en-US" b="0" i="0" dirty="0">
                <a:solidFill>
                  <a:srgbClr val="6C6C6C"/>
                </a:solidFill>
                <a:effectLst/>
              </a:rPr>
              <a:t> </a:t>
            </a:r>
            <a:r>
              <a:rPr lang="en-US" b="0" i="0" dirty="0" err="1">
                <a:solidFill>
                  <a:srgbClr val="6C6C6C"/>
                </a:solidFill>
                <a:effectLst/>
              </a:rPr>
              <a:t>gần</a:t>
            </a:r>
            <a:r>
              <a:rPr lang="en-US" b="0" i="0" dirty="0">
                <a:solidFill>
                  <a:srgbClr val="6C6C6C"/>
                </a:solidFill>
                <a:effectLst/>
              </a:rPr>
              <a:t> </a:t>
            </a:r>
            <a:r>
              <a:rPr lang="en-US" b="0" i="0" dirty="0" err="1">
                <a:solidFill>
                  <a:srgbClr val="6C6C6C"/>
                </a:solidFill>
                <a:effectLst/>
              </a:rPr>
              <a:t>nhất</a:t>
            </a:r>
            <a:r>
              <a:rPr lang="en-US" b="0" i="0" dirty="0">
                <a:solidFill>
                  <a:srgbClr val="6C6C6C"/>
                </a:solidFill>
                <a:effectLst/>
              </a:rPr>
              <a:t>.</a:t>
            </a:r>
            <a:br>
              <a:rPr lang="en-US" dirty="0">
                <a:solidFill>
                  <a:srgbClr val="6C6C6C"/>
                </a:solidFill>
              </a:rPr>
            </a:br>
            <a:r>
              <a:rPr lang="en-US" b="1" i="0" dirty="0" err="1">
                <a:solidFill>
                  <a:srgbClr val="6C6C6C"/>
                </a:solidFill>
                <a:effectLst/>
              </a:rPr>
              <a:t>train_test_split</a:t>
            </a:r>
            <a:r>
              <a:rPr lang="en-US" b="1" i="0" dirty="0">
                <a:solidFill>
                  <a:srgbClr val="6C6C6C"/>
                </a:solidFill>
                <a:effectLst/>
              </a:rPr>
              <a:t>: </a:t>
            </a:r>
            <a:r>
              <a:rPr lang="en-US" b="0" i="0" dirty="0">
                <a:solidFill>
                  <a:srgbClr val="6C6C6C"/>
                </a:solidFill>
                <a:effectLst/>
              </a:rPr>
              <a:t>Chia </a:t>
            </a:r>
            <a:r>
              <a:rPr lang="en-US" b="0" i="0" dirty="0" err="1">
                <a:solidFill>
                  <a:srgbClr val="6C6C6C"/>
                </a:solidFill>
                <a:effectLst/>
              </a:rPr>
              <a:t>dữ</a:t>
            </a:r>
            <a:r>
              <a:rPr lang="en-US" b="0" i="0" dirty="0">
                <a:solidFill>
                  <a:srgbClr val="6C6C6C"/>
                </a:solidFill>
                <a:effectLst/>
              </a:rPr>
              <a:t> </a:t>
            </a:r>
            <a:r>
              <a:rPr lang="en-US" b="0" i="0" dirty="0" err="1">
                <a:solidFill>
                  <a:srgbClr val="6C6C6C"/>
                </a:solidFill>
                <a:effectLst/>
              </a:rPr>
              <a:t>liệu</a:t>
            </a:r>
            <a:r>
              <a:rPr lang="en-US" b="0" i="0" dirty="0">
                <a:solidFill>
                  <a:srgbClr val="6C6C6C"/>
                </a:solidFill>
                <a:effectLst/>
              </a:rPr>
              <a:t> </a:t>
            </a:r>
            <a:r>
              <a:rPr lang="en-US" b="0" i="0" dirty="0" err="1">
                <a:solidFill>
                  <a:srgbClr val="6C6C6C"/>
                </a:solidFill>
                <a:effectLst/>
              </a:rPr>
              <a:t>thành</a:t>
            </a:r>
            <a:r>
              <a:rPr lang="en-US" b="0" i="0" dirty="0">
                <a:solidFill>
                  <a:srgbClr val="6C6C6C"/>
                </a:solidFill>
                <a:effectLst/>
              </a:rPr>
              <a:t> </a:t>
            </a:r>
            <a:r>
              <a:rPr lang="en-US" b="0" i="0" dirty="0" err="1">
                <a:solidFill>
                  <a:srgbClr val="6C6C6C"/>
                </a:solidFill>
                <a:effectLst/>
              </a:rPr>
              <a:t>tập</a:t>
            </a:r>
            <a:r>
              <a:rPr lang="en-US" b="0" i="0" dirty="0">
                <a:solidFill>
                  <a:srgbClr val="6C6C6C"/>
                </a:solidFill>
                <a:effectLst/>
              </a:rPr>
              <a:t> </a:t>
            </a:r>
            <a:r>
              <a:rPr lang="en-US" b="0" i="0" dirty="0" err="1">
                <a:solidFill>
                  <a:srgbClr val="6C6C6C"/>
                </a:solidFill>
                <a:effectLst/>
              </a:rPr>
              <a:t>huấn</a:t>
            </a:r>
            <a:r>
              <a:rPr lang="en-US" b="0" i="0" dirty="0">
                <a:solidFill>
                  <a:srgbClr val="6C6C6C"/>
                </a:solidFill>
                <a:effectLst/>
              </a:rPr>
              <a:t> </a:t>
            </a:r>
            <a:r>
              <a:rPr lang="en-US" b="0" i="0" dirty="0" err="1">
                <a:solidFill>
                  <a:srgbClr val="6C6C6C"/>
                </a:solidFill>
                <a:effectLst/>
              </a:rPr>
              <a:t>luyện</a:t>
            </a:r>
            <a:r>
              <a:rPr lang="en-US" b="0" i="0" dirty="0">
                <a:solidFill>
                  <a:srgbClr val="6C6C6C"/>
                </a:solidFill>
                <a:effectLst/>
              </a:rPr>
              <a:t> </a:t>
            </a:r>
            <a:r>
              <a:rPr lang="en-US" b="0" i="0" dirty="0" err="1">
                <a:solidFill>
                  <a:srgbClr val="6C6C6C"/>
                </a:solidFill>
                <a:effectLst/>
              </a:rPr>
              <a:t>và</a:t>
            </a:r>
            <a:r>
              <a:rPr lang="en-US" b="0" i="0" dirty="0">
                <a:solidFill>
                  <a:srgbClr val="6C6C6C"/>
                </a:solidFill>
                <a:effectLst/>
              </a:rPr>
              <a:t> </a:t>
            </a:r>
            <a:r>
              <a:rPr lang="en-US" b="0" i="0" dirty="0" err="1">
                <a:solidFill>
                  <a:srgbClr val="6C6C6C"/>
                </a:solidFill>
                <a:effectLst/>
              </a:rPr>
              <a:t>tập</a:t>
            </a:r>
            <a:r>
              <a:rPr lang="en-US" b="0" i="0" dirty="0">
                <a:solidFill>
                  <a:srgbClr val="6C6C6C"/>
                </a:solidFill>
                <a:effectLst/>
              </a:rPr>
              <a:t> </a:t>
            </a:r>
            <a:r>
              <a:rPr lang="en-US" b="0" i="0" dirty="0" err="1">
                <a:solidFill>
                  <a:srgbClr val="6C6C6C"/>
                </a:solidFill>
                <a:effectLst/>
              </a:rPr>
              <a:t>kiểm</a:t>
            </a:r>
            <a:r>
              <a:rPr lang="en-US" b="0" i="0" dirty="0">
                <a:solidFill>
                  <a:srgbClr val="6C6C6C"/>
                </a:solidFill>
                <a:effectLst/>
              </a:rPr>
              <a:t> </a:t>
            </a:r>
            <a:r>
              <a:rPr lang="en-US" b="0" i="0" dirty="0" err="1">
                <a:solidFill>
                  <a:srgbClr val="6C6C6C"/>
                </a:solidFill>
                <a:effectLst/>
              </a:rPr>
              <a:t>tra</a:t>
            </a:r>
            <a:r>
              <a:rPr lang="en-US" b="0" i="0" dirty="0">
                <a:solidFill>
                  <a:srgbClr val="6C6C6C"/>
                </a:solidFill>
                <a:effectLst/>
              </a:rPr>
              <a:t>.</a:t>
            </a:r>
            <a:br>
              <a:rPr lang="en-US" dirty="0">
                <a:solidFill>
                  <a:srgbClr val="6C6C6C"/>
                </a:solidFill>
              </a:rPr>
            </a:br>
            <a:r>
              <a:rPr lang="en-US" b="1" i="0" dirty="0" err="1">
                <a:solidFill>
                  <a:srgbClr val="6C6C6C"/>
                </a:solidFill>
                <a:effectLst/>
              </a:rPr>
              <a:t>StandardScaler</a:t>
            </a:r>
            <a:r>
              <a:rPr lang="en-US" b="1" i="0" dirty="0">
                <a:solidFill>
                  <a:srgbClr val="6C6C6C"/>
                </a:solidFill>
                <a:effectLst/>
              </a:rPr>
              <a:t>:</a:t>
            </a:r>
            <a:r>
              <a:rPr lang="en-US" b="0" i="0" dirty="0">
                <a:solidFill>
                  <a:srgbClr val="6C6C6C"/>
                </a:solidFill>
                <a:effectLst/>
              </a:rPr>
              <a:t> </a:t>
            </a:r>
            <a:r>
              <a:rPr lang="en-US" b="0" i="0" dirty="0" err="1">
                <a:solidFill>
                  <a:srgbClr val="6C6C6C"/>
                </a:solidFill>
                <a:effectLst/>
              </a:rPr>
              <a:t>Chuẩn</a:t>
            </a:r>
            <a:r>
              <a:rPr lang="en-US" b="0" i="0" dirty="0">
                <a:solidFill>
                  <a:srgbClr val="6C6C6C"/>
                </a:solidFill>
                <a:effectLst/>
              </a:rPr>
              <a:t> </a:t>
            </a:r>
            <a:r>
              <a:rPr lang="en-US" b="0" i="0" dirty="0" err="1">
                <a:solidFill>
                  <a:srgbClr val="6C6C6C"/>
                </a:solidFill>
                <a:effectLst/>
              </a:rPr>
              <a:t>hóa</a:t>
            </a:r>
            <a:r>
              <a:rPr lang="en-US" b="0" i="0" dirty="0">
                <a:solidFill>
                  <a:srgbClr val="6C6C6C"/>
                </a:solidFill>
                <a:effectLst/>
              </a:rPr>
              <a:t> </a:t>
            </a:r>
            <a:r>
              <a:rPr lang="en-US" b="0" i="0" dirty="0" err="1">
                <a:solidFill>
                  <a:srgbClr val="6C6C6C"/>
                </a:solidFill>
                <a:effectLst/>
              </a:rPr>
              <a:t>dữ</a:t>
            </a:r>
            <a:r>
              <a:rPr lang="en-US" b="0" i="0" dirty="0">
                <a:solidFill>
                  <a:srgbClr val="6C6C6C"/>
                </a:solidFill>
                <a:effectLst/>
              </a:rPr>
              <a:t> </a:t>
            </a:r>
            <a:r>
              <a:rPr lang="en-US" b="0" i="0" dirty="0" err="1">
                <a:solidFill>
                  <a:srgbClr val="6C6C6C"/>
                </a:solidFill>
                <a:effectLst/>
              </a:rPr>
              <a:t>liệu</a:t>
            </a:r>
            <a:r>
              <a:rPr lang="en-US" b="0" i="0" dirty="0">
                <a:solidFill>
                  <a:srgbClr val="6C6C6C"/>
                </a:solidFill>
                <a:effectLst/>
              </a:rPr>
              <a:t> </a:t>
            </a:r>
            <a:r>
              <a:rPr lang="en-US" b="0" i="0" dirty="0" err="1">
                <a:solidFill>
                  <a:srgbClr val="6C6C6C"/>
                </a:solidFill>
                <a:effectLst/>
              </a:rPr>
              <a:t>về</a:t>
            </a:r>
            <a:r>
              <a:rPr lang="en-US" b="0" i="0" dirty="0">
                <a:solidFill>
                  <a:srgbClr val="6C6C6C"/>
                </a:solidFill>
                <a:effectLst/>
              </a:rPr>
              <a:t> mean=0 </a:t>
            </a:r>
            <a:r>
              <a:rPr lang="en-US" b="0" i="0" dirty="0" err="1">
                <a:solidFill>
                  <a:srgbClr val="6C6C6C"/>
                </a:solidFill>
                <a:effectLst/>
              </a:rPr>
              <a:t>và</a:t>
            </a:r>
            <a:r>
              <a:rPr lang="en-US" b="0" i="0" dirty="0">
                <a:solidFill>
                  <a:srgbClr val="6C6C6C"/>
                </a:solidFill>
                <a:effectLst/>
              </a:rPr>
              <a:t> variance=1.</a:t>
            </a:r>
            <a:br>
              <a:rPr lang="en-US" dirty="0">
                <a:solidFill>
                  <a:srgbClr val="6C6C6C"/>
                </a:solidFill>
              </a:rPr>
            </a:br>
            <a:r>
              <a:rPr lang="en-US" b="1" i="0" dirty="0">
                <a:solidFill>
                  <a:srgbClr val="6C6C6C"/>
                </a:solidFill>
                <a:effectLst/>
              </a:rPr>
              <a:t>f1_score: </a:t>
            </a:r>
            <a:r>
              <a:rPr lang="en-US" b="0" i="0" dirty="0" err="1">
                <a:solidFill>
                  <a:srgbClr val="6C6C6C"/>
                </a:solidFill>
                <a:effectLst/>
              </a:rPr>
              <a:t>Chỉ</a:t>
            </a:r>
            <a:r>
              <a:rPr lang="en-US" b="0" i="0" dirty="0">
                <a:solidFill>
                  <a:srgbClr val="6C6C6C"/>
                </a:solidFill>
                <a:effectLst/>
              </a:rPr>
              <a:t> </a:t>
            </a:r>
            <a:r>
              <a:rPr lang="en-US" b="0" i="0" dirty="0" err="1">
                <a:solidFill>
                  <a:srgbClr val="6C6C6C"/>
                </a:solidFill>
                <a:effectLst/>
              </a:rPr>
              <a:t>số</a:t>
            </a:r>
            <a:r>
              <a:rPr lang="en-US" b="0" i="0" dirty="0">
                <a:solidFill>
                  <a:srgbClr val="6C6C6C"/>
                </a:solidFill>
                <a:effectLst/>
              </a:rPr>
              <a:t> </a:t>
            </a:r>
            <a:r>
              <a:rPr lang="en-US" b="0" i="0" dirty="0" err="1">
                <a:solidFill>
                  <a:srgbClr val="6C6C6C"/>
                </a:solidFill>
                <a:effectLst/>
              </a:rPr>
              <a:t>đánh</a:t>
            </a:r>
            <a:r>
              <a:rPr lang="en-US" b="0" i="0" dirty="0">
                <a:solidFill>
                  <a:srgbClr val="6C6C6C"/>
                </a:solidFill>
                <a:effectLst/>
              </a:rPr>
              <a:t> </a:t>
            </a:r>
            <a:r>
              <a:rPr lang="en-US" b="0" i="0" dirty="0" err="1">
                <a:solidFill>
                  <a:srgbClr val="6C6C6C"/>
                </a:solidFill>
                <a:effectLst/>
              </a:rPr>
              <a:t>giá</a:t>
            </a:r>
            <a:r>
              <a:rPr lang="en-US" b="0" i="0" dirty="0">
                <a:solidFill>
                  <a:srgbClr val="6C6C6C"/>
                </a:solidFill>
                <a:effectLst/>
              </a:rPr>
              <a:t> </a:t>
            </a:r>
            <a:r>
              <a:rPr lang="en-US" b="0" i="0" dirty="0" err="1">
                <a:solidFill>
                  <a:srgbClr val="6C6C6C"/>
                </a:solidFill>
                <a:effectLst/>
              </a:rPr>
              <a:t>cho</a:t>
            </a:r>
            <a:r>
              <a:rPr lang="en-US" b="0" i="0" dirty="0">
                <a:solidFill>
                  <a:srgbClr val="6C6C6C"/>
                </a:solidFill>
                <a:effectLst/>
              </a:rPr>
              <a:t> </a:t>
            </a:r>
            <a:r>
              <a:rPr lang="en-US" b="0" i="0" dirty="0" err="1">
                <a:solidFill>
                  <a:srgbClr val="6C6C6C"/>
                </a:solidFill>
                <a:effectLst/>
              </a:rPr>
              <a:t>bài</a:t>
            </a:r>
            <a:r>
              <a:rPr lang="en-US" b="0" i="0" dirty="0">
                <a:solidFill>
                  <a:srgbClr val="6C6C6C"/>
                </a:solidFill>
                <a:effectLst/>
              </a:rPr>
              <a:t> </a:t>
            </a:r>
            <a:r>
              <a:rPr lang="en-US" b="0" i="0" dirty="0" err="1">
                <a:solidFill>
                  <a:srgbClr val="6C6C6C"/>
                </a:solidFill>
                <a:effectLst/>
              </a:rPr>
              <a:t>toán</a:t>
            </a:r>
            <a:r>
              <a:rPr lang="en-US" b="0" i="0" dirty="0">
                <a:solidFill>
                  <a:srgbClr val="6C6C6C"/>
                </a:solidFill>
                <a:effectLst/>
              </a:rPr>
              <a:t> </a:t>
            </a:r>
            <a:r>
              <a:rPr lang="en-US" b="0" i="0" dirty="0" err="1">
                <a:solidFill>
                  <a:srgbClr val="6C6C6C"/>
                </a:solidFill>
                <a:effectLst/>
              </a:rPr>
              <a:t>phân</a:t>
            </a:r>
            <a:r>
              <a:rPr lang="en-US" b="0" i="0" dirty="0">
                <a:solidFill>
                  <a:srgbClr val="6C6C6C"/>
                </a:solidFill>
                <a:effectLst/>
              </a:rPr>
              <a:t> </a:t>
            </a:r>
            <a:r>
              <a:rPr lang="en-US" b="0" i="0" dirty="0" err="1">
                <a:solidFill>
                  <a:srgbClr val="6C6C6C"/>
                </a:solidFill>
                <a:effectLst/>
              </a:rPr>
              <a:t>loại</a:t>
            </a:r>
            <a:r>
              <a:rPr lang="en-US" b="0" i="0" dirty="0">
                <a:solidFill>
                  <a:srgbClr val="6C6C6C"/>
                </a:solidFill>
                <a:effectLst/>
              </a:rPr>
              <a:t>, </a:t>
            </a:r>
            <a:r>
              <a:rPr lang="en-US" b="0" i="0" dirty="0" err="1">
                <a:solidFill>
                  <a:srgbClr val="6C6C6C"/>
                </a:solidFill>
                <a:effectLst/>
              </a:rPr>
              <a:t>kết</a:t>
            </a:r>
            <a:r>
              <a:rPr lang="en-US" b="0" i="0" dirty="0">
                <a:solidFill>
                  <a:srgbClr val="6C6C6C"/>
                </a:solidFill>
                <a:effectLst/>
              </a:rPr>
              <a:t> </a:t>
            </a:r>
            <a:r>
              <a:rPr lang="en-US" b="0" i="0" dirty="0" err="1">
                <a:solidFill>
                  <a:srgbClr val="6C6C6C"/>
                </a:solidFill>
                <a:effectLst/>
              </a:rPr>
              <a:t>hợp</a:t>
            </a:r>
            <a:r>
              <a:rPr lang="en-US" b="0" i="0" dirty="0">
                <a:solidFill>
                  <a:srgbClr val="6C6C6C"/>
                </a:solidFill>
                <a:effectLst/>
              </a:rPr>
              <a:t> Precision </a:t>
            </a:r>
            <a:r>
              <a:rPr lang="en-US" b="0" i="0" dirty="0" err="1">
                <a:solidFill>
                  <a:srgbClr val="6C6C6C"/>
                </a:solidFill>
                <a:effectLst/>
              </a:rPr>
              <a:t>và</a:t>
            </a:r>
            <a:r>
              <a:rPr lang="en-US" b="0" i="0" dirty="0">
                <a:solidFill>
                  <a:srgbClr val="6C6C6C"/>
                </a:solidFill>
                <a:effectLst/>
              </a:rPr>
              <a:t> Recall.</a:t>
            </a:r>
            <a:br>
              <a:rPr lang="en-US" dirty="0">
                <a:solidFill>
                  <a:srgbClr val="6C6C6C"/>
                </a:solidFill>
              </a:rPr>
            </a:br>
            <a:r>
              <a:rPr lang="en-US" b="1" i="0" dirty="0" err="1">
                <a:solidFill>
                  <a:srgbClr val="6C6C6C"/>
                </a:solidFill>
                <a:effectLst/>
              </a:rPr>
              <a:t>cross_val_score</a:t>
            </a:r>
            <a:r>
              <a:rPr lang="en-US" b="1" i="0" dirty="0">
                <a:solidFill>
                  <a:srgbClr val="6C6C6C"/>
                </a:solidFill>
                <a:effectLst/>
              </a:rPr>
              <a:t>: </a:t>
            </a:r>
            <a:r>
              <a:rPr lang="en-US" b="0" i="0" dirty="0" err="1">
                <a:solidFill>
                  <a:srgbClr val="6C6C6C"/>
                </a:solidFill>
                <a:effectLst/>
              </a:rPr>
              <a:t>Đánh</a:t>
            </a:r>
            <a:r>
              <a:rPr lang="en-US" b="0" i="0" dirty="0">
                <a:solidFill>
                  <a:srgbClr val="6C6C6C"/>
                </a:solidFill>
                <a:effectLst/>
              </a:rPr>
              <a:t> </a:t>
            </a:r>
            <a:r>
              <a:rPr lang="en-US" b="0" i="0" dirty="0" err="1">
                <a:solidFill>
                  <a:srgbClr val="6C6C6C"/>
                </a:solidFill>
                <a:effectLst/>
              </a:rPr>
              <a:t>giá</a:t>
            </a:r>
            <a:r>
              <a:rPr lang="en-US" b="0" i="0" dirty="0">
                <a:solidFill>
                  <a:srgbClr val="6C6C6C"/>
                </a:solidFill>
                <a:effectLst/>
              </a:rPr>
              <a:t> </a:t>
            </a:r>
            <a:r>
              <a:rPr lang="en-US" b="0" i="0" dirty="0" err="1">
                <a:solidFill>
                  <a:srgbClr val="6C6C6C"/>
                </a:solidFill>
                <a:effectLst/>
              </a:rPr>
              <a:t>mô</a:t>
            </a:r>
            <a:r>
              <a:rPr lang="en-US" b="0" i="0" dirty="0">
                <a:solidFill>
                  <a:srgbClr val="6C6C6C"/>
                </a:solidFill>
                <a:effectLst/>
              </a:rPr>
              <a:t> </a:t>
            </a:r>
            <a:r>
              <a:rPr lang="en-US" b="0" i="0" dirty="0" err="1">
                <a:solidFill>
                  <a:srgbClr val="6C6C6C"/>
                </a:solidFill>
                <a:effectLst/>
              </a:rPr>
              <a:t>hình</a:t>
            </a:r>
            <a:r>
              <a:rPr lang="en-US" b="0" i="0" dirty="0">
                <a:solidFill>
                  <a:srgbClr val="6C6C6C"/>
                </a:solidFill>
                <a:effectLst/>
              </a:rPr>
              <a:t> </a:t>
            </a:r>
            <a:r>
              <a:rPr lang="en-US" b="0" i="0" dirty="0" err="1">
                <a:solidFill>
                  <a:srgbClr val="6C6C6C"/>
                </a:solidFill>
                <a:effectLst/>
              </a:rPr>
              <a:t>bằng</a:t>
            </a:r>
            <a:r>
              <a:rPr lang="en-US" b="0" i="0" dirty="0">
                <a:solidFill>
                  <a:srgbClr val="6C6C6C"/>
                </a:solidFill>
                <a:effectLst/>
              </a:rPr>
              <a:t> k-fold cross-validation</a:t>
            </a:r>
            <a:r>
              <a:rPr lang="en-US" b="0" i="0" dirty="0">
                <a:solidFill>
                  <a:srgbClr val="0F1115"/>
                </a:solidFill>
                <a:effectLst/>
              </a:rPr>
              <a:t>.</a:t>
            </a:r>
            <a:endParaRPr lang="en-US" dirty="0"/>
          </a:p>
        </p:txBody>
      </p:sp>
      <p:pic>
        <p:nvPicPr>
          <p:cNvPr id="6" name="Picture 5" descr="A diagram of a network&#10;&#10;AI-generated content may be incorrect.">
            <a:extLst>
              <a:ext uri="{FF2B5EF4-FFF2-40B4-BE49-F238E27FC236}">
                <a16:creationId xmlns:a16="http://schemas.microsoft.com/office/drawing/2014/main" id="{CADDB652-76D3-1F41-BEE7-C052C5F5344A}"/>
              </a:ext>
            </a:extLst>
          </p:cNvPr>
          <p:cNvPicPr>
            <a:picLocks noChangeAspect="1"/>
          </p:cNvPicPr>
          <p:nvPr/>
        </p:nvPicPr>
        <p:blipFill>
          <a:blip r:embed="rId3"/>
          <a:stretch>
            <a:fillRect/>
          </a:stretch>
        </p:blipFill>
        <p:spPr>
          <a:xfrm>
            <a:off x="7423355" y="2142165"/>
            <a:ext cx="4581832" cy="3058726"/>
          </a:xfrm>
          <a:prstGeom prst="rect">
            <a:avLst/>
          </a:prstGeom>
        </p:spPr>
      </p:pic>
    </p:spTree>
    <p:extLst>
      <p:ext uri="{BB962C8B-B14F-4D97-AF65-F5344CB8AC3E}">
        <p14:creationId xmlns:p14="http://schemas.microsoft.com/office/powerpoint/2010/main" val="29667652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629200" y="77167"/>
            <a:ext cx="10962800" cy="894000"/>
          </a:xfrm>
        </p:spPr>
        <p:txBody>
          <a:bodyPr/>
          <a:lstStyle/>
          <a:p>
            <a:r>
              <a:rPr lang="en" sz="4800" b="1" dirty="0"/>
              <a:t>Giới thiệu</a:t>
            </a:r>
            <a:endParaRPr lang="en-US" sz="4800" dirty="0"/>
          </a:p>
        </p:txBody>
      </p:sp>
      <p:sp>
        <p:nvSpPr>
          <p:cNvPr id="7" name="TextBox 6"/>
          <p:cNvSpPr txBox="1"/>
          <p:nvPr/>
        </p:nvSpPr>
        <p:spPr>
          <a:xfrm>
            <a:off x="404585" y="1256584"/>
            <a:ext cx="7719380" cy="1200329"/>
          </a:xfrm>
          <a:prstGeom prst="rect">
            <a:avLst/>
          </a:prstGeom>
          <a:noFill/>
        </p:spPr>
        <p:txBody>
          <a:bodyPr wrap="square" rtlCol="0">
            <a:spAutoFit/>
          </a:bodyPr>
          <a:lstStyle/>
          <a:p>
            <a:r>
              <a:rPr lang="en-US" b="1" dirty="0" err="1">
                <a:solidFill>
                  <a:srgbClr val="424242"/>
                </a:solidFill>
              </a:rPr>
              <a:t>XGBoost</a:t>
            </a:r>
            <a:r>
              <a:rPr lang="vi-VN" dirty="0">
                <a:solidFill>
                  <a:schemeClr val="bg2"/>
                </a:solidFill>
              </a:rPr>
              <a:t> </a:t>
            </a:r>
            <a:r>
              <a:rPr lang="vi-VN" dirty="0">
                <a:solidFill>
                  <a:srgbClr val="424242"/>
                </a:solidFill>
              </a:rPr>
              <a:t>là một </a:t>
            </a:r>
            <a:r>
              <a:rPr lang="vi-VN" b="1" dirty="0">
                <a:solidFill>
                  <a:srgbClr val="424242"/>
                </a:solidFill>
              </a:rPr>
              <a:t>thuật toán Gradient Boosting nâng cao, được tối ưu hóa cho hiệu suất và tốc độ</a:t>
            </a:r>
            <a:r>
              <a:rPr lang="vi-VN" dirty="0">
                <a:solidFill>
                  <a:srgbClr val="424242"/>
                </a:solidFill>
              </a:rPr>
              <a:t>. Nó thuộc họ các mô hình </a:t>
            </a:r>
            <a:r>
              <a:rPr lang="vi-VN" b="1" dirty="0">
                <a:solidFill>
                  <a:srgbClr val="424242"/>
                </a:solidFill>
              </a:rPr>
              <a:t>ensemble learning</a:t>
            </a:r>
            <a:r>
              <a:rPr lang="vi-VN" dirty="0">
                <a:solidFill>
                  <a:srgbClr val="424242"/>
                </a:solidFill>
              </a:rPr>
              <a:t>, kết hợp nhiều "cây quyết định yếu" (thường là cây nông) theo cách tuần tự để tạo ra một mô hình mạnh</a:t>
            </a:r>
            <a:r>
              <a:rPr lang="vi-VN" dirty="0">
                <a:solidFill>
                  <a:schemeClr val="bg2"/>
                </a:solidFill>
              </a:rPr>
              <a:t>.</a:t>
            </a:r>
            <a:r>
              <a:rPr lang="en-US" dirty="0">
                <a:solidFill>
                  <a:schemeClr val="bg2"/>
                </a:solidFill>
              </a:rPr>
              <a:t> </a:t>
            </a:r>
            <a:r>
              <a:rPr lang="en-US" dirty="0" err="1">
                <a:solidFill>
                  <a:schemeClr val="bg2"/>
                </a:solidFill>
              </a:rPr>
              <a:t>Nó</a:t>
            </a:r>
            <a:r>
              <a:rPr lang="en-US" dirty="0">
                <a:solidFill>
                  <a:schemeClr val="bg2"/>
                </a:solidFill>
              </a:rPr>
              <a:t> bao </a:t>
            </a:r>
            <a:r>
              <a:rPr lang="en-US" dirty="0" err="1">
                <a:solidFill>
                  <a:schemeClr val="bg2"/>
                </a:solidFill>
              </a:rPr>
              <a:t>gồm</a:t>
            </a:r>
            <a:r>
              <a:rPr lang="en-US" dirty="0">
                <a:solidFill>
                  <a:schemeClr val="bg2"/>
                </a:solidFill>
              </a:rPr>
              <a:t>:</a:t>
            </a:r>
          </a:p>
        </p:txBody>
      </p:sp>
      <p:sp>
        <p:nvSpPr>
          <p:cNvPr id="17" name="TextBox 16"/>
          <p:cNvSpPr txBox="1"/>
          <p:nvPr/>
        </p:nvSpPr>
        <p:spPr>
          <a:xfrm>
            <a:off x="9056866" y="5382139"/>
            <a:ext cx="755640" cy="307777"/>
          </a:xfrm>
          <a:prstGeom prst="rect">
            <a:avLst/>
          </a:prstGeom>
          <a:noFill/>
        </p:spPr>
        <p:txBody>
          <a:bodyPr wrap="square" rtlCol="0">
            <a:spAutoFit/>
          </a:bodyPr>
          <a:lstStyle/>
          <a:p>
            <a:r>
              <a:rPr lang="en-US" sz="1400" b="1" dirty="0">
                <a:solidFill>
                  <a:schemeClr val="bg1"/>
                </a:solidFill>
                <a:latin typeface="Roboto" panose="020B0604020202020204" charset="0"/>
                <a:ea typeface="Roboto" panose="020B0604020202020204" charset="0"/>
              </a:rPr>
              <a:t>Model</a:t>
            </a:r>
          </a:p>
        </p:txBody>
      </p:sp>
      <p:pic>
        <p:nvPicPr>
          <p:cNvPr id="18" name="Picture 17" descr="A diagram of a data set&#10;&#10;AI-generated content may be incorrect.">
            <a:extLst>
              <a:ext uri="{FF2B5EF4-FFF2-40B4-BE49-F238E27FC236}">
                <a16:creationId xmlns:a16="http://schemas.microsoft.com/office/drawing/2014/main" id="{7545C658-E8B6-E0FD-3696-F18974425BDD}"/>
              </a:ext>
            </a:extLst>
          </p:cNvPr>
          <p:cNvPicPr>
            <a:picLocks noChangeAspect="1"/>
          </p:cNvPicPr>
          <p:nvPr/>
        </p:nvPicPr>
        <p:blipFill>
          <a:blip r:embed="rId2"/>
          <a:stretch>
            <a:fillRect/>
          </a:stretch>
        </p:blipFill>
        <p:spPr>
          <a:xfrm>
            <a:off x="7734129" y="2120308"/>
            <a:ext cx="4381855" cy="3569608"/>
          </a:xfrm>
          <a:prstGeom prst="rect">
            <a:avLst/>
          </a:prstGeom>
        </p:spPr>
      </p:pic>
      <p:sp>
        <p:nvSpPr>
          <p:cNvPr id="20" name="TextBox 19">
            <a:extLst>
              <a:ext uri="{FF2B5EF4-FFF2-40B4-BE49-F238E27FC236}">
                <a16:creationId xmlns:a16="http://schemas.microsoft.com/office/drawing/2014/main" id="{9BD87264-3CC7-6005-2434-BF0424FA1419}"/>
              </a:ext>
            </a:extLst>
          </p:cNvPr>
          <p:cNvSpPr txBox="1"/>
          <p:nvPr/>
        </p:nvSpPr>
        <p:spPr>
          <a:xfrm>
            <a:off x="404585" y="2474119"/>
            <a:ext cx="6096000" cy="367665"/>
          </a:xfrm>
          <a:prstGeom prst="rect">
            <a:avLst/>
          </a:prstGeom>
          <a:noFill/>
        </p:spPr>
        <p:txBody>
          <a:bodyPr wrap="square">
            <a:spAutoFit/>
          </a:bodyPr>
          <a:lstStyle/>
          <a:p>
            <a:pPr>
              <a:lnSpc>
                <a:spcPts val="2250"/>
              </a:lnSpc>
              <a:spcBef>
                <a:spcPts val="2400"/>
              </a:spcBef>
              <a:spcAft>
                <a:spcPts val="1200"/>
              </a:spcAft>
            </a:pPr>
            <a:r>
              <a:rPr lang="en-US" b="1" dirty="0">
                <a:solidFill>
                  <a:srgbClr val="424242"/>
                </a:solidFill>
                <a:effectLst/>
                <a:cs typeface="Times New Roman" panose="02020603050405020304" pitchFamily="18" charset="0"/>
              </a:rPr>
              <a:t>Learning Rate (</a:t>
            </a:r>
            <a:r>
              <a:rPr lang="el-GR" b="1" dirty="0">
                <a:solidFill>
                  <a:srgbClr val="424242"/>
                </a:solidFill>
                <a:effectLst/>
                <a:cs typeface="Times New Roman" panose="02020603050405020304" pitchFamily="18" charset="0"/>
              </a:rPr>
              <a:t>η)</a:t>
            </a:r>
            <a:r>
              <a:rPr lang="en-US" b="1" dirty="0">
                <a:solidFill>
                  <a:srgbClr val="424242"/>
                </a:solidFill>
                <a:effectLst/>
                <a:cs typeface="Times New Roman" panose="02020603050405020304" pitchFamily="18" charset="0"/>
              </a:rPr>
              <a:t>: </a:t>
            </a:r>
            <a:r>
              <a:rPr lang="vi-VN" dirty="0">
                <a:solidFill>
                  <a:srgbClr val="424242"/>
                </a:solidFill>
                <a:cs typeface="Times New Roman" panose="02020603050405020304" pitchFamily="18" charset="0"/>
              </a:rPr>
              <a:t>Tốc độ học</a:t>
            </a:r>
            <a:endParaRPr lang="en-US" dirty="0">
              <a:solidFill>
                <a:srgbClr val="424242"/>
              </a:solidFill>
              <a:cs typeface="Times New Roman" panose="02020603050405020304" pitchFamily="18" charset="0"/>
            </a:endParaRPr>
          </a:p>
        </p:txBody>
      </p:sp>
      <p:sp>
        <p:nvSpPr>
          <p:cNvPr id="22" name="TextBox 21">
            <a:extLst>
              <a:ext uri="{FF2B5EF4-FFF2-40B4-BE49-F238E27FC236}">
                <a16:creationId xmlns:a16="http://schemas.microsoft.com/office/drawing/2014/main" id="{40852AD8-7A35-22AE-5E41-E5A1B5151D6B}"/>
              </a:ext>
            </a:extLst>
          </p:cNvPr>
          <p:cNvSpPr txBox="1"/>
          <p:nvPr/>
        </p:nvSpPr>
        <p:spPr>
          <a:xfrm>
            <a:off x="404585" y="2841784"/>
            <a:ext cx="6096000" cy="367665"/>
          </a:xfrm>
          <a:prstGeom prst="rect">
            <a:avLst/>
          </a:prstGeom>
          <a:noFill/>
        </p:spPr>
        <p:txBody>
          <a:bodyPr wrap="square">
            <a:spAutoFit/>
          </a:bodyPr>
          <a:lstStyle/>
          <a:p>
            <a:pPr>
              <a:lnSpc>
                <a:spcPts val="2250"/>
              </a:lnSpc>
              <a:spcBef>
                <a:spcPts val="2400"/>
              </a:spcBef>
              <a:spcAft>
                <a:spcPts val="1200"/>
              </a:spcAft>
            </a:pPr>
            <a:r>
              <a:rPr lang="en-US" b="1" dirty="0">
                <a:solidFill>
                  <a:srgbClr val="424242"/>
                </a:solidFill>
                <a:effectLst/>
                <a:cs typeface="Times New Roman" panose="02020603050405020304" pitchFamily="18" charset="0"/>
              </a:rPr>
              <a:t>Max Depth: </a:t>
            </a:r>
            <a:r>
              <a:rPr lang="en-US" dirty="0" err="1">
                <a:solidFill>
                  <a:srgbClr val="424242"/>
                </a:solidFill>
                <a:cs typeface="Times New Roman" panose="02020603050405020304" pitchFamily="18" charset="0"/>
              </a:rPr>
              <a:t>Độ</a:t>
            </a:r>
            <a:r>
              <a:rPr lang="en-US" dirty="0">
                <a:solidFill>
                  <a:srgbClr val="424242"/>
                </a:solidFill>
                <a:cs typeface="Times New Roman" panose="02020603050405020304" pitchFamily="18" charset="0"/>
              </a:rPr>
              <a:t> </a:t>
            </a:r>
            <a:r>
              <a:rPr lang="en-US" dirty="0" err="1">
                <a:solidFill>
                  <a:srgbClr val="424242"/>
                </a:solidFill>
                <a:cs typeface="Times New Roman" panose="02020603050405020304" pitchFamily="18" charset="0"/>
              </a:rPr>
              <a:t>sâu</a:t>
            </a:r>
            <a:r>
              <a:rPr lang="en-US" dirty="0">
                <a:solidFill>
                  <a:srgbClr val="424242"/>
                </a:solidFill>
                <a:cs typeface="Times New Roman" panose="02020603050405020304" pitchFamily="18" charset="0"/>
              </a:rPr>
              <a:t> </a:t>
            </a:r>
            <a:r>
              <a:rPr lang="en-US" dirty="0" err="1">
                <a:solidFill>
                  <a:srgbClr val="424242"/>
                </a:solidFill>
                <a:cs typeface="Times New Roman" panose="02020603050405020304" pitchFamily="18" charset="0"/>
              </a:rPr>
              <a:t>tối</a:t>
            </a:r>
            <a:r>
              <a:rPr lang="en-US" dirty="0">
                <a:solidFill>
                  <a:srgbClr val="424242"/>
                </a:solidFill>
                <a:cs typeface="Times New Roman" panose="02020603050405020304" pitchFamily="18" charset="0"/>
              </a:rPr>
              <a:t> </a:t>
            </a:r>
            <a:r>
              <a:rPr lang="en-US" dirty="0" err="1">
                <a:solidFill>
                  <a:srgbClr val="424242"/>
                </a:solidFill>
                <a:cs typeface="Times New Roman" panose="02020603050405020304" pitchFamily="18" charset="0"/>
              </a:rPr>
              <a:t>đa</a:t>
            </a:r>
            <a:r>
              <a:rPr lang="en-US" dirty="0">
                <a:solidFill>
                  <a:srgbClr val="424242"/>
                </a:solidFill>
                <a:cs typeface="Times New Roman" panose="02020603050405020304" pitchFamily="18" charset="0"/>
              </a:rPr>
              <a:t> </a:t>
            </a:r>
            <a:r>
              <a:rPr lang="en-US" dirty="0" err="1">
                <a:solidFill>
                  <a:srgbClr val="424242"/>
                </a:solidFill>
                <a:cs typeface="Times New Roman" panose="02020603050405020304" pitchFamily="18" charset="0"/>
              </a:rPr>
              <a:t>của</a:t>
            </a:r>
            <a:r>
              <a:rPr lang="en-US" dirty="0">
                <a:solidFill>
                  <a:srgbClr val="424242"/>
                </a:solidFill>
                <a:cs typeface="Times New Roman" panose="02020603050405020304" pitchFamily="18" charset="0"/>
              </a:rPr>
              <a:t> </a:t>
            </a:r>
            <a:r>
              <a:rPr lang="en-US" dirty="0" err="1">
                <a:solidFill>
                  <a:srgbClr val="424242"/>
                </a:solidFill>
                <a:cs typeface="Times New Roman" panose="02020603050405020304" pitchFamily="18" charset="0"/>
              </a:rPr>
              <a:t>mỗi</a:t>
            </a:r>
            <a:r>
              <a:rPr lang="en-US" dirty="0">
                <a:solidFill>
                  <a:srgbClr val="424242"/>
                </a:solidFill>
                <a:cs typeface="Times New Roman" panose="02020603050405020304" pitchFamily="18" charset="0"/>
              </a:rPr>
              <a:t> </a:t>
            </a:r>
            <a:r>
              <a:rPr lang="en-US" dirty="0" err="1">
                <a:solidFill>
                  <a:srgbClr val="424242"/>
                </a:solidFill>
                <a:cs typeface="Times New Roman" panose="02020603050405020304" pitchFamily="18" charset="0"/>
              </a:rPr>
              <a:t>cây</a:t>
            </a:r>
            <a:endParaRPr lang="en-US" b="1" dirty="0">
              <a:solidFill>
                <a:srgbClr val="424242"/>
              </a:solidFill>
              <a:effectLst/>
              <a:cs typeface="Times New Roman" panose="02020603050405020304" pitchFamily="18" charset="0"/>
            </a:endParaRPr>
          </a:p>
        </p:txBody>
      </p:sp>
      <p:sp>
        <p:nvSpPr>
          <p:cNvPr id="24" name="TextBox 23">
            <a:extLst>
              <a:ext uri="{FF2B5EF4-FFF2-40B4-BE49-F238E27FC236}">
                <a16:creationId xmlns:a16="http://schemas.microsoft.com/office/drawing/2014/main" id="{5B7C3055-1983-9C75-157B-74D53FEC2243}"/>
              </a:ext>
            </a:extLst>
          </p:cNvPr>
          <p:cNvSpPr txBox="1"/>
          <p:nvPr/>
        </p:nvSpPr>
        <p:spPr>
          <a:xfrm>
            <a:off x="404585" y="3202653"/>
            <a:ext cx="6096000" cy="374461"/>
          </a:xfrm>
          <a:prstGeom prst="rect">
            <a:avLst/>
          </a:prstGeom>
          <a:noFill/>
        </p:spPr>
        <p:txBody>
          <a:bodyPr wrap="square">
            <a:spAutoFit/>
          </a:bodyPr>
          <a:lstStyle/>
          <a:p>
            <a:pPr>
              <a:lnSpc>
                <a:spcPts val="2250"/>
              </a:lnSpc>
              <a:spcBef>
                <a:spcPts val="2400"/>
              </a:spcBef>
              <a:spcAft>
                <a:spcPts val="1200"/>
              </a:spcAft>
            </a:pPr>
            <a:r>
              <a:rPr lang="en-US" b="1" dirty="0">
                <a:solidFill>
                  <a:srgbClr val="424242"/>
                </a:solidFill>
                <a:effectLst/>
              </a:rPr>
              <a:t>Gamma: </a:t>
            </a:r>
            <a:r>
              <a:rPr lang="vi-VN" dirty="0">
                <a:solidFill>
                  <a:srgbClr val="424242"/>
                </a:solidFill>
              </a:rPr>
              <a:t>Ngưỡng giảm loss tối thiểu để tách nút</a:t>
            </a:r>
            <a:endParaRPr lang="en-US" b="1" dirty="0">
              <a:solidFill>
                <a:srgbClr val="424242"/>
              </a:solidFill>
              <a:effectLst/>
            </a:endParaRPr>
          </a:p>
        </p:txBody>
      </p:sp>
      <p:sp>
        <p:nvSpPr>
          <p:cNvPr id="26" name="TextBox 25">
            <a:extLst>
              <a:ext uri="{FF2B5EF4-FFF2-40B4-BE49-F238E27FC236}">
                <a16:creationId xmlns:a16="http://schemas.microsoft.com/office/drawing/2014/main" id="{56D42118-3401-E6EE-416D-C6EA21DD8DB7}"/>
              </a:ext>
            </a:extLst>
          </p:cNvPr>
          <p:cNvSpPr txBox="1"/>
          <p:nvPr/>
        </p:nvSpPr>
        <p:spPr>
          <a:xfrm>
            <a:off x="404585" y="3556244"/>
            <a:ext cx="6096000" cy="374461"/>
          </a:xfrm>
          <a:prstGeom prst="rect">
            <a:avLst/>
          </a:prstGeom>
          <a:noFill/>
        </p:spPr>
        <p:txBody>
          <a:bodyPr wrap="square">
            <a:spAutoFit/>
          </a:bodyPr>
          <a:lstStyle/>
          <a:p>
            <a:pPr>
              <a:lnSpc>
                <a:spcPts val="2250"/>
              </a:lnSpc>
              <a:spcBef>
                <a:spcPts val="2400"/>
              </a:spcBef>
              <a:spcAft>
                <a:spcPts val="1200"/>
              </a:spcAft>
            </a:pPr>
            <a:r>
              <a:rPr lang="en-US" b="1" dirty="0">
                <a:solidFill>
                  <a:srgbClr val="424242"/>
                </a:solidFill>
                <a:effectLst/>
              </a:rPr>
              <a:t>Subsample: </a:t>
            </a:r>
            <a:r>
              <a:rPr lang="en-US" dirty="0" err="1">
                <a:solidFill>
                  <a:srgbClr val="424242"/>
                </a:solidFill>
              </a:rPr>
              <a:t>Tỷ</a:t>
            </a:r>
            <a:r>
              <a:rPr lang="en-US" dirty="0">
                <a:solidFill>
                  <a:srgbClr val="424242"/>
                </a:solidFill>
              </a:rPr>
              <a:t> </a:t>
            </a:r>
            <a:r>
              <a:rPr lang="en-US" dirty="0" err="1">
                <a:solidFill>
                  <a:srgbClr val="424242"/>
                </a:solidFill>
              </a:rPr>
              <a:t>lệ</a:t>
            </a:r>
            <a:r>
              <a:rPr lang="en-US" dirty="0">
                <a:solidFill>
                  <a:srgbClr val="424242"/>
                </a:solidFill>
              </a:rPr>
              <a:t> </a:t>
            </a:r>
            <a:r>
              <a:rPr lang="en-US" dirty="0" err="1">
                <a:solidFill>
                  <a:srgbClr val="424242"/>
                </a:solidFill>
              </a:rPr>
              <a:t>mẫu</a:t>
            </a:r>
            <a:r>
              <a:rPr lang="en-US" dirty="0">
                <a:solidFill>
                  <a:srgbClr val="424242"/>
                </a:solidFill>
              </a:rPr>
              <a:t> </a:t>
            </a:r>
            <a:r>
              <a:rPr lang="en-US" dirty="0" err="1">
                <a:solidFill>
                  <a:srgbClr val="424242"/>
                </a:solidFill>
              </a:rPr>
              <a:t>dùng</a:t>
            </a:r>
            <a:r>
              <a:rPr lang="en-US" dirty="0">
                <a:solidFill>
                  <a:srgbClr val="424242"/>
                </a:solidFill>
              </a:rPr>
              <a:t> </a:t>
            </a:r>
            <a:r>
              <a:rPr lang="en-US" dirty="0" err="1">
                <a:solidFill>
                  <a:srgbClr val="424242"/>
                </a:solidFill>
              </a:rPr>
              <a:t>cho</a:t>
            </a:r>
            <a:r>
              <a:rPr lang="en-US" dirty="0">
                <a:solidFill>
                  <a:srgbClr val="424242"/>
                </a:solidFill>
              </a:rPr>
              <a:t> </a:t>
            </a:r>
            <a:r>
              <a:rPr lang="en-US" dirty="0" err="1">
                <a:solidFill>
                  <a:srgbClr val="424242"/>
                </a:solidFill>
              </a:rPr>
              <a:t>mỗi</a:t>
            </a:r>
            <a:r>
              <a:rPr lang="en-US" dirty="0">
                <a:solidFill>
                  <a:srgbClr val="424242"/>
                </a:solidFill>
              </a:rPr>
              <a:t> </a:t>
            </a:r>
            <a:r>
              <a:rPr lang="en-US" dirty="0" err="1">
                <a:solidFill>
                  <a:srgbClr val="424242"/>
                </a:solidFill>
              </a:rPr>
              <a:t>cây</a:t>
            </a:r>
            <a:endParaRPr lang="en-US" b="1" dirty="0">
              <a:solidFill>
                <a:srgbClr val="424242"/>
              </a:solidFill>
              <a:effectLst/>
            </a:endParaRPr>
          </a:p>
        </p:txBody>
      </p:sp>
      <p:sp>
        <p:nvSpPr>
          <p:cNvPr id="28" name="TextBox 27">
            <a:extLst>
              <a:ext uri="{FF2B5EF4-FFF2-40B4-BE49-F238E27FC236}">
                <a16:creationId xmlns:a16="http://schemas.microsoft.com/office/drawing/2014/main" id="{EB5692B4-241C-771D-2ECF-CA6DD83347B3}"/>
              </a:ext>
            </a:extLst>
          </p:cNvPr>
          <p:cNvSpPr txBox="1"/>
          <p:nvPr/>
        </p:nvSpPr>
        <p:spPr>
          <a:xfrm>
            <a:off x="404585" y="3930705"/>
            <a:ext cx="6096000" cy="374461"/>
          </a:xfrm>
          <a:prstGeom prst="rect">
            <a:avLst/>
          </a:prstGeom>
          <a:noFill/>
        </p:spPr>
        <p:txBody>
          <a:bodyPr wrap="square">
            <a:spAutoFit/>
          </a:bodyPr>
          <a:lstStyle/>
          <a:p>
            <a:pPr>
              <a:lnSpc>
                <a:spcPts val="2250"/>
              </a:lnSpc>
              <a:spcBef>
                <a:spcPts val="2400"/>
              </a:spcBef>
              <a:spcAft>
                <a:spcPts val="1200"/>
              </a:spcAft>
            </a:pPr>
            <a:r>
              <a:rPr lang="en-US" b="1">
                <a:solidFill>
                  <a:srgbClr val="424242"/>
                </a:solidFill>
                <a:effectLst/>
              </a:rPr>
              <a:t>Colsample Bytree: </a:t>
            </a:r>
            <a:r>
              <a:rPr lang="vi-VN">
                <a:solidFill>
                  <a:srgbClr val="424242"/>
                </a:solidFill>
              </a:rPr>
              <a:t>Tỷ lệ đặc trưng dùng cho mỗi cây</a:t>
            </a:r>
            <a:endParaRPr lang="en-US" b="1" dirty="0">
              <a:solidFill>
                <a:srgbClr val="424242"/>
              </a:solidFill>
              <a:effectLst/>
            </a:endParaRPr>
          </a:p>
        </p:txBody>
      </p:sp>
      <p:sp>
        <p:nvSpPr>
          <p:cNvPr id="30" name="TextBox 29">
            <a:extLst>
              <a:ext uri="{FF2B5EF4-FFF2-40B4-BE49-F238E27FC236}">
                <a16:creationId xmlns:a16="http://schemas.microsoft.com/office/drawing/2014/main" id="{535E3593-16B7-D754-0D24-5FD4F2D42BB9}"/>
              </a:ext>
            </a:extLst>
          </p:cNvPr>
          <p:cNvSpPr txBox="1"/>
          <p:nvPr/>
        </p:nvSpPr>
        <p:spPr>
          <a:xfrm>
            <a:off x="404585" y="4277500"/>
            <a:ext cx="6096000" cy="372666"/>
          </a:xfrm>
          <a:prstGeom prst="rect">
            <a:avLst/>
          </a:prstGeom>
          <a:noFill/>
        </p:spPr>
        <p:txBody>
          <a:bodyPr wrap="square">
            <a:spAutoFit/>
          </a:bodyPr>
          <a:lstStyle/>
          <a:p>
            <a:pPr>
              <a:lnSpc>
                <a:spcPts val="2250"/>
              </a:lnSpc>
              <a:spcBef>
                <a:spcPts val="2400"/>
              </a:spcBef>
              <a:spcAft>
                <a:spcPts val="1200"/>
              </a:spcAft>
            </a:pPr>
            <a:r>
              <a:rPr lang="en-US" b="1" dirty="0" err="1">
                <a:solidFill>
                  <a:srgbClr val="424242"/>
                </a:solidFill>
                <a:effectLst/>
              </a:rPr>
              <a:t>n_estimators</a:t>
            </a:r>
            <a:r>
              <a:rPr lang="en-US" b="1" dirty="0">
                <a:solidFill>
                  <a:srgbClr val="424242"/>
                </a:solidFill>
              </a:rPr>
              <a:t>: </a:t>
            </a:r>
            <a:r>
              <a:rPr lang="vi-VN" dirty="0">
                <a:solidFill>
                  <a:srgbClr val="424242"/>
                </a:solidFill>
              </a:rPr>
              <a:t>Số lượng cây</a:t>
            </a:r>
            <a:endParaRPr lang="en-US" b="1" dirty="0">
              <a:solidFill>
                <a:srgbClr val="424242"/>
              </a:solidFill>
            </a:endParaRPr>
          </a:p>
        </p:txBody>
      </p:sp>
      <p:sp>
        <p:nvSpPr>
          <p:cNvPr id="32" name="TextBox 31">
            <a:extLst>
              <a:ext uri="{FF2B5EF4-FFF2-40B4-BE49-F238E27FC236}">
                <a16:creationId xmlns:a16="http://schemas.microsoft.com/office/drawing/2014/main" id="{55B52069-4C33-2468-B03D-148585F1EF87}"/>
              </a:ext>
            </a:extLst>
          </p:cNvPr>
          <p:cNvSpPr txBox="1"/>
          <p:nvPr/>
        </p:nvSpPr>
        <p:spPr>
          <a:xfrm>
            <a:off x="404585" y="4607250"/>
            <a:ext cx="6096000" cy="374461"/>
          </a:xfrm>
          <a:prstGeom prst="rect">
            <a:avLst/>
          </a:prstGeom>
          <a:noFill/>
        </p:spPr>
        <p:txBody>
          <a:bodyPr wrap="square">
            <a:spAutoFit/>
          </a:bodyPr>
          <a:lstStyle/>
          <a:p>
            <a:pPr>
              <a:lnSpc>
                <a:spcPts val="2250"/>
              </a:lnSpc>
              <a:spcBef>
                <a:spcPts val="2400"/>
              </a:spcBef>
              <a:spcAft>
                <a:spcPts val="1200"/>
              </a:spcAft>
            </a:pPr>
            <a:r>
              <a:rPr lang="en-US" b="1" dirty="0">
                <a:solidFill>
                  <a:srgbClr val="424242"/>
                </a:solidFill>
                <a:effectLst/>
              </a:rPr>
              <a:t>Alpha &amp; Lambda: </a:t>
            </a:r>
            <a:r>
              <a:rPr lang="en-US" dirty="0">
                <a:solidFill>
                  <a:srgbClr val="424242"/>
                </a:solidFill>
              </a:rPr>
              <a:t>L1 &amp; L2 regularization</a:t>
            </a:r>
            <a:endParaRPr lang="en-US" b="1" dirty="0">
              <a:solidFill>
                <a:srgbClr val="424242"/>
              </a:solidFill>
              <a:effectLst/>
            </a:endParaRPr>
          </a:p>
        </p:txBody>
      </p:sp>
      <p:sp>
        <p:nvSpPr>
          <p:cNvPr id="34" name="TextBox 33">
            <a:extLst>
              <a:ext uri="{FF2B5EF4-FFF2-40B4-BE49-F238E27FC236}">
                <a16:creationId xmlns:a16="http://schemas.microsoft.com/office/drawing/2014/main" id="{3D7AB96C-A13B-BAB3-30BF-B22DDF98C62E}"/>
              </a:ext>
            </a:extLst>
          </p:cNvPr>
          <p:cNvSpPr txBox="1"/>
          <p:nvPr/>
        </p:nvSpPr>
        <p:spPr>
          <a:xfrm>
            <a:off x="404585" y="4909491"/>
            <a:ext cx="6096000" cy="374461"/>
          </a:xfrm>
          <a:prstGeom prst="rect">
            <a:avLst/>
          </a:prstGeom>
          <a:noFill/>
        </p:spPr>
        <p:txBody>
          <a:bodyPr wrap="square">
            <a:spAutoFit/>
          </a:bodyPr>
          <a:lstStyle/>
          <a:p>
            <a:pPr>
              <a:lnSpc>
                <a:spcPts val="2250"/>
              </a:lnSpc>
              <a:spcBef>
                <a:spcPts val="2400"/>
              </a:spcBef>
              <a:spcAft>
                <a:spcPts val="1200"/>
              </a:spcAft>
            </a:pPr>
            <a:r>
              <a:rPr lang="en-US" b="1" dirty="0" err="1">
                <a:solidFill>
                  <a:srgbClr val="424242"/>
                </a:solidFill>
                <a:effectLst/>
              </a:rPr>
              <a:t>min_child_weight</a:t>
            </a:r>
            <a:r>
              <a:rPr lang="en-US" b="1" dirty="0">
                <a:solidFill>
                  <a:srgbClr val="424242"/>
                </a:solidFill>
                <a:effectLst/>
              </a:rPr>
              <a:t>: </a:t>
            </a:r>
            <a:r>
              <a:rPr lang="en-US" dirty="0" err="1">
                <a:solidFill>
                  <a:srgbClr val="424242"/>
                </a:solidFill>
              </a:rPr>
              <a:t>Trọng</a:t>
            </a:r>
            <a:r>
              <a:rPr lang="en-US" dirty="0">
                <a:solidFill>
                  <a:srgbClr val="424242"/>
                </a:solidFill>
              </a:rPr>
              <a:t> </a:t>
            </a:r>
            <a:r>
              <a:rPr lang="en-US" dirty="0" err="1">
                <a:solidFill>
                  <a:srgbClr val="424242"/>
                </a:solidFill>
              </a:rPr>
              <a:t>số</a:t>
            </a:r>
            <a:r>
              <a:rPr lang="en-US" dirty="0">
                <a:solidFill>
                  <a:srgbClr val="424242"/>
                </a:solidFill>
              </a:rPr>
              <a:t> </a:t>
            </a:r>
            <a:r>
              <a:rPr lang="en-US" dirty="0" err="1">
                <a:solidFill>
                  <a:srgbClr val="424242"/>
                </a:solidFill>
              </a:rPr>
              <a:t>tối</a:t>
            </a:r>
            <a:r>
              <a:rPr lang="en-US" dirty="0">
                <a:solidFill>
                  <a:srgbClr val="424242"/>
                </a:solidFill>
              </a:rPr>
              <a:t> </a:t>
            </a:r>
            <a:r>
              <a:rPr lang="en-US" dirty="0" err="1">
                <a:solidFill>
                  <a:srgbClr val="424242"/>
                </a:solidFill>
              </a:rPr>
              <a:t>thiểu</a:t>
            </a:r>
            <a:r>
              <a:rPr lang="en-US" dirty="0">
                <a:solidFill>
                  <a:srgbClr val="424242"/>
                </a:solidFill>
              </a:rPr>
              <a:t> </a:t>
            </a:r>
            <a:r>
              <a:rPr lang="en-US" dirty="0" err="1">
                <a:solidFill>
                  <a:srgbClr val="424242"/>
                </a:solidFill>
              </a:rPr>
              <a:t>tại</a:t>
            </a:r>
            <a:r>
              <a:rPr lang="en-US" dirty="0">
                <a:solidFill>
                  <a:srgbClr val="424242"/>
                </a:solidFill>
              </a:rPr>
              <a:t> </a:t>
            </a:r>
            <a:r>
              <a:rPr lang="en-US" dirty="0" err="1">
                <a:solidFill>
                  <a:srgbClr val="424242"/>
                </a:solidFill>
              </a:rPr>
              <a:t>một</a:t>
            </a:r>
            <a:r>
              <a:rPr lang="en-US" dirty="0">
                <a:solidFill>
                  <a:srgbClr val="424242"/>
                </a:solidFill>
              </a:rPr>
              <a:t> </a:t>
            </a:r>
            <a:r>
              <a:rPr lang="en-US" dirty="0" err="1">
                <a:solidFill>
                  <a:srgbClr val="424242"/>
                </a:solidFill>
              </a:rPr>
              <a:t>nút</a:t>
            </a:r>
            <a:endParaRPr lang="en-US" b="1" dirty="0">
              <a:solidFill>
                <a:srgbClr val="424242"/>
              </a:solidFill>
              <a:effectLst/>
            </a:endParaRPr>
          </a:p>
        </p:txBody>
      </p:sp>
      <p:sp>
        <p:nvSpPr>
          <p:cNvPr id="36" name="TextBox 35">
            <a:extLst>
              <a:ext uri="{FF2B5EF4-FFF2-40B4-BE49-F238E27FC236}">
                <a16:creationId xmlns:a16="http://schemas.microsoft.com/office/drawing/2014/main" id="{4AF721B4-C1F0-F581-E2EC-B4DD1B590BBD}"/>
              </a:ext>
            </a:extLst>
          </p:cNvPr>
          <p:cNvSpPr txBox="1"/>
          <p:nvPr/>
        </p:nvSpPr>
        <p:spPr>
          <a:xfrm>
            <a:off x="404585" y="5283795"/>
            <a:ext cx="6096000" cy="374461"/>
          </a:xfrm>
          <a:prstGeom prst="rect">
            <a:avLst/>
          </a:prstGeom>
          <a:noFill/>
        </p:spPr>
        <p:txBody>
          <a:bodyPr wrap="square">
            <a:spAutoFit/>
          </a:bodyPr>
          <a:lstStyle/>
          <a:p>
            <a:pPr>
              <a:lnSpc>
                <a:spcPts val="2250"/>
              </a:lnSpc>
              <a:spcBef>
                <a:spcPts val="2400"/>
              </a:spcBef>
              <a:spcAft>
                <a:spcPts val="1200"/>
              </a:spcAft>
            </a:pPr>
            <a:r>
              <a:rPr lang="en-US" b="1" dirty="0" err="1">
                <a:solidFill>
                  <a:srgbClr val="424242"/>
                </a:solidFill>
                <a:effectLst/>
              </a:rPr>
              <a:t>scale_pos_weight</a:t>
            </a:r>
            <a:r>
              <a:rPr lang="en-US" b="1" dirty="0">
                <a:solidFill>
                  <a:srgbClr val="424242"/>
                </a:solidFill>
                <a:effectLst/>
              </a:rPr>
              <a:t>: </a:t>
            </a:r>
            <a:r>
              <a:rPr lang="en-US" dirty="0" err="1">
                <a:solidFill>
                  <a:srgbClr val="424242"/>
                </a:solidFill>
              </a:rPr>
              <a:t>Cân</a:t>
            </a:r>
            <a:r>
              <a:rPr lang="en-US" dirty="0">
                <a:solidFill>
                  <a:srgbClr val="424242"/>
                </a:solidFill>
              </a:rPr>
              <a:t> </a:t>
            </a:r>
            <a:r>
              <a:rPr lang="en-US" dirty="0" err="1">
                <a:solidFill>
                  <a:srgbClr val="424242"/>
                </a:solidFill>
              </a:rPr>
              <a:t>bằng</a:t>
            </a:r>
            <a:r>
              <a:rPr lang="en-US" dirty="0">
                <a:solidFill>
                  <a:srgbClr val="424242"/>
                </a:solidFill>
              </a:rPr>
              <a:t> </a:t>
            </a:r>
            <a:r>
              <a:rPr lang="en-US" dirty="0" err="1">
                <a:solidFill>
                  <a:srgbClr val="424242"/>
                </a:solidFill>
              </a:rPr>
              <a:t>trọng</a:t>
            </a:r>
            <a:r>
              <a:rPr lang="en-US" dirty="0">
                <a:solidFill>
                  <a:srgbClr val="424242"/>
                </a:solidFill>
              </a:rPr>
              <a:t> </a:t>
            </a:r>
            <a:r>
              <a:rPr lang="en-US" dirty="0" err="1">
                <a:solidFill>
                  <a:srgbClr val="424242"/>
                </a:solidFill>
              </a:rPr>
              <a:t>số</a:t>
            </a:r>
            <a:r>
              <a:rPr lang="en-US" dirty="0">
                <a:solidFill>
                  <a:srgbClr val="424242"/>
                </a:solidFill>
              </a:rPr>
              <a:t> </a:t>
            </a:r>
            <a:r>
              <a:rPr lang="en-US" dirty="0" err="1">
                <a:solidFill>
                  <a:srgbClr val="424242"/>
                </a:solidFill>
              </a:rPr>
              <a:t>cho</a:t>
            </a:r>
            <a:r>
              <a:rPr lang="en-US" dirty="0">
                <a:solidFill>
                  <a:srgbClr val="424242"/>
                </a:solidFill>
              </a:rPr>
              <a:t> </a:t>
            </a:r>
            <a:r>
              <a:rPr lang="en-US" dirty="0" err="1">
                <a:solidFill>
                  <a:srgbClr val="424242"/>
                </a:solidFill>
              </a:rPr>
              <a:t>lớp</a:t>
            </a:r>
            <a:r>
              <a:rPr lang="en-US" dirty="0">
                <a:solidFill>
                  <a:srgbClr val="424242"/>
                </a:solidFill>
              </a:rPr>
              <a:t> </a:t>
            </a:r>
            <a:r>
              <a:rPr lang="en-US" dirty="0" err="1">
                <a:solidFill>
                  <a:srgbClr val="424242"/>
                </a:solidFill>
              </a:rPr>
              <a:t>thiểu</a:t>
            </a:r>
            <a:r>
              <a:rPr lang="en-US" dirty="0">
                <a:solidFill>
                  <a:srgbClr val="424242"/>
                </a:solidFill>
              </a:rPr>
              <a:t> </a:t>
            </a:r>
            <a:r>
              <a:rPr lang="en-US" dirty="0" err="1">
                <a:solidFill>
                  <a:srgbClr val="424242"/>
                </a:solidFill>
              </a:rPr>
              <a:t>số</a:t>
            </a:r>
            <a:endParaRPr lang="en-US" b="1" dirty="0">
              <a:solidFill>
                <a:srgbClr val="424242"/>
              </a:solidFill>
              <a:effectLst/>
            </a:endParaRPr>
          </a:p>
        </p:txBody>
      </p:sp>
      <p:sp>
        <p:nvSpPr>
          <p:cNvPr id="38" name="TextBox 37">
            <a:extLst>
              <a:ext uri="{FF2B5EF4-FFF2-40B4-BE49-F238E27FC236}">
                <a16:creationId xmlns:a16="http://schemas.microsoft.com/office/drawing/2014/main" id="{8349683E-4997-ED1C-F050-14D1F1151D2A}"/>
              </a:ext>
            </a:extLst>
          </p:cNvPr>
          <p:cNvSpPr txBox="1"/>
          <p:nvPr/>
        </p:nvSpPr>
        <p:spPr>
          <a:xfrm>
            <a:off x="404585" y="5633246"/>
            <a:ext cx="9083543" cy="372666"/>
          </a:xfrm>
          <a:prstGeom prst="rect">
            <a:avLst/>
          </a:prstGeom>
          <a:noFill/>
        </p:spPr>
        <p:txBody>
          <a:bodyPr wrap="square">
            <a:spAutoFit/>
          </a:bodyPr>
          <a:lstStyle/>
          <a:p>
            <a:pPr>
              <a:lnSpc>
                <a:spcPts val="2250"/>
              </a:lnSpc>
              <a:spcBef>
                <a:spcPts val="2400"/>
              </a:spcBef>
              <a:spcAft>
                <a:spcPts val="1200"/>
              </a:spcAft>
            </a:pPr>
            <a:r>
              <a:rPr lang="en-US" b="1" dirty="0" err="1">
                <a:solidFill>
                  <a:schemeClr val="bg2">
                    <a:lumMod val="50000"/>
                  </a:schemeClr>
                </a:solidFill>
                <a:latin typeface="quote-cjk-patch"/>
              </a:rPr>
              <a:t>Đầu</a:t>
            </a:r>
            <a:r>
              <a:rPr lang="en-US" b="1" dirty="0">
                <a:solidFill>
                  <a:schemeClr val="bg2">
                    <a:lumMod val="50000"/>
                  </a:schemeClr>
                </a:solidFill>
                <a:latin typeface="quote-cjk-patch"/>
              </a:rPr>
              <a:t> </a:t>
            </a:r>
            <a:r>
              <a:rPr lang="en-US" b="1" dirty="0" err="1">
                <a:solidFill>
                  <a:schemeClr val="bg2">
                    <a:lumMod val="50000"/>
                  </a:schemeClr>
                </a:solidFill>
                <a:latin typeface="quote-cjk-patch"/>
              </a:rPr>
              <a:t>ra</a:t>
            </a:r>
            <a:r>
              <a:rPr lang="en-US" b="1" dirty="0">
                <a:solidFill>
                  <a:schemeClr val="bg2">
                    <a:lumMod val="50000"/>
                  </a:schemeClr>
                </a:solidFill>
                <a:latin typeface="quote-cjk-patch"/>
              </a:rPr>
              <a:t>: </a:t>
            </a:r>
            <a:r>
              <a:rPr lang="en-US" dirty="0" err="1">
                <a:solidFill>
                  <a:srgbClr val="424242"/>
                </a:solidFill>
                <a:effectLst/>
              </a:rPr>
              <a:t>giá</a:t>
            </a:r>
            <a:r>
              <a:rPr lang="en-US" dirty="0">
                <a:solidFill>
                  <a:srgbClr val="424242"/>
                </a:solidFill>
                <a:effectLst/>
              </a:rPr>
              <a:t> </a:t>
            </a:r>
            <a:r>
              <a:rPr lang="en-US" dirty="0" err="1">
                <a:solidFill>
                  <a:srgbClr val="424242"/>
                </a:solidFill>
                <a:effectLst/>
              </a:rPr>
              <a:t>nhà</a:t>
            </a:r>
            <a:endParaRPr lang="en-US" b="1" dirty="0">
              <a:solidFill>
                <a:srgbClr val="6C6C6C"/>
              </a:solidFill>
            </a:endParaRPr>
          </a:p>
        </p:txBody>
      </p:sp>
    </p:spTree>
    <p:extLst>
      <p:ext uri="{BB962C8B-B14F-4D97-AF65-F5344CB8AC3E}">
        <p14:creationId xmlns:p14="http://schemas.microsoft.com/office/powerpoint/2010/main" val="9710972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800" b="1" dirty="0" err="1"/>
              <a:t>Phương</a:t>
            </a:r>
            <a:r>
              <a:rPr lang="en-US" sz="4800" b="1" dirty="0"/>
              <a:t> </a:t>
            </a:r>
            <a:r>
              <a:rPr lang="en-US" sz="4800" b="1" dirty="0" err="1"/>
              <a:t>pháp</a:t>
            </a:r>
            <a:r>
              <a:rPr lang="en-US" sz="4800" b="1" dirty="0"/>
              <a:t> </a:t>
            </a:r>
            <a:r>
              <a:rPr lang="en-US" sz="4800" b="1" dirty="0" err="1"/>
              <a:t>tiếp</a:t>
            </a:r>
            <a:r>
              <a:rPr lang="en-US" sz="4800" b="1" dirty="0"/>
              <a:t> </a:t>
            </a:r>
            <a:r>
              <a:rPr lang="en-US" sz="4800" b="1" dirty="0" err="1"/>
              <a:t>cận</a:t>
            </a:r>
            <a:endParaRPr lang="en-US" sz="4800" b="1" dirty="0"/>
          </a:p>
        </p:txBody>
      </p:sp>
      <p:sp>
        <p:nvSpPr>
          <p:cNvPr id="3" name="Text Placeholder 2"/>
          <p:cNvSpPr>
            <a:spLocks noGrp="1"/>
          </p:cNvSpPr>
          <p:nvPr>
            <p:ph type="body" idx="1"/>
          </p:nvPr>
        </p:nvSpPr>
        <p:spPr>
          <a:xfrm>
            <a:off x="0" y="971167"/>
            <a:ext cx="10962800" cy="551920"/>
          </a:xfrm>
        </p:spPr>
        <p:txBody>
          <a:bodyPr/>
          <a:lstStyle/>
          <a:p>
            <a:pPr marL="118531" indent="0">
              <a:buNone/>
            </a:pPr>
            <a:r>
              <a:rPr lang="en-US" sz="2000" b="1" dirty="0"/>
              <a:t>1. </a:t>
            </a:r>
            <a:r>
              <a:rPr lang="en-US" sz="2000" b="1" dirty="0" err="1"/>
              <a:t>Đánh</a:t>
            </a:r>
            <a:r>
              <a:rPr lang="en-US" sz="2000" b="1" dirty="0"/>
              <a:t> </a:t>
            </a:r>
            <a:r>
              <a:rPr lang="en-US" sz="2000" b="1" dirty="0" err="1"/>
              <a:t>giá</a:t>
            </a:r>
            <a:r>
              <a:rPr lang="en-US" sz="2000" b="1" dirty="0"/>
              <a:t> </a:t>
            </a:r>
            <a:r>
              <a:rPr lang="en-US" sz="2000" b="1" dirty="0" err="1"/>
              <a:t>dữ</a:t>
            </a:r>
            <a:r>
              <a:rPr lang="en-US" sz="2000" b="1" dirty="0"/>
              <a:t> </a:t>
            </a:r>
            <a:r>
              <a:rPr lang="en-US" sz="2000" b="1" dirty="0" err="1"/>
              <a:t>liệu</a:t>
            </a:r>
            <a:endParaRPr lang="en-US" sz="2000" b="1" dirty="0"/>
          </a:p>
        </p:txBody>
      </p:sp>
      <p:pic>
        <p:nvPicPr>
          <p:cNvPr id="4098" name="Picture 2">
            <a:extLst>
              <a:ext uri="{FF2B5EF4-FFF2-40B4-BE49-F238E27FC236}">
                <a16:creationId xmlns:a16="http://schemas.microsoft.com/office/drawing/2014/main" id="{2EDF035C-A3BF-952B-8E71-466DB1B90C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8950" y="2168013"/>
            <a:ext cx="5581650" cy="28956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C0ADDF4E-821F-9164-0229-FEFAA54345F7}"/>
              </a:ext>
            </a:extLst>
          </p:cNvPr>
          <p:cNvSpPr txBox="1"/>
          <p:nvPr/>
        </p:nvSpPr>
        <p:spPr>
          <a:xfrm>
            <a:off x="993058" y="5144417"/>
            <a:ext cx="6096000" cy="369332"/>
          </a:xfrm>
          <a:prstGeom prst="rect">
            <a:avLst/>
          </a:prstGeom>
          <a:noFill/>
        </p:spPr>
        <p:txBody>
          <a:bodyPr wrap="square">
            <a:spAutoFit/>
          </a:bodyPr>
          <a:lstStyle/>
          <a:p>
            <a:r>
              <a:rPr lang="en-US" sz="1800" b="0" i="1" u="none" strike="noStrike" dirty="0" err="1">
                <a:solidFill>
                  <a:srgbClr val="000000"/>
                </a:solidFill>
                <a:effectLst/>
                <a:latin typeface="Times New Roman" panose="02020603050405020304" pitchFamily="18" charset="0"/>
              </a:rPr>
              <a:t>Hình</a:t>
            </a:r>
            <a:r>
              <a:rPr lang="en-US" sz="1800" b="0" i="1" u="none" strike="noStrike" dirty="0">
                <a:solidFill>
                  <a:srgbClr val="000000"/>
                </a:solidFill>
                <a:effectLst/>
                <a:latin typeface="Times New Roman" panose="02020603050405020304" pitchFamily="18" charset="0"/>
              </a:rPr>
              <a:t> 1: </a:t>
            </a:r>
            <a:r>
              <a:rPr lang="en-US" sz="1800" b="0" i="1" u="none" strike="noStrike" dirty="0" err="1">
                <a:solidFill>
                  <a:srgbClr val="000000"/>
                </a:solidFill>
                <a:effectLst/>
                <a:latin typeface="Times New Roman" panose="02020603050405020304" pitchFamily="18" charset="0"/>
              </a:rPr>
              <a:t>Phần</a:t>
            </a:r>
            <a:r>
              <a:rPr lang="en-US" sz="1800" b="0" i="1" u="none" strike="noStrike" dirty="0">
                <a:solidFill>
                  <a:srgbClr val="000000"/>
                </a:solidFill>
                <a:effectLst/>
                <a:latin typeface="Times New Roman" panose="02020603050405020304" pitchFamily="18" charset="0"/>
              </a:rPr>
              <a:t> </a:t>
            </a:r>
            <a:r>
              <a:rPr lang="en-US" sz="1800" b="0" i="1" u="none" strike="noStrike" dirty="0" err="1">
                <a:solidFill>
                  <a:srgbClr val="000000"/>
                </a:solidFill>
                <a:effectLst/>
                <a:latin typeface="Times New Roman" panose="02020603050405020304" pitchFamily="18" charset="0"/>
              </a:rPr>
              <a:t>trăm</a:t>
            </a:r>
            <a:r>
              <a:rPr lang="en-US" sz="1800" b="0" i="1" u="none" strike="noStrike" dirty="0">
                <a:solidFill>
                  <a:srgbClr val="000000"/>
                </a:solidFill>
                <a:effectLst/>
                <a:latin typeface="Times New Roman" panose="02020603050405020304" pitchFamily="18" charset="0"/>
              </a:rPr>
              <a:t> </a:t>
            </a:r>
            <a:r>
              <a:rPr lang="en-US" sz="1800" b="0" i="1" u="none" strike="noStrike" dirty="0" err="1">
                <a:solidFill>
                  <a:srgbClr val="000000"/>
                </a:solidFill>
                <a:effectLst/>
                <a:latin typeface="Times New Roman" panose="02020603050405020304" pitchFamily="18" charset="0"/>
              </a:rPr>
              <a:t>dữ</a:t>
            </a:r>
            <a:r>
              <a:rPr lang="en-US" sz="1800" b="0" i="1" u="none" strike="noStrike" dirty="0">
                <a:solidFill>
                  <a:srgbClr val="000000"/>
                </a:solidFill>
                <a:effectLst/>
                <a:latin typeface="Times New Roman" panose="02020603050405020304" pitchFamily="18" charset="0"/>
              </a:rPr>
              <a:t> </a:t>
            </a:r>
            <a:r>
              <a:rPr lang="en-US" sz="1800" b="0" i="1" u="none" strike="noStrike" dirty="0" err="1">
                <a:solidFill>
                  <a:srgbClr val="000000"/>
                </a:solidFill>
                <a:effectLst/>
                <a:latin typeface="Times New Roman" panose="02020603050405020304" pitchFamily="18" charset="0"/>
              </a:rPr>
              <a:t>liệu</a:t>
            </a:r>
            <a:r>
              <a:rPr lang="en-US" sz="1800" b="0" i="1" u="none" strike="noStrike" dirty="0">
                <a:solidFill>
                  <a:srgbClr val="000000"/>
                </a:solidFill>
                <a:effectLst/>
                <a:latin typeface="Times New Roman" panose="02020603050405020304" pitchFamily="18" charset="0"/>
              </a:rPr>
              <a:t> </a:t>
            </a:r>
            <a:r>
              <a:rPr lang="en-US" sz="1800" b="0" i="1" u="none" strike="noStrike" dirty="0" err="1">
                <a:solidFill>
                  <a:srgbClr val="000000"/>
                </a:solidFill>
                <a:effectLst/>
                <a:latin typeface="Times New Roman" panose="02020603050405020304" pitchFamily="18" charset="0"/>
              </a:rPr>
              <a:t>bị</a:t>
            </a:r>
            <a:r>
              <a:rPr lang="en-US" sz="1800" b="0" i="1" u="none" strike="noStrike" dirty="0">
                <a:solidFill>
                  <a:srgbClr val="000000"/>
                </a:solidFill>
                <a:effectLst/>
                <a:latin typeface="Times New Roman" panose="02020603050405020304" pitchFamily="18" charset="0"/>
              </a:rPr>
              <a:t> </a:t>
            </a:r>
            <a:r>
              <a:rPr lang="en-US" sz="1800" b="0" i="1" u="none" strike="noStrike" dirty="0" err="1">
                <a:solidFill>
                  <a:srgbClr val="000000"/>
                </a:solidFill>
                <a:effectLst/>
                <a:latin typeface="Times New Roman" panose="02020603050405020304" pitchFamily="18" charset="0"/>
              </a:rPr>
              <a:t>thiếu</a:t>
            </a:r>
            <a:r>
              <a:rPr lang="en-US" sz="1800" b="0" i="1" u="none" strike="noStrike" dirty="0">
                <a:solidFill>
                  <a:srgbClr val="000000"/>
                </a:solidFill>
                <a:effectLst/>
                <a:latin typeface="Times New Roman" panose="02020603050405020304" pitchFamily="18" charset="0"/>
              </a:rPr>
              <a:t> ở </a:t>
            </a:r>
            <a:r>
              <a:rPr lang="en-US" sz="1800" b="0" i="1" u="none" strike="noStrike" dirty="0" err="1">
                <a:solidFill>
                  <a:srgbClr val="000000"/>
                </a:solidFill>
                <a:effectLst/>
                <a:latin typeface="Times New Roman" panose="02020603050405020304" pitchFamily="18" charset="0"/>
              </a:rPr>
              <a:t>các</a:t>
            </a:r>
            <a:r>
              <a:rPr lang="en-US" sz="1800" b="0" i="1" u="none" strike="noStrike" dirty="0">
                <a:solidFill>
                  <a:srgbClr val="000000"/>
                </a:solidFill>
                <a:effectLst/>
                <a:latin typeface="Times New Roman" panose="02020603050405020304" pitchFamily="18" charset="0"/>
              </a:rPr>
              <a:t> </a:t>
            </a:r>
            <a:r>
              <a:rPr lang="en-US" sz="1800" b="0" i="1" u="none" strike="noStrike" dirty="0" err="1">
                <a:solidFill>
                  <a:srgbClr val="000000"/>
                </a:solidFill>
                <a:effectLst/>
                <a:latin typeface="Times New Roman" panose="02020603050405020304" pitchFamily="18" charset="0"/>
              </a:rPr>
              <a:t>cột</a:t>
            </a:r>
            <a:endParaRPr lang="en-US" dirty="0"/>
          </a:p>
        </p:txBody>
      </p:sp>
      <p:pic>
        <p:nvPicPr>
          <p:cNvPr id="4100" name="Picture 4">
            <a:extLst>
              <a:ext uri="{FF2B5EF4-FFF2-40B4-BE49-F238E27FC236}">
                <a16:creationId xmlns:a16="http://schemas.microsoft.com/office/drawing/2014/main" id="{8BE4C643-DD71-E564-0C08-B41528D10C5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31833" y="2696650"/>
            <a:ext cx="5581650" cy="1838325"/>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6631A8B2-F9B5-AFDB-9CAC-73D8343310F4}"/>
              </a:ext>
            </a:extLst>
          </p:cNvPr>
          <p:cNvSpPr txBox="1"/>
          <p:nvPr/>
        </p:nvSpPr>
        <p:spPr>
          <a:xfrm>
            <a:off x="5917483" y="5144417"/>
            <a:ext cx="6096000" cy="1077218"/>
          </a:xfrm>
          <a:prstGeom prst="rect">
            <a:avLst/>
          </a:prstGeom>
          <a:noFill/>
        </p:spPr>
        <p:txBody>
          <a:bodyPr wrap="square">
            <a:spAutoFit/>
          </a:bodyPr>
          <a:lstStyle/>
          <a:p>
            <a:pPr indent="457200" algn="ctr" rtl="0">
              <a:spcBef>
                <a:spcPts val="1200"/>
              </a:spcBef>
              <a:spcAft>
                <a:spcPts val="1200"/>
              </a:spcAft>
              <a:buNone/>
            </a:pPr>
            <a:r>
              <a:rPr lang="en-US" sz="1800" b="0" i="1" u="none" strike="noStrike" dirty="0" err="1">
                <a:solidFill>
                  <a:srgbClr val="000000"/>
                </a:solidFill>
                <a:effectLst/>
                <a:latin typeface="Times New Roman" panose="02020603050405020304" pitchFamily="18" charset="0"/>
              </a:rPr>
              <a:t>Hình</a:t>
            </a:r>
            <a:r>
              <a:rPr lang="en-US" sz="1800" b="0" i="1" u="none" strike="noStrike" dirty="0">
                <a:solidFill>
                  <a:srgbClr val="000000"/>
                </a:solidFill>
                <a:effectLst/>
                <a:latin typeface="Times New Roman" panose="02020603050405020304" pitchFamily="18" charset="0"/>
              </a:rPr>
              <a:t> </a:t>
            </a:r>
            <a:r>
              <a:rPr lang="en-US" i="1" dirty="0">
                <a:solidFill>
                  <a:srgbClr val="000000"/>
                </a:solidFill>
                <a:latin typeface="Times New Roman" panose="02020603050405020304" pitchFamily="18" charset="0"/>
              </a:rPr>
              <a:t>2:</a:t>
            </a:r>
            <a:r>
              <a:rPr lang="en-US" sz="1800" b="0" i="1" u="none" strike="noStrike" dirty="0">
                <a:solidFill>
                  <a:srgbClr val="000000"/>
                </a:solidFill>
                <a:effectLst/>
                <a:latin typeface="Times New Roman" panose="02020603050405020304" pitchFamily="18" charset="0"/>
              </a:rPr>
              <a:t> </a:t>
            </a:r>
            <a:r>
              <a:rPr lang="en-US" sz="1800" b="0" i="1" u="none" strike="noStrike" dirty="0" err="1">
                <a:solidFill>
                  <a:srgbClr val="000000"/>
                </a:solidFill>
                <a:effectLst/>
                <a:latin typeface="Times New Roman" panose="02020603050405020304" pitchFamily="18" charset="0"/>
              </a:rPr>
              <a:t>Thống</a:t>
            </a:r>
            <a:r>
              <a:rPr lang="en-US" sz="1800" b="0" i="1" u="none" strike="noStrike" dirty="0">
                <a:solidFill>
                  <a:srgbClr val="000000"/>
                </a:solidFill>
                <a:effectLst/>
                <a:latin typeface="Times New Roman" panose="02020603050405020304" pitchFamily="18" charset="0"/>
              </a:rPr>
              <a:t> </a:t>
            </a:r>
            <a:r>
              <a:rPr lang="en-US" sz="1800" b="0" i="1" u="none" strike="noStrike" dirty="0" err="1">
                <a:solidFill>
                  <a:srgbClr val="000000"/>
                </a:solidFill>
                <a:effectLst/>
                <a:latin typeface="Times New Roman" panose="02020603050405020304" pitchFamily="18" charset="0"/>
              </a:rPr>
              <a:t>kê</a:t>
            </a:r>
            <a:r>
              <a:rPr lang="en-US" sz="1800" b="0" i="1" u="none" strike="noStrike" dirty="0">
                <a:solidFill>
                  <a:srgbClr val="000000"/>
                </a:solidFill>
                <a:effectLst/>
                <a:latin typeface="Times New Roman" panose="02020603050405020304" pitchFamily="18" charset="0"/>
              </a:rPr>
              <a:t> </a:t>
            </a:r>
            <a:r>
              <a:rPr lang="en-US" sz="1800" b="0" i="1" u="none" strike="noStrike" dirty="0" err="1">
                <a:solidFill>
                  <a:srgbClr val="000000"/>
                </a:solidFill>
                <a:effectLst/>
                <a:latin typeface="Times New Roman" panose="02020603050405020304" pitchFamily="18" charset="0"/>
              </a:rPr>
              <a:t>mô</a:t>
            </a:r>
            <a:r>
              <a:rPr lang="en-US" sz="1800" b="0" i="1" u="none" strike="noStrike" dirty="0">
                <a:solidFill>
                  <a:srgbClr val="000000"/>
                </a:solidFill>
                <a:effectLst/>
                <a:latin typeface="Times New Roman" panose="02020603050405020304" pitchFamily="18" charset="0"/>
              </a:rPr>
              <a:t> </a:t>
            </a:r>
            <a:r>
              <a:rPr lang="en-US" sz="1800" b="0" i="1" u="none" strike="noStrike" dirty="0" err="1">
                <a:solidFill>
                  <a:srgbClr val="000000"/>
                </a:solidFill>
                <a:effectLst/>
                <a:latin typeface="Times New Roman" panose="02020603050405020304" pitchFamily="18" charset="0"/>
              </a:rPr>
              <a:t>tả</a:t>
            </a:r>
            <a:r>
              <a:rPr lang="en-US" sz="1800" b="0" i="1" u="none" strike="noStrike" dirty="0">
                <a:solidFill>
                  <a:srgbClr val="000000"/>
                </a:solidFill>
                <a:effectLst/>
                <a:latin typeface="Times New Roman" panose="02020603050405020304" pitchFamily="18" charset="0"/>
              </a:rPr>
              <a:t> </a:t>
            </a:r>
            <a:r>
              <a:rPr lang="en-US" sz="1800" b="0" i="1" u="none" strike="noStrike" dirty="0" err="1">
                <a:solidFill>
                  <a:srgbClr val="000000"/>
                </a:solidFill>
                <a:effectLst/>
                <a:latin typeface="Times New Roman" panose="02020603050405020304" pitchFamily="18" charset="0"/>
              </a:rPr>
              <a:t>các</a:t>
            </a:r>
            <a:r>
              <a:rPr lang="en-US" sz="1800" b="0" i="1" u="none" strike="noStrike" dirty="0">
                <a:solidFill>
                  <a:srgbClr val="000000"/>
                </a:solidFill>
                <a:effectLst/>
                <a:latin typeface="Times New Roman" panose="02020603050405020304" pitchFamily="18" charset="0"/>
              </a:rPr>
              <a:t> </a:t>
            </a:r>
            <a:r>
              <a:rPr lang="en-US" sz="1800" b="0" i="1" u="none" strike="noStrike" dirty="0" err="1">
                <a:solidFill>
                  <a:srgbClr val="000000"/>
                </a:solidFill>
                <a:effectLst/>
                <a:latin typeface="Times New Roman" panose="02020603050405020304" pitchFamily="18" charset="0"/>
              </a:rPr>
              <a:t>cột</a:t>
            </a:r>
            <a:r>
              <a:rPr lang="en-US" sz="1800" b="0" i="1" u="none" strike="noStrike" dirty="0">
                <a:solidFill>
                  <a:srgbClr val="000000"/>
                </a:solidFill>
                <a:effectLst/>
                <a:latin typeface="Times New Roman" panose="02020603050405020304" pitchFamily="18" charset="0"/>
              </a:rPr>
              <a:t> </a:t>
            </a:r>
            <a:r>
              <a:rPr lang="en-US" sz="1800" b="0" i="1" u="none" strike="noStrike" dirty="0" err="1">
                <a:solidFill>
                  <a:srgbClr val="000000"/>
                </a:solidFill>
                <a:effectLst/>
                <a:latin typeface="Times New Roman" panose="02020603050405020304" pitchFamily="18" charset="0"/>
              </a:rPr>
              <a:t>số</a:t>
            </a:r>
            <a:endParaRPr lang="en-US" b="0" dirty="0">
              <a:effectLst/>
            </a:endParaRPr>
          </a:p>
          <a:p>
            <a:pPr>
              <a:buNone/>
            </a:pPr>
            <a:br>
              <a:rPr lang="en-US" dirty="0"/>
            </a:br>
            <a:endParaRPr lang="en-US" dirty="0"/>
          </a:p>
        </p:txBody>
      </p:sp>
    </p:spTree>
    <p:extLst>
      <p:ext uri="{BB962C8B-B14F-4D97-AF65-F5344CB8AC3E}">
        <p14:creationId xmlns:p14="http://schemas.microsoft.com/office/powerpoint/2010/main" val="20486575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29200" y="1521447"/>
            <a:ext cx="10962800" cy="1100560"/>
          </a:xfrm>
        </p:spPr>
        <p:txBody>
          <a:bodyPr/>
          <a:lstStyle/>
          <a:p>
            <a:r>
              <a:rPr lang="en-US" sz="1400" dirty="0" err="1"/>
              <a:t>Lần</a:t>
            </a:r>
            <a:r>
              <a:rPr lang="en-US" sz="1400" dirty="0"/>
              <a:t> </a:t>
            </a:r>
            <a:r>
              <a:rPr lang="en-US" sz="1400" dirty="0" err="1"/>
              <a:t>lượt</a:t>
            </a:r>
            <a:r>
              <a:rPr lang="en-US" sz="1400" dirty="0"/>
              <a:t> dung </a:t>
            </a:r>
            <a:r>
              <a:rPr lang="en-US" sz="1400" dirty="0" err="1"/>
              <a:t>các</a:t>
            </a:r>
            <a:r>
              <a:rPr lang="en-US" sz="1400" dirty="0"/>
              <a:t> </a:t>
            </a:r>
            <a:r>
              <a:rPr lang="en-US" sz="1400" dirty="0" err="1"/>
              <a:t>phương</a:t>
            </a:r>
            <a:r>
              <a:rPr lang="en-US" sz="1400" dirty="0"/>
              <a:t> </a:t>
            </a:r>
            <a:r>
              <a:rPr lang="en-US" sz="1400" dirty="0" err="1"/>
              <a:t>pháp</a:t>
            </a:r>
            <a:r>
              <a:rPr lang="en-US" sz="1400" dirty="0"/>
              <a:t>: </a:t>
            </a:r>
            <a:r>
              <a:rPr lang="vi-VN" sz="1400" dirty="0"/>
              <a:t>Loại bỏ ngoại lai giai đoạn 1 (diện tích bất thường)</a:t>
            </a:r>
            <a:r>
              <a:rPr lang="en-US" sz="1400" dirty="0"/>
              <a:t>, </a:t>
            </a:r>
            <a:r>
              <a:rPr lang="en-US" sz="1400" dirty="0" err="1"/>
              <a:t>Xóa</a:t>
            </a:r>
            <a:r>
              <a:rPr lang="en-US" sz="1400" dirty="0"/>
              <a:t> 2 </a:t>
            </a:r>
            <a:r>
              <a:rPr lang="en-US" sz="1400" dirty="0" err="1"/>
              <a:t>cột</a:t>
            </a:r>
            <a:r>
              <a:rPr lang="en-US" sz="1400" dirty="0"/>
              <a:t> </a:t>
            </a:r>
            <a:r>
              <a:rPr lang="en-US" sz="1400" dirty="0" err="1"/>
              <a:t>thiếu</a:t>
            </a:r>
            <a:r>
              <a:rPr lang="en-US" sz="1400" dirty="0"/>
              <a:t> </a:t>
            </a:r>
            <a:r>
              <a:rPr lang="en-US" sz="1400" dirty="0" err="1"/>
              <a:t>quá</a:t>
            </a:r>
            <a:r>
              <a:rPr lang="en-US" sz="1400" dirty="0"/>
              <a:t> </a:t>
            </a:r>
            <a:r>
              <a:rPr lang="en-US" sz="1400" dirty="0" err="1"/>
              <a:t>nhiều</a:t>
            </a:r>
            <a:r>
              <a:rPr lang="en-US" sz="1400" dirty="0"/>
              <a:t> </a:t>
            </a:r>
            <a:r>
              <a:rPr lang="en-US" sz="1400" dirty="0" err="1"/>
              <a:t>dữ</a:t>
            </a:r>
            <a:r>
              <a:rPr lang="en-US" sz="1400" dirty="0"/>
              <a:t> </a:t>
            </a:r>
            <a:r>
              <a:rPr lang="en-US" sz="1400" dirty="0" err="1"/>
              <a:t>liệu</a:t>
            </a:r>
            <a:r>
              <a:rPr lang="en-US" sz="1400" dirty="0"/>
              <a:t> Balcony direction </a:t>
            </a:r>
            <a:r>
              <a:rPr lang="en-US" sz="1400" dirty="0" err="1"/>
              <a:t>và</a:t>
            </a:r>
            <a:r>
              <a:rPr lang="en-US" sz="1400" dirty="0"/>
              <a:t> House direction, </a:t>
            </a:r>
            <a:r>
              <a:rPr lang="en-US" sz="1400" dirty="0" err="1"/>
              <a:t>Điền</a:t>
            </a:r>
            <a:r>
              <a:rPr lang="en-US" sz="1400" dirty="0"/>
              <a:t> </a:t>
            </a:r>
            <a:r>
              <a:rPr lang="en-US" sz="1400" dirty="0" err="1"/>
              <a:t>giá</a:t>
            </a:r>
            <a:r>
              <a:rPr lang="en-US" sz="1400" dirty="0"/>
              <a:t> </a:t>
            </a:r>
            <a:r>
              <a:rPr lang="en-US" sz="1400" dirty="0" err="1"/>
              <a:t>trị</a:t>
            </a:r>
            <a:r>
              <a:rPr lang="en-US" sz="1400" dirty="0"/>
              <a:t> </a:t>
            </a:r>
            <a:r>
              <a:rPr lang="en-US" sz="1400" dirty="0" err="1"/>
              <a:t>thiếu</a:t>
            </a:r>
            <a:r>
              <a:rPr lang="en-US" sz="1400" dirty="0"/>
              <a:t> </a:t>
            </a:r>
            <a:r>
              <a:rPr lang="en-US" sz="1400" dirty="0" err="1"/>
              <a:t>theo</a:t>
            </a:r>
            <a:r>
              <a:rPr lang="en-US" sz="1400" dirty="0"/>
              <a:t> </a:t>
            </a:r>
            <a:r>
              <a:rPr lang="en-US" sz="1400" dirty="0" err="1"/>
              <a:t>nhóm</a:t>
            </a:r>
            <a:r>
              <a:rPr lang="en-US" sz="1400" dirty="0"/>
              <a:t> </a:t>
            </a:r>
            <a:r>
              <a:rPr lang="en-US" sz="1400" dirty="0" err="1"/>
              <a:t>địa</a:t>
            </a:r>
            <a:r>
              <a:rPr lang="en-US" sz="1400" dirty="0"/>
              <a:t> </a:t>
            </a:r>
            <a:r>
              <a:rPr lang="en-US" sz="1400" dirty="0" err="1"/>
              <a:t>lý</a:t>
            </a:r>
            <a:r>
              <a:rPr lang="en-US" sz="1400" dirty="0"/>
              <a:t> + </a:t>
            </a:r>
            <a:r>
              <a:rPr lang="en-US" sz="1400" dirty="0" err="1"/>
              <a:t>nhóm</a:t>
            </a:r>
            <a:r>
              <a:rPr lang="en-US" sz="1400" dirty="0"/>
              <a:t> </a:t>
            </a:r>
            <a:r>
              <a:rPr lang="en-US" sz="1400" dirty="0" err="1"/>
              <a:t>diện</a:t>
            </a:r>
            <a:r>
              <a:rPr lang="en-US" sz="1400" dirty="0"/>
              <a:t> </a:t>
            </a:r>
            <a:r>
              <a:rPr lang="en-US" sz="1400" dirty="0" err="1"/>
              <a:t>tích</a:t>
            </a:r>
            <a:r>
              <a:rPr lang="en-US" sz="1400" dirty="0"/>
              <a:t>, </a:t>
            </a:r>
            <a:r>
              <a:rPr lang="en-US" sz="1400" dirty="0" err="1"/>
              <a:t>Điền</a:t>
            </a:r>
            <a:r>
              <a:rPr lang="en-US" sz="1400" dirty="0"/>
              <a:t> </a:t>
            </a:r>
            <a:r>
              <a:rPr lang="en-US" sz="1400" dirty="0" err="1"/>
              <a:t>các</a:t>
            </a:r>
            <a:r>
              <a:rPr lang="en-US" sz="1400" dirty="0"/>
              <a:t> </a:t>
            </a:r>
            <a:r>
              <a:rPr lang="en-US" sz="1400" dirty="0" err="1"/>
              <a:t>giá</a:t>
            </a:r>
            <a:r>
              <a:rPr lang="en-US" sz="1400" dirty="0"/>
              <a:t> </a:t>
            </a:r>
            <a:r>
              <a:rPr lang="en-US" sz="1400" dirty="0" err="1"/>
              <a:t>trị</a:t>
            </a:r>
            <a:r>
              <a:rPr lang="en-US" sz="1400" dirty="0"/>
              <a:t> </a:t>
            </a:r>
            <a:r>
              <a:rPr lang="en-US" sz="1400" dirty="0" err="1"/>
              <a:t>còn</a:t>
            </a:r>
            <a:r>
              <a:rPr lang="en-US" sz="1400" dirty="0"/>
              <a:t> </a:t>
            </a:r>
            <a:r>
              <a:rPr lang="en-US" sz="1400" dirty="0" err="1"/>
              <a:t>thiếu</a:t>
            </a:r>
            <a:r>
              <a:rPr lang="en-US" sz="1400" dirty="0"/>
              <a:t> </a:t>
            </a:r>
            <a:r>
              <a:rPr lang="en-US" sz="1400" dirty="0" err="1"/>
              <a:t>cuối</a:t>
            </a:r>
            <a:r>
              <a:rPr lang="en-US" sz="1400" dirty="0"/>
              <a:t> </a:t>
            </a:r>
            <a:r>
              <a:rPr lang="en-US" sz="1400" dirty="0" err="1"/>
              <a:t>cùng,Chuyển</a:t>
            </a:r>
            <a:r>
              <a:rPr lang="en-US" sz="1400" dirty="0"/>
              <a:t> </a:t>
            </a:r>
            <a:r>
              <a:rPr lang="en-US" sz="1400" dirty="0" err="1"/>
              <a:t>kiểu</a:t>
            </a:r>
            <a:r>
              <a:rPr lang="en-US" sz="1400" dirty="0"/>
              <a:t> </a:t>
            </a:r>
            <a:r>
              <a:rPr lang="en-US" sz="1400" dirty="0" err="1"/>
              <a:t>dữ</a:t>
            </a:r>
            <a:r>
              <a:rPr lang="en-US" sz="1400" dirty="0"/>
              <a:t> </a:t>
            </a:r>
            <a:r>
              <a:rPr lang="en-US" sz="1400" dirty="0" err="1"/>
              <a:t>liệu</a:t>
            </a:r>
            <a:r>
              <a:rPr lang="en-US" sz="1400" dirty="0"/>
              <a:t> Bedrooms </a:t>
            </a:r>
            <a:r>
              <a:rPr lang="en-US" sz="1400" dirty="0" err="1"/>
              <a:t>và</a:t>
            </a:r>
            <a:r>
              <a:rPr lang="en-US" sz="1400" dirty="0"/>
              <a:t> Bathrooms </a:t>
            </a:r>
            <a:r>
              <a:rPr lang="en-US" sz="1400" dirty="0" err="1"/>
              <a:t>từ</a:t>
            </a:r>
            <a:r>
              <a:rPr lang="en-US" sz="1400" dirty="0"/>
              <a:t> float → int (</a:t>
            </a:r>
            <a:r>
              <a:rPr lang="en-US" sz="1400" dirty="0" err="1"/>
              <a:t>làm</a:t>
            </a:r>
            <a:r>
              <a:rPr lang="en-US" sz="1400" dirty="0"/>
              <a:t> </a:t>
            </a:r>
            <a:r>
              <a:rPr lang="en-US" sz="1400" dirty="0" err="1"/>
              <a:t>tròn</a:t>
            </a:r>
            <a:r>
              <a:rPr lang="en-US" sz="1400" dirty="0"/>
              <a:t> </a:t>
            </a:r>
            <a:r>
              <a:rPr lang="en-US" sz="1400" dirty="0" err="1"/>
              <a:t>xuống</a:t>
            </a:r>
            <a:r>
              <a:rPr lang="en-US" sz="1400" dirty="0"/>
              <a:t>), </a:t>
            </a:r>
            <a:r>
              <a:rPr lang="en-US" sz="1400" dirty="0" err="1"/>
              <a:t>Xử</a:t>
            </a:r>
            <a:r>
              <a:rPr lang="en-US" sz="1400" dirty="0"/>
              <a:t> </a:t>
            </a:r>
            <a:r>
              <a:rPr lang="en-US" sz="1400" dirty="0" err="1"/>
              <a:t>lý</a:t>
            </a:r>
            <a:r>
              <a:rPr lang="en-US" sz="1400" dirty="0"/>
              <a:t> </a:t>
            </a:r>
            <a:r>
              <a:rPr lang="en-US" sz="1400" dirty="0" err="1"/>
              <a:t>bản</a:t>
            </a:r>
            <a:r>
              <a:rPr lang="en-US" sz="1400" dirty="0"/>
              <a:t> </a:t>
            </a:r>
            <a:r>
              <a:rPr lang="en-US" sz="1400" dirty="0" err="1"/>
              <a:t>ghi</a:t>
            </a:r>
            <a:r>
              <a:rPr lang="en-US" sz="1400" dirty="0"/>
              <a:t> </a:t>
            </a:r>
            <a:r>
              <a:rPr lang="en-US" sz="1400" dirty="0" err="1"/>
              <a:t>trùng</a:t>
            </a:r>
            <a:r>
              <a:rPr lang="en-US" sz="1400" dirty="0"/>
              <a:t> </a:t>
            </a:r>
            <a:r>
              <a:rPr lang="en-US" sz="1400" dirty="0" err="1"/>
              <a:t>lặp</a:t>
            </a:r>
            <a:r>
              <a:rPr lang="en-US" sz="1400" dirty="0"/>
              <a:t>, </a:t>
            </a:r>
            <a:r>
              <a:rPr lang="en-US" sz="1400" dirty="0" err="1"/>
              <a:t>Loại</a:t>
            </a:r>
            <a:r>
              <a:rPr lang="en-US" sz="1400" dirty="0"/>
              <a:t> </a:t>
            </a:r>
            <a:r>
              <a:rPr lang="en-US" sz="1400" dirty="0" err="1"/>
              <a:t>bỏ</a:t>
            </a:r>
            <a:r>
              <a:rPr lang="en-US" sz="1400" dirty="0"/>
              <a:t> </a:t>
            </a:r>
            <a:r>
              <a:rPr lang="en-US" sz="1400" dirty="0" err="1"/>
              <a:t>ngoại</a:t>
            </a:r>
            <a:r>
              <a:rPr lang="en-US" sz="1400" dirty="0"/>
              <a:t> lai </a:t>
            </a:r>
            <a:r>
              <a:rPr lang="en-US" sz="1400" dirty="0" err="1"/>
              <a:t>giai</a:t>
            </a:r>
            <a:r>
              <a:rPr lang="en-US" sz="1400" dirty="0"/>
              <a:t> </a:t>
            </a:r>
            <a:r>
              <a:rPr lang="en-US" sz="1400" dirty="0" err="1"/>
              <a:t>đoạn</a:t>
            </a:r>
            <a:r>
              <a:rPr lang="en-US" sz="1400" dirty="0"/>
              <a:t> 2 (</a:t>
            </a:r>
            <a:r>
              <a:rPr lang="en-US" sz="1400" dirty="0" err="1"/>
              <a:t>các</a:t>
            </a:r>
            <a:r>
              <a:rPr lang="en-US" sz="1400" dirty="0"/>
              <a:t> </a:t>
            </a:r>
            <a:r>
              <a:rPr lang="en-US" sz="1400" dirty="0" err="1"/>
              <a:t>cột</a:t>
            </a:r>
            <a:r>
              <a:rPr lang="en-US" sz="1400" dirty="0"/>
              <a:t> </a:t>
            </a:r>
            <a:r>
              <a:rPr lang="en-US" sz="1400" dirty="0" err="1"/>
              <a:t>còn</a:t>
            </a:r>
            <a:r>
              <a:rPr lang="en-US" sz="1400" dirty="0"/>
              <a:t> </a:t>
            </a:r>
            <a:r>
              <a:rPr lang="en-US" sz="1400" dirty="0" err="1"/>
              <a:t>lại</a:t>
            </a:r>
            <a:r>
              <a:rPr lang="en-US" sz="1400" dirty="0"/>
              <a:t>), </a:t>
            </a:r>
            <a:r>
              <a:rPr lang="en-US" sz="1400" dirty="0" err="1"/>
              <a:t>Xử</a:t>
            </a:r>
            <a:r>
              <a:rPr lang="en-US" sz="1400" dirty="0"/>
              <a:t> </a:t>
            </a:r>
            <a:r>
              <a:rPr lang="en-US" sz="1400" dirty="0" err="1"/>
              <a:t>lý</a:t>
            </a:r>
            <a:r>
              <a:rPr lang="en-US" sz="1400" dirty="0"/>
              <a:t> </a:t>
            </a:r>
            <a:r>
              <a:rPr lang="en-US" sz="1400" dirty="0" err="1"/>
              <a:t>dữ</a:t>
            </a:r>
            <a:r>
              <a:rPr lang="en-US" sz="1400" dirty="0"/>
              <a:t> </a:t>
            </a:r>
            <a:r>
              <a:rPr lang="en-US" sz="1400" dirty="0" err="1"/>
              <a:t>liệu</a:t>
            </a:r>
            <a:r>
              <a:rPr lang="en-US" sz="1400" dirty="0"/>
              <a:t> </a:t>
            </a:r>
            <a:r>
              <a:rPr lang="en-US" sz="1400" dirty="0" err="1"/>
              <a:t>bị</a:t>
            </a:r>
            <a:r>
              <a:rPr lang="en-US" sz="1400" dirty="0"/>
              <a:t> </a:t>
            </a:r>
            <a:r>
              <a:rPr lang="en-US" sz="1400" dirty="0" err="1"/>
              <a:t>lỗi</a:t>
            </a:r>
            <a:r>
              <a:rPr lang="en-US" sz="1400" dirty="0"/>
              <a:t>, </a:t>
            </a:r>
            <a:r>
              <a:rPr lang="en-US" sz="1400" dirty="0" err="1"/>
              <a:t>Thêm</a:t>
            </a:r>
            <a:r>
              <a:rPr lang="en-US" sz="1400" dirty="0"/>
              <a:t> 2 </a:t>
            </a:r>
            <a:r>
              <a:rPr lang="en-US" sz="1400" dirty="0" err="1"/>
              <a:t>cột</a:t>
            </a:r>
            <a:r>
              <a:rPr lang="en-US" sz="1400" dirty="0"/>
              <a:t> City </a:t>
            </a:r>
            <a:r>
              <a:rPr lang="en-US" sz="1400" dirty="0" err="1"/>
              <a:t>và</a:t>
            </a:r>
            <a:r>
              <a:rPr lang="en-US" sz="1400" dirty="0"/>
              <a:t> District </a:t>
            </a:r>
            <a:r>
              <a:rPr lang="en-US" sz="1400" dirty="0" err="1"/>
              <a:t>từ</a:t>
            </a:r>
            <a:r>
              <a:rPr lang="en-US" sz="1400" dirty="0"/>
              <a:t> </a:t>
            </a:r>
            <a:r>
              <a:rPr lang="en-US" sz="1400" dirty="0" err="1"/>
              <a:t>cột</a:t>
            </a:r>
            <a:r>
              <a:rPr lang="en-US" sz="1400" dirty="0"/>
              <a:t> Address </a:t>
            </a:r>
            <a:r>
              <a:rPr lang="en-US" sz="1400" dirty="0" err="1"/>
              <a:t>Chỉnh</a:t>
            </a:r>
            <a:r>
              <a:rPr lang="en-US" sz="1400" dirty="0"/>
              <a:t> </a:t>
            </a:r>
            <a:r>
              <a:rPr lang="en-US" sz="1400" dirty="0" err="1"/>
              <a:t>lại</a:t>
            </a:r>
            <a:r>
              <a:rPr lang="en-US" sz="1400" dirty="0"/>
              <a:t> </a:t>
            </a:r>
            <a:r>
              <a:rPr lang="en-US" sz="1400" dirty="0" err="1"/>
              <a:t>các</a:t>
            </a:r>
            <a:r>
              <a:rPr lang="en-US" sz="1400" dirty="0"/>
              <a:t> Thành </a:t>
            </a:r>
            <a:r>
              <a:rPr lang="en-US" sz="1400" dirty="0" err="1"/>
              <a:t>phố</a:t>
            </a:r>
            <a:r>
              <a:rPr lang="en-US" sz="1400" dirty="0"/>
              <a:t>/</a:t>
            </a:r>
            <a:r>
              <a:rPr lang="en-US" sz="1400" dirty="0" err="1"/>
              <a:t>Tỉnh</a:t>
            </a:r>
            <a:r>
              <a:rPr lang="en-US" sz="1400" dirty="0"/>
              <a:t> </a:t>
            </a:r>
            <a:r>
              <a:rPr lang="en-US" sz="1400" dirty="0" err="1"/>
              <a:t>cho</a:t>
            </a:r>
            <a:r>
              <a:rPr lang="en-US" sz="1400" dirty="0"/>
              <a:t> </a:t>
            </a:r>
            <a:r>
              <a:rPr lang="en-US" sz="1400" dirty="0" err="1"/>
              <a:t>thống</a:t>
            </a:r>
            <a:r>
              <a:rPr lang="en-US" sz="1400" dirty="0"/>
              <a:t> </a:t>
            </a:r>
            <a:r>
              <a:rPr lang="en-US" sz="1400" dirty="0" err="1"/>
              <a:t>nhất</a:t>
            </a:r>
            <a:r>
              <a:rPr lang="en-US" sz="1400" dirty="0"/>
              <a:t>, </a:t>
            </a:r>
            <a:r>
              <a:rPr lang="en-US" sz="1400" dirty="0" err="1"/>
              <a:t>Làm</a:t>
            </a:r>
            <a:r>
              <a:rPr lang="en-US" sz="1400" dirty="0"/>
              <a:t> </a:t>
            </a:r>
            <a:r>
              <a:rPr lang="en-US" sz="1400" dirty="0" err="1"/>
              <a:t>sạch</a:t>
            </a:r>
            <a:r>
              <a:rPr lang="en-US" sz="1400" dirty="0"/>
              <a:t> </a:t>
            </a:r>
            <a:r>
              <a:rPr lang="en-US" sz="1400" dirty="0" err="1"/>
              <a:t>tên</a:t>
            </a:r>
            <a:r>
              <a:rPr lang="en-US" sz="1400" dirty="0"/>
              <a:t> </a:t>
            </a:r>
            <a:r>
              <a:rPr lang="en-US" sz="1400" dirty="0" err="1"/>
              <a:t>Quận</a:t>
            </a:r>
            <a:r>
              <a:rPr lang="en-US" sz="1400" dirty="0"/>
              <a:t>/</a:t>
            </a:r>
            <a:r>
              <a:rPr lang="en-US" sz="1400" dirty="0" err="1"/>
              <a:t>Huyện</a:t>
            </a:r>
            <a:r>
              <a:rPr lang="en-US" sz="1400" dirty="0"/>
              <a:t> -&gt; </a:t>
            </a:r>
            <a:r>
              <a:rPr lang="en-US" sz="1400" dirty="0" err="1">
                <a:latin typeface="Roboto" panose="02000000000000000000" pitchFamily="2" charset="0"/>
                <a:ea typeface="Roboto" panose="02000000000000000000" pitchFamily="2" charset="0"/>
                <a:cs typeface="Roboto" panose="02000000000000000000" pitchFamily="2" charset="0"/>
              </a:rPr>
              <a:t>sau</a:t>
            </a:r>
            <a:r>
              <a:rPr lang="en-US" sz="1400" dirty="0">
                <a:latin typeface="Roboto" panose="02000000000000000000" pitchFamily="2" charset="0"/>
                <a:ea typeface="Roboto" panose="02000000000000000000" pitchFamily="2" charset="0"/>
                <a:cs typeface="Roboto" panose="02000000000000000000" pitchFamily="2" charset="0"/>
              </a:rPr>
              <a:t> </a:t>
            </a:r>
            <a:r>
              <a:rPr lang="en-US" sz="1400" dirty="0" err="1">
                <a:latin typeface="Roboto" panose="02000000000000000000" pitchFamily="2" charset="0"/>
                <a:ea typeface="Roboto" panose="02000000000000000000" pitchFamily="2" charset="0"/>
                <a:cs typeface="Roboto" panose="02000000000000000000" pitchFamily="2" charset="0"/>
              </a:rPr>
              <a:t>khi</a:t>
            </a:r>
            <a:r>
              <a:rPr lang="en-US" sz="1400" dirty="0">
                <a:latin typeface="Roboto" panose="02000000000000000000" pitchFamily="2" charset="0"/>
                <a:ea typeface="Roboto" panose="02000000000000000000" pitchFamily="2" charset="0"/>
                <a:cs typeface="Roboto" panose="02000000000000000000" pitchFamily="2" charset="0"/>
              </a:rPr>
              <a:t> </a:t>
            </a:r>
            <a:r>
              <a:rPr lang="en-US" sz="1400" dirty="0" err="1">
                <a:latin typeface="Roboto" panose="02000000000000000000" pitchFamily="2" charset="0"/>
                <a:ea typeface="Roboto" panose="02000000000000000000" pitchFamily="2" charset="0"/>
                <a:cs typeface="Roboto" panose="02000000000000000000" pitchFamily="2" charset="0"/>
              </a:rPr>
              <a:t>xử</a:t>
            </a:r>
            <a:r>
              <a:rPr lang="en-US" sz="1400" dirty="0">
                <a:latin typeface="Roboto" panose="02000000000000000000" pitchFamily="2" charset="0"/>
                <a:ea typeface="Roboto" panose="02000000000000000000" pitchFamily="2" charset="0"/>
                <a:cs typeface="Roboto" panose="02000000000000000000" pitchFamily="2" charset="0"/>
              </a:rPr>
              <a:t> </a:t>
            </a:r>
            <a:r>
              <a:rPr lang="en-US" sz="1400" dirty="0" err="1">
                <a:latin typeface="Roboto" panose="02000000000000000000" pitchFamily="2" charset="0"/>
                <a:ea typeface="Roboto" panose="02000000000000000000" pitchFamily="2" charset="0"/>
                <a:cs typeface="Roboto" panose="02000000000000000000" pitchFamily="2" charset="0"/>
              </a:rPr>
              <a:t>lý</a:t>
            </a:r>
            <a:r>
              <a:rPr lang="en-US" sz="1400" dirty="0">
                <a:latin typeface="Roboto" panose="02000000000000000000" pitchFamily="2" charset="0"/>
                <a:ea typeface="Roboto" panose="02000000000000000000" pitchFamily="2" charset="0"/>
                <a:cs typeface="Roboto" panose="02000000000000000000" pitchFamily="2" charset="0"/>
              </a:rPr>
              <a:t> </a:t>
            </a:r>
            <a:r>
              <a:rPr lang="en-US" sz="1400" dirty="0" err="1">
                <a:latin typeface="Roboto" panose="02000000000000000000" pitchFamily="2" charset="0"/>
                <a:ea typeface="Roboto" panose="02000000000000000000" pitchFamily="2" charset="0"/>
                <a:cs typeface="Roboto" panose="02000000000000000000" pitchFamily="2" charset="0"/>
              </a:rPr>
              <a:t>xong</a:t>
            </a:r>
            <a:r>
              <a:rPr lang="en-US" sz="1400" dirty="0">
                <a:latin typeface="Roboto" panose="02000000000000000000" pitchFamily="2" charset="0"/>
                <a:ea typeface="Roboto" panose="02000000000000000000" pitchFamily="2" charset="0"/>
                <a:cs typeface="Roboto" panose="02000000000000000000" pitchFamily="2" charset="0"/>
              </a:rPr>
              <a:t> </a:t>
            </a:r>
            <a:r>
              <a:rPr lang="en-US" sz="1400" dirty="0" err="1">
                <a:latin typeface="Roboto" panose="02000000000000000000" pitchFamily="2" charset="0"/>
                <a:ea typeface="Roboto" panose="02000000000000000000" pitchFamily="2" charset="0"/>
                <a:cs typeface="Roboto" panose="02000000000000000000" pitchFamily="2" charset="0"/>
              </a:rPr>
              <a:t>từ</a:t>
            </a:r>
            <a:r>
              <a:rPr lang="en-US" sz="1400" dirty="0">
                <a:latin typeface="Roboto" panose="02000000000000000000" pitchFamily="2" charset="0"/>
                <a:ea typeface="Roboto" panose="02000000000000000000" pitchFamily="2" charset="0"/>
                <a:cs typeface="Roboto" panose="02000000000000000000" pitchFamily="2" charset="0"/>
              </a:rPr>
              <a:t> 30k -&gt; </a:t>
            </a:r>
            <a:r>
              <a:rPr lang="en-US" sz="1400" dirty="0" err="1">
                <a:latin typeface="Roboto" panose="02000000000000000000" pitchFamily="2" charset="0"/>
                <a:ea typeface="Roboto" panose="02000000000000000000" pitchFamily="2" charset="0"/>
                <a:cs typeface="Roboto" panose="02000000000000000000" pitchFamily="2" charset="0"/>
              </a:rPr>
              <a:t>còn</a:t>
            </a:r>
            <a:r>
              <a:rPr lang="en-US" sz="1400" dirty="0">
                <a:latin typeface="Roboto" panose="02000000000000000000" pitchFamily="2" charset="0"/>
                <a:ea typeface="Roboto" panose="02000000000000000000" pitchFamily="2" charset="0"/>
                <a:cs typeface="Roboto" panose="02000000000000000000" pitchFamily="2" charset="0"/>
              </a:rPr>
              <a:t> </a:t>
            </a:r>
            <a:r>
              <a:rPr lang="en-US" sz="1400" dirty="0"/>
              <a:t>22207 </a:t>
            </a:r>
            <a:r>
              <a:rPr lang="en-US" sz="1400" dirty="0" err="1"/>
              <a:t>bản</a:t>
            </a:r>
            <a:r>
              <a:rPr lang="en-US" sz="1400" dirty="0"/>
              <a:t> </a:t>
            </a:r>
            <a:r>
              <a:rPr lang="en-US" sz="1400" dirty="0" err="1"/>
              <a:t>ghi</a:t>
            </a:r>
            <a:endParaRPr lang="en-US" sz="1400" dirty="0"/>
          </a:p>
          <a:p>
            <a:br>
              <a:rPr lang="en-US" sz="1400" dirty="0"/>
            </a:br>
            <a:r>
              <a:rPr lang="en-US" sz="1400" dirty="0">
                <a:latin typeface="Roboto" panose="02000000000000000000" pitchFamily="2" charset="0"/>
                <a:ea typeface="Roboto" panose="02000000000000000000" pitchFamily="2" charset="0"/>
                <a:cs typeface="Roboto" panose="02000000000000000000" pitchFamily="2" charset="0"/>
              </a:rPr>
              <a:t> </a:t>
            </a:r>
            <a:r>
              <a:rPr lang="en-US" sz="1400" dirty="0" err="1">
                <a:latin typeface="Roboto" panose="02000000000000000000" pitchFamily="2" charset="0"/>
                <a:ea typeface="Roboto" panose="02000000000000000000" pitchFamily="2" charset="0"/>
                <a:cs typeface="Roboto" panose="02000000000000000000" pitchFamily="2" charset="0"/>
              </a:rPr>
              <a:t>dữ</a:t>
            </a:r>
            <a:r>
              <a:rPr lang="en-US" sz="1400" dirty="0">
                <a:latin typeface="Roboto" panose="02000000000000000000" pitchFamily="2" charset="0"/>
                <a:ea typeface="Roboto" panose="02000000000000000000" pitchFamily="2" charset="0"/>
                <a:cs typeface="Roboto" panose="02000000000000000000" pitchFamily="2" charset="0"/>
              </a:rPr>
              <a:t> </a:t>
            </a:r>
            <a:r>
              <a:rPr lang="en-US" sz="1400" dirty="0" err="1">
                <a:latin typeface="Roboto" panose="02000000000000000000" pitchFamily="2" charset="0"/>
                <a:ea typeface="Roboto" panose="02000000000000000000" pitchFamily="2" charset="0"/>
                <a:cs typeface="Roboto" panose="02000000000000000000" pitchFamily="2" charset="0"/>
              </a:rPr>
              <a:t>sạch</a:t>
            </a:r>
            <a:endParaRPr lang="vi-VN" sz="1400" dirty="0">
              <a:latin typeface="Roboto" panose="02000000000000000000" pitchFamily="2" charset="0"/>
              <a:ea typeface="Roboto" panose="02000000000000000000" pitchFamily="2" charset="0"/>
              <a:cs typeface="Roboto" panose="02000000000000000000" pitchFamily="2" charset="0"/>
            </a:endParaRPr>
          </a:p>
          <a:p>
            <a:pPr>
              <a:buFontTx/>
              <a:buChar char="-"/>
            </a:pPr>
            <a:endParaRPr lang="en-US" sz="1534" dirty="0"/>
          </a:p>
        </p:txBody>
      </p:sp>
      <p:sp>
        <p:nvSpPr>
          <p:cNvPr id="6" name="Title 1"/>
          <p:cNvSpPr>
            <a:spLocks noGrp="1"/>
          </p:cNvSpPr>
          <p:nvPr>
            <p:ph type="title"/>
          </p:nvPr>
        </p:nvSpPr>
        <p:spPr>
          <a:xfrm>
            <a:off x="629200" y="77167"/>
            <a:ext cx="10962800" cy="894000"/>
          </a:xfrm>
        </p:spPr>
        <p:txBody>
          <a:bodyPr/>
          <a:lstStyle/>
          <a:p>
            <a:r>
              <a:rPr lang="en" sz="4800" b="1" dirty="0"/>
              <a:t>Phương pháp tiếp cận</a:t>
            </a:r>
            <a:endParaRPr lang="en-US" sz="4800" dirty="0"/>
          </a:p>
        </p:txBody>
      </p:sp>
      <p:sp>
        <p:nvSpPr>
          <p:cNvPr id="7" name="Text Placeholder 2"/>
          <p:cNvSpPr txBox="1">
            <a:spLocks/>
          </p:cNvSpPr>
          <p:nvPr/>
        </p:nvSpPr>
        <p:spPr>
          <a:xfrm>
            <a:off x="0" y="971167"/>
            <a:ext cx="10962800" cy="55192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609585" marR="0" lvl="0" indent="-491054" algn="l" rtl="0">
              <a:lnSpc>
                <a:spcPct val="115000"/>
              </a:lnSpc>
              <a:spcBef>
                <a:spcPts val="0"/>
              </a:spcBef>
              <a:spcAft>
                <a:spcPts val="0"/>
              </a:spcAft>
              <a:buClr>
                <a:srgbClr val="000000"/>
              </a:buClr>
              <a:buSzPts val="2200"/>
              <a:buFont typeface="Roboto"/>
              <a:buChar char="●"/>
              <a:defRPr sz="2933" b="0" i="0" u="none" strike="noStrike" cap="none">
                <a:solidFill>
                  <a:srgbClr val="000000"/>
                </a:solidFill>
                <a:latin typeface="Roboto"/>
                <a:ea typeface="Roboto"/>
                <a:cs typeface="Roboto"/>
                <a:sym typeface="Roboto"/>
              </a:defRPr>
            </a:lvl1pPr>
            <a:lvl2pPr marL="1219170" marR="0" lvl="1" indent="-474121" algn="l" rtl="0">
              <a:lnSpc>
                <a:spcPct val="115000"/>
              </a:lnSpc>
              <a:spcBef>
                <a:spcPts val="2133"/>
              </a:spcBef>
              <a:spcAft>
                <a:spcPts val="0"/>
              </a:spcAft>
              <a:buClr>
                <a:srgbClr val="000000"/>
              </a:buClr>
              <a:buSzPts val="2000"/>
              <a:buFont typeface="Roboto"/>
              <a:buChar char="○"/>
              <a:defRPr sz="2667" b="0" i="0" u="none" strike="noStrike" cap="none">
                <a:solidFill>
                  <a:srgbClr val="000000"/>
                </a:solidFill>
                <a:latin typeface="Roboto"/>
                <a:ea typeface="Roboto"/>
                <a:cs typeface="Roboto"/>
                <a:sym typeface="Roboto"/>
              </a:defRPr>
            </a:lvl2pPr>
            <a:lvl3pPr marL="1828754" marR="0" lvl="2" indent="-457189" algn="l" rtl="0">
              <a:lnSpc>
                <a:spcPct val="115000"/>
              </a:lnSpc>
              <a:spcBef>
                <a:spcPts val="2133"/>
              </a:spcBef>
              <a:spcAft>
                <a:spcPts val="0"/>
              </a:spcAft>
              <a:buClr>
                <a:srgbClr val="000000"/>
              </a:buClr>
              <a:buSzPts val="1800"/>
              <a:buFont typeface="Roboto"/>
              <a:buChar char="■"/>
              <a:defRPr sz="2400" b="0" i="0" u="none" strike="noStrike" cap="none">
                <a:solidFill>
                  <a:srgbClr val="000000"/>
                </a:solidFill>
                <a:latin typeface="Roboto"/>
                <a:ea typeface="Roboto"/>
                <a:cs typeface="Roboto"/>
                <a:sym typeface="Roboto"/>
              </a:defRPr>
            </a:lvl3pPr>
            <a:lvl4pPr marL="2438339" marR="0" lvl="3" indent="-440256" algn="l" rtl="0">
              <a:lnSpc>
                <a:spcPct val="115000"/>
              </a:lnSpc>
              <a:spcBef>
                <a:spcPts val="2133"/>
              </a:spcBef>
              <a:spcAft>
                <a:spcPts val="0"/>
              </a:spcAft>
              <a:buClr>
                <a:srgbClr val="000000"/>
              </a:buClr>
              <a:buSzPts val="1600"/>
              <a:buFont typeface="Roboto"/>
              <a:buChar char="●"/>
              <a:defRPr sz="2133" b="0" i="0" u="none" strike="noStrike" cap="none">
                <a:solidFill>
                  <a:srgbClr val="000000"/>
                </a:solidFill>
                <a:latin typeface="Roboto"/>
                <a:ea typeface="Roboto"/>
                <a:cs typeface="Roboto"/>
                <a:sym typeface="Roboto"/>
              </a:defRPr>
            </a:lvl4pPr>
            <a:lvl5pPr marL="3047924" marR="0" lvl="4" indent="-423323" algn="l" rtl="0">
              <a:lnSpc>
                <a:spcPct val="115000"/>
              </a:lnSpc>
              <a:spcBef>
                <a:spcPts val="2133"/>
              </a:spcBef>
              <a:spcAft>
                <a:spcPts val="0"/>
              </a:spcAft>
              <a:buClr>
                <a:srgbClr val="000000"/>
              </a:buClr>
              <a:buSzPts val="1400"/>
              <a:buFont typeface="Roboto"/>
              <a:buChar char="○"/>
              <a:defRPr sz="1867" b="0" i="0" u="none" strike="noStrike" cap="none">
                <a:solidFill>
                  <a:srgbClr val="000000"/>
                </a:solidFill>
                <a:latin typeface="Roboto"/>
                <a:ea typeface="Roboto"/>
                <a:cs typeface="Roboto"/>
                <a:sym typeface="Roboto"/>
              </a:defRPr>
            </a:lvl5pPr>
            <a:lvl6pPr marL="3657509" marR="0" lvl="5" indent="-423323" algn="l" rtl="0">
              <a:lnSpc>
                <a:spcPct val="115000"/>
              </a:lnSpc>
              <a:spcBef>
                <a:spcPts val="2133"/>
              </a:spcBef>
              <a:spcAft>
                <a:spcPts val="0"/>
              </a:spcAft>
              <a:buClr>
                <a:srgbClr val="000000"/>
              </a:buClr>
              <a:buSzPts val="1400"/>
              <a:buFont typeface="Roboto"/>
              <a:buChar char="■"/>
              <a:defRPr sz="1867" b="0" i="0" u="none" strike="noStrike" cap="none">
                <a:solidFill>
                  <a:srgbClr val="000000"/>
                </a:solidFill>
                <a:latin typeface="Roboto"/>
                <a:ea typeface="Roboto"/>
                <a:cs typeface="Roboto"/>
                <a:sym typeface="Roboto"/>
              </a:defRPr>
            </a:lvl6pPr>
            <a:lvl7pPr marL="4267093" marR="0" lvl="6" indent="-423323" algn="l" rtl="0">
              <a:lnSpc>
                <a:spcPct val="115000"/>
              </a:lnSpc>
              <a:spcBef>
                <a:spcPts val="2133"/>
              </a:spcBef>
              <a:spcAft>
                <a:spcPts val="0"/>
              </a:spcAft>
              <a:buClr>
                <a:srgbClr val="000000"/>
              </a:buClr>
              <a:buSzPts val="1400"/>
              <a:buFont typeface="Roboto"/>
              <a:buChar char="●"/>
              <a:defRPr sz="1867" b="0" i="0" u="none" strike="noStrike" cap="none">
                <a:solidFill>
                  <a:srgbClr val="000000"/>
                </a:solidFill>
                <a:latin typeface="Roboto"/>
                <a:ea typeface="Roboto"/>
                <a:cs typeface="Roboto"/>
                <a:sym typeface="Roboto"/>
              </a:defRPr>
            </a:lvl7pPr>
            <a:lvl8pPr marL="4876678" marR="0" lvl="7" indent="-423323" algn="l" rtl="0">
              <a:lnSpc>
                <a:spcPct val="115000"/>
              </a:lnSpc>
              <a:spcBef>
                <a:spcPts val="2133"/>
              </a:spcBef>
              <a:spcAft>
                <a:spcPts val="0"/>
              </a:spcAft>
              <a:buClr>
                <a:srgbClr val="000000"/>
              </a:buClr>
              <a:buSzPts val="1400"/>
              <a:buFont typeface="Roboto"/>
              <a:buChar char="○"/>
              <a:defRPr sz="1867" b="0" i="0" u="none" strike="noStrike" cap="none">
                <a:solidFill>
                  <a:srgbClr val="000000"/>
                </a:solidFill>
                <a:latin typeface="Roboto"/>
                <a:ea typeface="Roboto"/>
                <a:cs typeface="Roboto"/>
                <a:sym typeface="Roboto"/>
              </a:defRPr>
            </a:lvl8pPr>
            <a:lvl9pPr marL="5486263" marR="0" lvl="8" indent="-423323" algn="l" rtl="0">
              <a:lnSpc>
                <a:spcPct val="115000"/>
              </a:lnSpc>
              <a:spcBef>
                <a:spcPts val="2133"/>
              </a:spcBef>
              <a:spcAft>
                <a:spcPts val="2133"/>
              </a:spcAft>
              <a:buClr>
                <a:schemeClr val="lt2"/>
              </a:buClr>
              <a:buSzPts val="1400"/>
              <a:buFont typeface="Roboto"/>
              <a:buChar char="■"/>
              <a:defRPr sz="1867" b="0" i="0" u="none" strike="noStrike" cap="none">
                <a:solidFill>
                  <a:schemeClr val="lt2"/>
                </a:solidFill>
                <a:latin typeface="Roboto"/>
                <a:ea typeface="Roboto"/>
                <a:cs typeface="Roboto"/>
                <a:sym typeface="Roboto"/>
              </a:defRPr>
            </a:lvl9pPr>
          </a:lstStyle>
          <a:p>
            <a:pPr marL="118531" indent="0">
              <a:buFont typeface="Roboto"/>
              <a:buNone/>
            </a:pPr>
            <a:r>
              <a:rPr lang="en-US" sz="2000" b="1" kern="0" dirty="0"/>
              <a:t>2. </a:t>
            </a:r>
            <a:r>
              <a:rPr lang="en-US" sz="2000" b="1" kern="0" dirty="0" err="1"/>
              <a:t>Tiền</a:t>
            </a:r>
            <a:r>
              <a:rPr lang="en-US" sz="2000" b="1" kern="0" dirty="0"/>
              <a:t> </a:t>
            </a:r>
            <a:r>
              <a:rPr lang="en-US" sz="2000" b="1" kern="0" dirty="0" err="1"/>
              <a:t>xử</a:t>
            </a:r>
            <a:r>
              <a:rPr lang="en-US" sz="2000" b="1" kern="0" dirty="0"/>
              <a:t> </a:t>
            </a:r>
            <a:r>
              <a:rPr lang="en-US" sz="2000" b="1" kern="0" dirty="0" err="1"/>
              <a:t>lý</a:t>
            </a:r>
            <a:r>
              <a:rPr lang="en-US" sz="2000" b="1" kern="0" dirty="0"/>
              <a:t> </a:t>
            </a:r>
            <a:r>
              <a:rPr lang="en-US" sz="2000" b="1" kern="0" dirty="0" err="1"/>
              <a:t>dữ</a:t>
            </a:r>
            <a:r>
              <a:rPr lang="en-US" sz="2000" b="1" kern="0" dirty="0"/>
              <a:t> </a:t>
            </a:r>
            <a:r>
              <a:rPr lang="en-US" sz="2000" b="1" kern="0" dirty="0" err="1"/>
              <a:t>liệu</a:t>
            </a:r>
            <a:endParaRPr lang="en-US" sz="2000" b="1" kern="0" dirty="0"/>
          </a:p>
        </p:txBody>
      </p:sp>
      <p:pic>
        <p:nvPicPr>
          <p:cNvPr id="6146" name="Picture 2">
            <a:extLst>
              <a:ext uri="{FF2B5EF4-FFF2-40B4-BE49-F238E27FC236}">
                <a16:creationId xmlns:a16="http://schemas.microsoft.com/office/drawing/2014/main" id="{854604BE-FF7C-6D30-B9F4-89706B4834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032" y="3463464"/>
            <a:ext cx="2647950" cy="195262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67CA249-2B52-1437-8F1E-7D249EE7AA56}"/>
              </a:ext>
            </a:extLst>
          </p:cNvPr>
          <p:cNvSpPr txBox="1"/>
          <p:nvPr/>
        </p:nvSpPr>
        <p:spPr>
          <a:xfrm>
            <a:off x="81284" y="5751640"/>
            <a:ext cx="2714753" cy="307777"/>
          </a:xfrm>
          <a:prstGeom prst="rect">
            <a:avLst/>
          </a:prstGeom>
          <a:noFill/>
        </p:spPr>
        <p:txBody>
          <a:bodyPr wrap="square">
            <a:spAutoFit/>
          </a:bodyPr>
          <a:lstStyle/>
          <a:p>
            <a:r>
              <a:rPr lang="en-US" sz="1400" b="0" i="1" u="none" strike="noStrike" dirty="0" err="1">
                <a:solidFill>
                  <a:srgbClr val="000000"/>
                </a:solidFill>
                <a:effectLst/>
                <a:latin typeface="Times New Roman" panose="02020603050405020304" pitchFamily="18" charset="0"/>
              </a:rPr>
              <a:t>Hình</a:t>
            </a:r>
            <a:r>
              <a:rPr lang="en-US" sz="1400" b="0" i="1" u="none" strike="noStrike" dirty="0">
                <a:solidFill>
                  <a:srgbClr val="000000"/>
                </a:solidFill>
                <a:effectLst/>
                <a:latin typeface="Times New Roman" panose="02020603050405020304" pitchFamily="18" charset="0"/>
              </a:rPr>
              <a:t> 3: </a:t>
            </a:r>
            <a:r>
              <a:rPr lang="en-US" sz="1400" b="0" i="1" u="none" strike="noStrike" dirty="0" err="1">
                <a:solidFill>
                  <a:srgbClr val="000000"/>
                </a:solidFill>
                <a:effectLst/>
                <a:latin typeface="Times New Roman" panose="02020603050405020304" pitchFamily="18" charset="0"/>
              </a:rPr>
              <a:t>Xử</a:t>
            </a:r>
            <a:r>
              <a:rPr lang="en-US" sz="1400" b="0" i="1" u="none" strike="noStrike" dirty="0">
                <a:solidFill>
                  <a:srgbClr val="000000"/>
                </a:solidFill>
                <a:effectLst/>
                <a:latin typeface="Times New Roman" panose="02020603050405020304" pitchFamily="18" charset="0"/>
              </a:rPr>
              <a:t> </a:t>
            </a:r>
            <a:r>
              <a:rPr lang="en-US" sz="1400" b="0" i="1" u="none" strike="noStrike" dirty="0" err="1">
                <a:solidFill>
                  <a:srgbClr val="000000"/>
                </a:solidFill>
                <a:effectLst/>
                <a:latin typeface="Times New Roman" panose="02020603050405020304" pitchFamily="18" charset="0"/>
              </a:rPr>
              <a:t>lý</a:t>
            </a:r>
            <a:r>
              <a:rPr lang="en-US" sz="1400" b="0" i="1" u="none" strike="noStrike" dirty="0">
                <a:solidFill>
                  <a:srgbClr val="000000"/>
                </a:solidFill>
                <a:effectLst/>
                <a:latin typeface="Times New Roman" panose="02020603050405020304" pitchFamily="18" charset="0"/>
              </a:rPr>
              <a:t> </a:t>
            </a:r>
            <a:r>
              <a:rPr lang="en-US" sz="1400" b="0" i="1" u="none" strike="noStrike" dirty="0" err="1">
                <a:solidFill>
                  <a:srgbClr val="000000"/>
                </a:solidFill>
                <a:effectLst/>
                <a:latin typeface="Times New Roman" panose="02020603050405020304" pitchFamily="18" charset="0"/>
              </a:rPr>
              <a:t>ngoại</a:t>
            </a:r>
            <a:r>
              <a:rPr lang="en-US" sz="1400" b="0" i="1" u="none" strike="noStrike" dirty="0">
                <a:solidFill>
                  <a:srgbClr val="000000"/>
                </a:solidFill>
                <a:effectLst/>
                <a:latin typeface="Times New Roman" panose="02020603050405020304" pitchFamily="18" charset="0"/>
              </a:rPr>
              <a:t> lai </a:t>
            </a:r>
            <a:r>
              <a:rPr lang="en-US" sz="1400" b="0" i="1" u="none" strike="noStrike" dirty="0" err="1">
                <a:solidFill>
                  <a:srgbClr val="000000"/>
                </a:solidFill>
                <a:effectLst/>
                <a:latin typeface="Times New Roman" panose="02020603050405020304" pitchFamily="18" charset="0"/>
              </a:rPr>
              <a:t>giai</a:t>
            </a:r>
            <a:r>
              <a:rPr lang="en-US" sz="1400" b="0" i="1" u="none" strike="noStrike" dirty="0">
                <a:solidFill>
                  <a:srgbClr val="000000"/>
                </a:solidFill>
                <a:effectLst/>
                <a:latin typeface="Times New Roman" panose="02020603050405020304" pitchFamily="18" charset="0"/>
              </a:rPr>
              <a:t> </a:t>
            </a:r>
            <a:r>
              <a:rPr lang="en-US" sz="1400" b="0" i="1" u="none" strike="noStrike" dirty="0" err="1">
                <a:solidFill>
                  <a:srgbClr val="000000"/>
                </a:solidFill>
                <a:effectLst/>
                <a:latin typeface="Times New Roman" panose="02020603050405020304" pitchFamily="18" charset="0"/>
              </a:rPr>
              <a:t>đoạn</a:t>
            </a:r>
            <a:r>
              <a:rPr lang="en-US" sz="1400" b="0" i="1" u="none" strike="noStrike" dirty="0">
                <a:solidFill>
                  <a:srgbClr val="000000"/>
                </a:solidFill>
                <a:effectLst/>
                <a:latin typeface="Times New Roman" panose="02020603050405020304" pitchFamily="18" charset="0"/>
              </a:rPr>
              <a:t> 1</a:t>
            </a:r>
            <a:endParaRPr lang="en-US" sz="1400" dirty="0"/>
          </a:p>
        </p:txBody>
      </p:sp>
      <p:pic>
        <p:nvPicPr>
          <p:cNvPr id="6148" name="Picture 4">
            <a:extLst>
              <a:ext uri="{FF2B5EF4-FFF2-40B4-BE49-F238E27FC236}">
                <a16:creationId xmlns:a16="http://schemas.microsoft.com/office/drawing/2014/main" id="{C0958992-6F3A-19A8-C6E9-5D778E0ED4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39225" y="3108235"/>
            <a:ext cx="3152775" cy="249555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3489A937-3EBF-81C4-E682-D368676458BC}"/>
              </a:ext>
            </a:extLst>
          </p:cNvPr>
          <p:cNvSpPr txBox="1"/>
          <p:nvPr/>
        </p:nvSpPr>
        <p:spPr>
          <a:xfrm>
            <a:off x="9146440" y="5782236"/>
            <a:ext cx="6096000" cy="307777"/>
          </a:xfrm>
          <a:prstGeom prst="rect">
            <a:avLst/>
          </a:prstGeom>
          <a:noFill/>
        </p:spPr>
        <p:txBody>
          <a:bodyPr wrap="square">
            <a:spAutoFit/>
          </a:bodyPr>
          <a:lstStyle/>
          <a:p>
            <a:r>
              <a:rPr lang="en-US" sz="1400" b="0" i="1" u="none" strike="noStrike" dirty="0" err="1">
                <a:solidFill>
                  <a:srgbClr val="000000"/>
                </a:solidFill>
                <a:effectLst/>
                <a:latin typeface="Times New Roman" panose="02020603050405020304" pitchFamily="18" charset="0"/>
              </a:rPr>
              <a:t>Hình</a:t>
            </a:r>
            <a:r>
              <a:rPr lang="en-US" sz="1400" b="0" i="1" u="none" strike="noStrike" dirty="0">
                <a:solidFill>
                  <a:srgbClr val="000000"/>
                </a:solidFill>
                <a:effectLst/>
                <a:latin typeface="Times New Roman" panose="02020603050405020304" pitchFamily="18" charset="0"/>
              </a:rPr>
              <a:t> 6: </a:t>
            </a:r>
            <a:r>
              <a:rPr lang="en-US" sz="1400" b="0" i="1" u="none" strike="noStrike" dirty="0" err="1">
                <a:solidFill>
                  <a:srgbClr val="000000"/>
                </a:solidFill>
                <a:effectLst/>
                <a:latin typeface="Times New Roman" panose="02020603050405020304" pitchFamily="18" charset="0"/>
              </a:rPr>
              <a:t>Kết</a:t>
            </a:r>
            <a:r>
              <a:rPr lang="en-US" sz="1400" b="0" i="1" u="none" strike="noStrike" dirty="0">
                <a:solidFill>
                  <a:srgbClr val="000000"/>
                </a:solidFill>
                <a:effectLst/>
                <a:latin typeface="Times New Roman" panose="02020603050405020304" pitchFamily="18" charset="0"/>
              </a:rPr>
              <a:t> </a:t>
            </a:r>
            <a:r>
              <a:rPr lang="en-US" sz="1400" b="0" i="1" u="none" strike="noStrike" dirty="0" err="1">
                <a:solidFill>
                  <a:srgbClr val="000000"/>
                </a:solidFill>
                <a:effectLst/>
                <a:latin typeface="Times New Roman" panose="02020603050405020304" pitchFamily="18" charset="0"/>
              </a:rPr>
              <a:t>quả</a:t>
            </a:r>
            <a:r>
              <a:rPr lang="en-US" sz="1400" b="0" i="1" u="none" strike="noStrike" dirty="0">
                <a:solidFill>
                  <a:srgbClr val="000000"/>
                </a:solidFill>
                <a:effectLst/>
                <a:latin typeface="Times New Roman" panose="02020603050405020304" pitchFamily="18" charset="0"/>
              </a:rPr>
              <a:t> </a:t>
            </a:r>
            <a:r>
              <a:rPr lang="en-US" sz="1400" b="0" i="1" u="none" strike="noStrike" dirty="0" err="1">
                <a:solidFill>
                  <a:srgbClr val="000000"/>
                </a:solidFill>
                <a:effectLst/>
                <a:latin typeface="Times New Roman" panose="02020603050405020304" pitchFamily="18" charset="0"/>
              </a:rPr>
              <a:t>sau</a:t>
            </a:r>
            <a:r>
              <a:rPr lang="en-US" sz="1400" b="0" i="1" u="none" strike="noStrike" dirty="0">
                <a:solidFill>
                  <a:srgbClr val="000000"/>
                </a:solidFill>
                <a:effectLst/>
                <a:latin typeface="Times New Roman" panose="02020603050405020304" pitchFamily="18" charset="0"/>
              </a:rPr>
              <a:t> </a:t>
            </a:r>
            <a:r>
              <a:rPr lang="en-US" sz="1400" b="0" i="1" u="none" strike="noStrike" dirty="0" err="1">
                <a:solidFill>
                  <a:srgbClr val="000000"/>
                </a:solidFill>
                <a:effectLst/>
                <a:latin typeface="Times New Roman" panose="02020603050405020304" pitchFamily="18" charset="0"/>
              </a:rPr>
              <a:t>khi</a:t>
            </a:r>
            <a:r>
              <a:rPr lang="en-US" sz="1400" b="0" i="1" u="none" strike="noStrike" dirty="0">
                <a:solidFill>
                  <a:srgbClr val="000000"/>
                </a:solidFill>
                <a:effectLst/>
                <a:latin typeface="Times New Roman" panose="02020603050405020304" pitchFamily="18" charset="0"/>
              </a:rPr>
              <a:t> </a:t>
            </a:r>
            <a:r>
              <a:rPr lang="en-US" sz="1400" b="0" i="1" u="none" strike="noStrike" dirty="0" err="1">
                <a:solidFill>
                  <a:srgbClr val="000000"/>
                </a:solidFill>
                <a:effectLst/>
                <a:latin typeface="Times New Roman" panose="02020603050405020304" pitchFamily="18" charset="0"/>
              </a:rPr>
              <a:t>xử</a:t>
            </a:r>
            <a:r>
              <a:rPr lang="en-US" sz="1400" b="0" i="1" u="none" strike="noStrike" dirty="0">
                <a:solidFill>
                  <a:srgbClr val="000000"/>
                </a:solidFill>
                <a:effectLst/>
                <a:latin typeface="Times New Roman" panose="02020603050405020304" pitchFamily="18" charset="0"/>
              </a:rPr>
              <a:t> </a:t>
            </a:r>
            <a:r>
              <a:rPr lang="en-US" sz="1400" b="0" i="1" u="none" strike="noStrike" dirty="0" err="1">
                <a:solidFill>
                  <a:srgbClr val="000000"/>
                </a:solidFill>
                <a:effectLst/>
                <a:latin typeface="Times New Roman" panose="02020603050405020304" pitchFamily="18" charset="0"/>
              </a:rPr>
              <a:t>lý</a:t>
            </a:r>
            <a:endParaRPr lang="en-US" sz="1400" dirty="0"/>
          </a:p>
        </p:txBody>
      </p:sp>
      <p:pic>
        <p:nvPicPr>
          <p:cNvPr id="6152" name="Picture 8">
            <a:extLst>
              <a:ext uri="{FF2B5EF4-FFF2-40B4-BE49-F238E27FC236}">
                <a16:creationId xmlns:a16="http://schemas.microsoft.com/office/drawing/2014/main" id="{55E77751-7466-025F-306E-8E1041B1570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3283" y="2888998"/>
            <a:ext cx="3220473" cy="2862643"/>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1CBB7F53-88CD-1B0C-6ACE-CDA7CDC8E38C}"/>
              </a:ext>
            </a:extLst>
          </p:cNvPr>
          <p:cNvSpPr txBox="1"/>
          <p:nvPr/>
        </p:nvSpPr>
        <p:spPr>
          <a:xfrm>
            <a:off x="5763639" y="5751641"/>
            <a:ext cx="2698350" cy="307777"/>
          </a:xfrm>
          <a:prstGeom prst="rect">
            <a:avLst/>
          </a:prstGeom>
          <a:noFill/>
        </p:spPr>
        <p:txBody>
          <a:bodyPr wrap="square">
            <a:spAutoFit/>
          </a:bodyPr>
          <a:lstStyle/>
          <a:p>
            <a:r>
              <a:rPr lang="en-US" sz="1400" b="0" i="1" u="none" strike="noStrike" dirty="0" err="1">
                <a:solidFill>
                  <a:srgbClr val="000000"/>
                </a:solidFill>
                <a:effectLst/>
                <a:latin typeface="Times New Roman" panose="02020603050405020304" pitchFamily="18" charset="0"/>
              </a:rPr>
              <a:t>Hình</a:t>
            </a:r>
            <a:r>
              <a:rPr lang="en-US" sz="1400" b="0" i="1" u="none" strike="noStrike" dirty="0">
                <a:solidFill>
                  <a:srgbClr val="000000"/>
                </a:solidFill>
                <a:effectLst/>
                <a:latin typeface="Times New Roman" panose="02020603050405020304" pitchFamily="18" charset="0"/>
              </a:rPr>
              <a:t> 5: </a:t>
            </a:r>
            <a:r>
              <a:rPr lang="en-US" sz="1400" b="0" i="1" u="none" strike="noStrike" dirty="0" err="1">
                <a:solidFill>
                  <a:srgbClr val="000000"/>
                </a:solidFill>
                <a:effectLst/>
                <a:latin typeface="Times New Roman" panose="02020603050405020304" pitchFamily="18" charset="0"/>
              </a:rPr>
              <a:t>Làm</a:t>
            </a:r>
            <a:r>
              <a:rPr lang="en-US" sz="1400" b="0" i="1" u="none" strike="noStrike" dirty="0">
                <a:solidFill>
                  <a:srgbClr val="000000"/>
                </a:solidFill>
                <a:effectLst/>
                <a:latin typeface="Times New Roman" panose="02020603050405020304" pitchFamily="18" charset="0"/>
              </a:rPr>
              <a:t> </a:t>
            </a:r>
            <a:r>
              <a:rPr lang="en-US" sz="1400" b="0" i="1" u="none" strike="noStrike" dirty="0" err="1">
                <a:solidFill>
                  <a:srgbClr val="000000"/>
                </a:solidFill>
                <a:effectLst/>
                <a:latin typeface="Times New Roman" panose="02020603050405020304" pitchFamily="18" charset="0"/>
              </a:rPr>
              <a:t>sạch</a:t>
            </a:r>
            <a:r>
              <a:rPr lang="en-US" sz="1400" b="0" i="1" u="none" strike="noStrike" dirty="0">
                <a:solidFill>
                  <a:srgbClr val="000000"/>
                </a:solidFill>
                <a:effectLst/>
                <a:latin typeface="Times New Roman" panose="02020603050405020304" pitchFamily="18" charset="0"/>
              </a:rPr>
              <a:t> ten </a:t>
            </a:r>
            <a:r>
              <a:rPr lang="en-US" sz="1400" b="0" i="1" u="none" strike="noStrike" dirty="0" err="1">
                <a:solidFill>
                  <a:srgbClr val="000000"/>
                </a:solidFill>
                <a:effectLst/>
                <a:latin typeface="Times New Roman" panose="02020603050405020304" pitchFamily="18" charset="0"/>
              </a:rPr>
              <a:t>quận</a:t>
            </a:r>
            <a:r>
              <a:rPr lang="en-US" sz="1400" b="0" i="1" u="none" strike="noStrike" dirty="0">
                <a:solidFill>
                  <a:srgbClr val="000000"/>
                </a:solidFill>
                <a:effectLst/>
                <a:latin typeface="Times New Roman" panose="02020603050405020304" pitchFamily="18" charset="0"/>
              </a:rPr>
              <a:t>/</a:t>
            </a:r>
            <a:r>
              <a:rPr lang="en-US" sz="1400" b="0" i="1" u="none" strike="noStrike" dirty="0" err="1">
                <a:solidFill>
                  <a:srgbClr val="000000"/>
                </a:solidFill>
                <a:effectLst/>
                <a:latin typeface="Times New Roman" panose="02020603050405020304" pitchFamily="18" charset="0"/>
              </a:rPr>
              <a:t>huyện</a:t>
            </a:r>
            <a:endParaRPr lang="en-US" sz="1400" dirty="0"/>
          </a:p>
        </p:txBody>
      </p:sp>
      <p:sp>
        <p:nvSpPr>
          <p:cNvPr id="10" name="TextBox 9">
            <a:extLst>
              <a:ext uri="{FF2B5EF4-FFF2-40B4-BE49-F238E27FC236}">
                <a16:creationId xmlns:a16="http://schemas.microsoft.com/office/drawing/2014/main" id="{FD0345C7-C8D8-B15D-72A1-BE067BC2C376}"/>
              </a:ext>
            </a:extLst>
          </p:cNvPr>
          <p:cNvSpPr txBox="1"/>
          <p:nvPr/>
        </p:nvSpPr>
        <p:spPr>
          <a:xfrm>
            <a:off x="3006743" y="5757266"/>
            <a:ext cx="2285129" cy="307777"/>
          </a:xfrm>
          <a:prstGeom prst="rect">
            <a:avLst/>
          </a:prstGeom>
          <a:noFill/>
        </p:spPr>
        <p:txBody>
          <a:bodyPr wrap="square">
            <a:spAutoFit/>
          </a:bodyPr>
          <a:lstStyle/>
          <a:p>
            <a:r>
              <a:rPr lang="en-US" sz="1400" b="0" i="1" u="none" strike="noStrike" dirty="0" err="1">
                <a:solidFill>
                  <a:srgbClr val="000000"/>
                </a:solidFill>
                <a:effectLst/>
                <a:latin typeface="Times New Roman" panose="02020603050405020304" pitchFamily="18" charset="0"/>
              </a:rPr>
              <a:t>Hình</a:t>
            </a:r>
            <a:r>
              <a:rPr lang="en-US" sz="1400" b="0" i="1" u="none" strike="noStrike" dirty="0">
                <a:solidFill>
                  <a:srgbClr val="000000"/>
                </a:solidFill>
                <a:effectLst/>
                <a:latin typeface="Times New Roman" panose="02020603050405020304" pitchFamily="18" charset="0"/>
              </a:rPr>
              <a:t> 4: </a:t>
            </a:r>
            <a:r>
              <a:rPr lang="en-US" sz="1400" b="0" i="1" u="none" strike="noStrike" dirty="0" err="1">
                <a:solidFill>
                  <a:srgbClr val="000000"/>
                </a:solidFill>
                <a:effectLst/>
                <a:latin typeface="Times New Roman" panose="02020603050405020304" pitchFamily="18" charset="0"/>
              </a:rPr>
              <a:t>Điền</a:t>
            </a:r>
            <a:r>
              <a:rPr lang="en-US" sz="1400" b="0" i="1" u="none" strike="noStrike" dirty="0">
                <a:solidFill>
                  <a:srgbClr val="000000"/>
                </a:solidFill>
                <a:effectLst/>
                <a:latin typeface="Times New Roman" panose="02020603050405020304" pitchFamily="18" charset="0"/>
              </a:rPr>
              <a:t> </a:t>
            </a:r>
            <a:r>
              <a:rPr lang="en-US" sz="1400" b="0" i="1" u="none" strike="noStrike" dirty="0" err="1">
                <a:solidFill>
                  <a:srgbClr val="000000"/>
                </a:solidFill>
                <a:effectLst/>
                <a:latin typeface="Times New Roman" panose="02020603050405020304" pitchFamily="18" charset="0"/>
              </a:rPr>
              <a:t>giá</a:t>
            </a:r>
            <a:r>
              <a:rPr lang="en-US" sz="1400" b="0" i="1" u="none" strike="noStrike" dirty="0">
                <a:solidFill>
                  <a:srgbClr val="000000"/>
                </a:solidFill>
                <a:effectLst/>
                <a:latin typeface="Times New Roman" panose="02020603050405020304" pitchFamily="18" charset="0"/>
              </a:rPr>
              <a:t> </a:t>
            </a:r>
            <a:r>
              <a:rPr lang="en-US" sz="1400" b="0" i="1" u="none" strike="noStrike" dirty="0" err="1">
                <a:solidFill>
                  <a:srgbClr val="000000"/>
                </a:solidFill>
                <a:effectLst/>
                <a:latin typeface="Times New Roman" panose="02020603050405020304" pitchFamily="18" charset="0"/>
              </a:rPr>
              <a:t>trị</a:t>
            </a:r>
            <a:r>
              <a:rPr lang="en-US" sz="1400" b="0" i="1" u="none" strike="noStrike" dirty="0">
                <a:solidFill>
                  <a:srgbClr val="000000"/>
                </a:solidFill>
                <a:effectLst/>
                <a:latin typeface="Times New Roman" panose="02020603050405020304" pitchFamily="18" charset="0"/>
              </a:rPr>
              <a:t> </a:t>
            </a:r>
            <a:r>
              <a:rPr lang="en-US" sz="1400" b="0" i="1" u="none" strike="noStrike" dirty="0" err="1">
                <a:solidFill>
                  <a:srgbClr val="000000"/>
                </a:solidFill>
                <a:effectLst/>
                <a:latin typeface="Times New Roman" panose="02020603050405020304" pitchFamily="18" charset="0"/>
              </a:rPr>
              <a:t>bị</a:t>
            </a:r>
            <a:r>
              <a:rPr lang="en-US" sz="1400" b="0" i="1" u="none" strike="noStrike" dirty="0">
                <a:solidFill>
                  <a:srgbClr val="000000"/>
                </a:solidFill>
                <a:effectLst/>
                <a:latin typeface="Times New Roman" panose="02020603050405020304" pitchFamily="18" charset="0"/>
              </a:rPr>
              <a:t> </a:t>
            </a:r>
            <a:r>
              <a:rPr lang="en-US" sz="1400" b="0" i="1" u="none" strike="noStrike" dirty="0" err="1">
                <a:solidFill>
                  <a:srgbClr val="000000"/>
                </a:solidFill>
                <a:effectLst/>
                <a:latin typeface="Times New Roman" panose="02020603050405020304" pitchFamily="18" charset="0"/>
              </a:rPr>
              <a:t>thiếu</a:t>
            </a:r>
            <a:endParaRPr lang="en-US" sz="1400" dirty="0"/>
          </a:p>
        </p:txBody>
      </p:sp>
      <p:pic>
        <p:nvPicPr>
          <p:cNvPr id="6154" name="Picture 10">
            <a:extLst>
              <a:ext uri="{FF2B5EF4-FFF2-40B4-BE49-F238E27FC236}">
                <a16:creationId xmlns:a16="http://schemas.microsoft.com/office/drawing/2014/main" id="{79BE619D-E9DC-F2C7-D762-9CEFA7B03E0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71630" y="3615844"/>
            <a:ext cx="2766060" cy="16478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07386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a:spLocks noGrp="1"/>
          </p:cNvSpPr>
          <p:nvPr>
            <p:ph type="title"/>
          </p:nvPr>
        </p:nvSpPr>
        <p:spPr>
          <a:xfrm>
            <a:off x="629200" y="77167"/>
            <a:ext cx="10962800" cy="894000"/>
          </a:xfrm>
        </p:spPr>
        <p:txBody>
          <a:bodyPr/>
          <a:lstStyle/>
          <a:p>
            <a:r>
              <a:rPr lang="en" sz="4800" b="1" dirty="0"/>
              <a:t>Phương pháp tiếp cận</a:t>
            </a:r>
            <a:endParaRPr lang="en-US" sz="4800" dirty="0"/>
          </a:p>
        </p:txBody>
      </p:sp>
      <p:sp>
        <p:nvSpPr>
          <p:cNvPr id="10" name="Text Placeholder 2"/>
          <p:cNvSpPr txBox="1">
            <a:spLocks/>
          </p:cNvSpPr>
          <p:nvPr/>
        </p:nvSpPr>
        <p:spPr>
          <a:xfrm>
            <a:off x="0" y="971167"/>
            <a:ext cx="10962800" cy="55192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609585" marR="0" lvl="0" indent="-491054" algn="l" rtl="0">
              <a:lnSpc>
                <a:spcPct val="115000"/>
              </a:lnSpc>
              <a:spcBef>
                <a:spcPts val="0"/>
              </a:spcBef>
              <a:spcAft>
                <a:spcPts val="0"/>
              </a:spcAft>
              <a:buClr>
                <a:srgbClr val="000000"/>
              </a:buClr>
              <a:buSzPts val="2200"/>
              <a:buFont typeface="Roboto"/>
              <a:buChar char="●"/>
              <a:defRPr sz="2933" b="0" i="0" u="none" strike="noStrike" cap="none">
                <a:solidFill>
                  <a:srgbClr val="000000"/>
                </a:solidFill>
                <a:latin typeface="Roboto"/>
                <a:ea typeface="Roboto"/>
                <a:cs typeface="Roboto"/>
                <a:sym typeface="Roboto"/>
              </a:defRPr>
            </a:lvl1pPr>
            <a:lvl2pPr marL="1219170" marR="0" lvl="1" indent="-474121" algn="l" rtl="0">
              <a:lnSpc>
                <a:spcPct val="115000"/>
              </a:lnSpc>
              <a:spcBef>
                <a:spcPts val="2133"/>
              </a:spcBef>
              <a:spcAft>
                <a:spcPts val="0"/>
              </a:spcAft>
              <a:buClr>
                <a:srgbClr val="000000"/>
              </a:buClr>
              <a:buSzPts val="2000"/>
              <a:buFont typeface="Roboto"/>
              <a:buChar char="○"/>
              <a:defRPr sz="2667" b="0" i="0" u="none" strike="noStrike" cap="none">
                <a:solidFill>
                  <a:srgbClr val="000000"/>
                </a:solidFill>
                <a:latin typeface="Roboto"/>
                <a:ea typeface="Roboto"/>
                <a:cs typeface="Roboto"/>
                <a:sym typeface="Roboto"/>
              </a:defRPr>
            </a:lvl2pPr>
            <a:lvl3pPr marL="1828754" marR="0" lvl="2" indent="-457189" algn="l" rtl="0">
              <a:lnSpc>
                <a:spcPct val="115000"/>
              </a:lnSpc>
              <a:spcBef>
                <a:spcPts val="2133"/>
              </a:spcBef>
              <a:spcAft>
                <a:spcPts val="0"/>
              </a:spcAft>
              <a:buClr>
                <a:srgbClr val="000000"/>
              </a:buClr>
              <a:buSzPts val="1800"/>
              <a:buFont typeface="Roboto"/>
              <a:buChar char="■"/>
              <a:defRPr sz="2400" b="0" i="0" u="none" strike="noStrike" cap="none">
                <a:solidFill>
                  <a:srgbClr val="000000"/>
                </a:solidFill>
                <a:latin typeface="Roboto"/>
                <a:ea typeface="Roboto"/>
                <a:cs typeface="Roboto"/>
                <a:sym typeface="Roboto"/>
              </a:defRPr>
            </a:lvl3pPr>
            <a:lvl4pPr marL="2438339" marR="0" lvl="3" indent="-440256" algn="l" rtl="0">
              <a:lnSpc>
                <a:spcPct val="115000"/>
              </a:lnSpc>
              <a:spcBef>
                <a:spcPts val="2133"/>
              </a:spcBef>
              <a:spcAft>
                <a:spcPts val="0"/>
              </a:spcAft>
              <a:buClr>
                <a:srgbClr val="000000"/>
              </a:buClr>
              <a:buSzPts val="1600"/>
              <a:buFont typeface="Roboto"/>
              <a:buChar char="●"/>
              <a:defRPr sz="2133" b="0" i="0" u="none" strike="noStrike" cap="none">
                <a:solidFill>
                  <a:srgbClr val="000000"/>
                </a:solidFill>
                <a:latin typeface="Roboto"/>
                <a:ea typeface="Roboto"/>
                <a:cs typeface="Roboto"/>
                <a:sym typeface="Roboto"/>
              </a:defRPr>
            </a:lvl4pPr>
            <a:lvl5pPr marL="3047924" marR="0" lvl="4" indent="-423323" algn="l" rtl="0">
              <a:lnSpc>
                <a:spcPct val="115000"/>
              </a:lnSpc>
              <a:spcBef>
                <a:spcPts val="2133"/>
              </a:spcBef>
              <a:spcAft>
                <a:spcPts val="0"/>
              </a:spcAft>
              <a:buClr>
                <a:srgbClr val="000000"/>
              </a:buClr>
              <a:buSzPts val="1400"/>
              <a:buFont typeface="Roboto"/>
              <a:buChar char="○"/>
              <a:defRPr sz="1867" b="0" i="0" u="none" strike="noStrike" cap="none">
                <a:solidFill>
                  <a:srgbClr val="000000"/>
                </a:solidFill>
                <a:latin typeface="Roboto"/>
                <a:ea typeface="Roboto"/>
                <a:cs typeface="Roboto"/>
                <a:sym typeface="Roboto"/>
              </a:defRPr>
            </a:lvl5pPr>
            <a:lvl6pPr marL="3657509" marR="0" lvl="5" indent="-423323" algn="l" rtl="0">
              <a:lnSpc>
                <a:spcPct val="115000"/>
              </a:lnSpc>
              <a:spcBef>
                <a:spcPts val="2133"/>
              </a:spcBef>
              <a:spcAft>
                <a:spcPts val="0"/>
              </a:spcAft>
              <a:buClr>
                <a:srgbClr val="000000"/>
              </a:buClr>
              <a:buSzPts val="1400"/>
              <a:buFont typeface="Roboto"/>
              <a:buChar char="■"/>
              <a:defRPr sz="1867" b="0" i="0" u="none" strike="noStrike" cap="none">
                <a:solidFill>
                  <a:srgbClr val="000000"/>
                </a:solidFill>
                <a:latin typeface="Roboto"/>
                <a:ea typeface="Roboto"/>
                <a:cs typeface="Roboto"/>
                <a:sym typeface="Roboto"/>
              </a:defRPr>
            </a:lvl6pPr>
            <a:lvl7pPr marL="4267093" marR="0" lvl="6" indent="-423323" algn="l" rtl="0">
              <a:lnSpc>
                <a:spcPct val="115000"/>
              </a:lnSpc>
              <a:spcBef>
                <a:spcPts val="2133"/>
              </a:spcBef>
              <a:spcAft>
                <a:spcPts val="0"/>
              </a:spcAft>
              <a:buClr>
                <a:srgbClr val="000000"/>
              </a:buClr>
              <a:buSzPts val="1400"/>
              <a:buFont typeface="Roboto"/>
              <a:buChar char="●"/>
              <a:defRPr sz="1867" b="0" i="0" u="none" strike="noStrike" cap="none">
                <a:solidFill>
                  <a:srgbClr val="000000"/>
                </a:solidFill>
                <a:latin typeface="Roboto"/>
                <a:ea typeface="Roboto"/>
                <a:cs typeface="Roboto"/>
                <a:sym typeface="Roboto"/>
              </a:defRPr>
            </a:lvl7pPr>
            <a:lvl8pPr marL="4876678" marR="0" lvl="7" indent="-423323" algn="l" rtl="0">
              <a:lnSpc>
                <a:spcPct val="115000"/>
              </a:lnSpc>
              <a:spcBef>
                <a:spcPts val="2133"/>
              </a:spcBef>
              <a:spcAft>
                <a:spcPts val="0"/>
              </a:spcAft>
              <a:buClr>
                <a:srgbClr val="000000"/>
              </a:buClr>
              <a:buSzPts val="1400"/>
              <a:buFont typeface="Roboto"/>
              <a:buChar char="○"/>
              <a:defRPr sz="1867" b="0" i="0" u="none" strike="noStrike" cap="none">
                <a:solidFill>
                  <a:srgbClr val="000000"/>
                </a:solidFill>
                <a:latin typeface="Roboto"/>
                <a:ea typeface="Roboto"/>
                <a:cs typeface="Roboto"/>
                <a:sym typeface="Roboto"/>
              </a:defRPr>
            </a:lvl8pPr>
            <a:lvl9pPr marL="5486263" marR="0" lvl="8" indent="-423323" algn="l" rtl="0">
              <a:lnSpc>
                <a:spcPct val="115000"/>
              </a:lnSpc>
              <a:spcBef>
                <a:spcPts val="2133"/>
              </a:spcBef>
              <a:spcAft>
                <a:spcPts val="2133"/>
              </a:spcAft>
              <a:buClr>
                <a:schemeClr val="lt2"/>
              </a:buClr>
              <a:buSzPts val="1400"/>
              <a:buFont typeface="Roboto"/>
              <a:buChar char="■"/>
              <a:defRPr sz="1867" b="0" i="0" u="none" strike="noStrike" cap="none">
                <a:solidFill>
                  <a:schemeClr val="lt2"/>
                </a:solidFill>
                <a:latin typeface="Roboto"/>
                <a:ea typeface="Roboto"/>
                <a:cs typeface="Roboto"/>
                <a:sym typeface="Roboto"/>
              </a:defRPr>
            </a:lvl9pPr>
          </a:lstStyle>
          <a:p>
            <a:pPr marL="118531" indent="0">
              <a:buFont typeface="Roboto"/>
              <a:buNone/>
            </a:pPr>
            <a:r>
              <a:rPr lang="en-US" sz="2000" b="1" kern="0" dirty="0"/>
              <a:t>3. </a:t>
            </a:r>
            <a:r>
              <a:rPr lang="en-US" sz="2000" b="1" kern="0" dirty="0" err="1"/>
              <a:t>Phân</a:t>
            </a:r>
            <a:r>
              <a:rPr lang="en-US" sz="2000" b="1" kern="0" dirty="0"/>
              <a:t> </a:t>
            </a:r>
            <a:r>
              <a:rPr lang="en-US" sz="2000" b="1" kern="0" dirty="0" err="1"/>
              <a:t>tích</a:t>
            </a:r>
            <a:r>
              <a:rPr lang="en-US" sz="2000" b="1" kern="0" dirty="0"/>
              <a:t> </a:t>
            </a:r>
            <a:r>
              <a:rPr lang="en-US" sz="2000" b="1" kern="0" dirty="0" err="1"/>
              <a:t>đơn</a:t>
            </a:r>
            <a:r>
              <a:rPr lang="en-US" sz="2000" b="1" kern="0" dirty="0"/>
              <a:t> </a:t>
            </a:r>
            <a:r>
              <a:rPr lang="en-US" sz="2000" b="1" kern="0" dirty="0" err="1"/>
              <a:t>biến</a:t>
            </a:r>
            <a:endParaRPr lang="en-US" sz="2000" b="1" kern="0" dirty="0"/>
          </a:p>
        </p:txBody>
      </p:sp>
      <p:pic>
        <p:nvPicPr>
          <p:cNvPr id="1026" name="Picture 2">
            <a:extLst>
              <a:ext uri="{FF2B5EF4-FFF2-40B4-BE49-F238E27FC236}">
                <a16:creationId xmlns:a16="http://schemas.microsoft.com/office/drawing/2014/main" id="{2CE7EA2D-D017-7DE3-6235-C4BF2E4096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9453" y="1523087"/>
            <a:ext cx="5581650" cy="21717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EA76AF44-AC98-B6CE-8D7F-DB92C3CCABBA}"/>
              </a:ext>
            </a:extLst>
          </p:cNvPr>
          <p:cNvSpPr txBox="1"/>
          <p:nvPr/>
        </p:nvSpPr>
        <p:spPr>
          <a:xfrm>
            <a:off x="1932901" y="3694787"/>
            <a:ext cx="2714753" cy="307777"/>
          </a:xfrm>
          <a:prstGeom prst="rect">
            <a:avLst/>
          </a:prstGeom>
          <a:noFill/>
        </p:spPr>
        <p:txBody>
          <a:bodyPr wrap="square">
            <a:spAutoFit/>
          </a:bodyPr>
          <a:lstStyle/>
          <a:p>
            <a:r>
              <a:rPr lang="en-US" sz="1400" b="0" i="1" u="none" strike="noStrike" dirty="0" err="1">
                <a:solidFill>
                  <a:srgbClr val="000000"/>
                </a:solidFill>
                <a:effectLst/>
                <a:latin typeface="Times New Roman" panose="02020603050405020304" pitchFamily="18" charset="0"/>
              </a:rPr>
              <a:t>Hình</a:t>
            </a:r>
            <a:r>
              <a:rPr lang="en-US" sz="1400" b="0" i="1" u="none" strike="noStrike" dirty="0">
                <a:solidFill>
                  <a:srgbClr val="000000"/>
                </a:solidFill>
                <a:effectLst/>
                <a:latin typeface="Times New Roman" panose="02020603050405020304" pitchFamily="18" charset="0"/>
              </a:rPr>
              <a:t> 7: </a:t>
            </a:r>
            <a:r>
              <a:rPr lang="en-US" sz="1400" i="1" dirty="0">
                <a:solidFill>
                  <a:srgbClr val="000000"/>
                </a:solidFill>
                <a:latin typeface="Times New Roman" panose="02020603050405020304" pitchFamily="18" charset="0"/>
              </a:rPr>
              <a:t>Histogram </a:t>
            </a:r>
            <a:r>
              <a:rPr lang="en-US" sz="1400" i="1" dirty="0" err="1">
                <a:solidFill>
                  <a:srgbClr val="000000"/>
                </a:solidFill>
                <a:latin typeface="Times New Roman" panose="02020603050405020304" pitchFamily="18" charset="0"/>
              </a:rPr>
              <a:t>theo</a:t>
            </a:r>
            <a:r>
              <a:rPr lang="en-US" sz="1400" i="1" dirty="0">
                <a:solidFill>
                  <a:srgbClr val="000000"/>
                </a:solidFill>
                <a:latin typeface="Times New Roman" panose="02020603050405020304" pitchFamily="18" charset="0"/>
              </a:rPr>
              <a:t> Area</a:t>
            </a:r>
            <a:endParaRPr lang="en-US" sz="1400" dirty="0"/>
          </a:p>
        </p:txBody>
      </p:sp>
      <p:pic>
        <p:nvPicPr>
          <p:cNvPr id="1028" name="Picture 4">
            <a:extLst>
              <a:ext uri="{FF2B5EF4-FFF2-40B4-BE49-F238E27FC236}">
                <a16:creationId xmlns:a16="http://schemas.microsoft.com/office/drawing/2014/main" id="{6D48378C-5756-5A63-A953-4724A6243F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82672" y="1523087"/>
            <a:ext cx="5581650" cy="218122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50028559-596C-A18E-526A-37DF0A8AF2A8}"/>
              </a:ext>
            </a:extLst>
          </p:cNvPr>
          <p:cNvSpPr txBox="1"/>
          <p:nvPr/>
        </p:nvSpPr>
        <p:spPr>
          <a:xfrm>
            <a:off x="8218550" y="3694786"/>
            <a:ext cx="2714753" cy="307777"/>
          </a:xfrm>
          <a:prstGeom prst="rect">
            <a:avLst/>
          </a:prstGeom>
          <a:noFill/>
        </p:spPr>
        <p:txBody>
          <a:bodyPr wrap="square">
            <a:spAutoFit/>
          </a:bodyPr>
          <a:lstStyle/>
          <a:p>
            <a:r>
              <a:rPr lang="en-US" sz="1400" b="0" i="1" u="none" strike="noStrike" dirty="0" err="1">
                <a:solidFill>
                  <a:srgbClr val="000000"/>
                </a:solidFill>
                <a:effectLst/>
                <a:latin typeface="Times New Roman" panose="02020603050405020304" pitchFamily="18" charset="0"/>
              </a:rPr>
              <a:t>Hình</a:t>
            </a:r>
            <a:r>
              <a:rPr lang="en-US" sz="1400" b="0" i="1" u="none" strike="noStrike" dirty="0">
                <a:solidFill>
                  <a:srgbClr val="000000"/>
                </a:solidFill>
                <a:effectLst/>
                <a:latin typeface="Times New Roman" panose="02020603050405020304" pitchFamily="18" charset="0"/>
              </a:rPr>
              <a:t> </a:t>
            </a:r>
            <a:r>
              <a:rPr lang="en-US" sz="1400" i="1" dirty="0">
                <a:solidFill>
                  <a:srgbClr val="000000"/>
                </a:solidFill>
                <a:latin typeface="Times New Roman" panose="02020603050405020304" pitchFamily="18" charset="0"/>
              </a:rPr>
              <a:t>8</a:t>
            </a:r>
            <a:r>
              <a:rPr lang="en-US" sz="1400" b="0" i="1" u="none" strike="noStrike" dirty="0">
                <a:solidFill>
                  <a:srgbClr val="000000"/>
                </a:solidFill>
                <a:effectLst/>
                <a:latin typeface="Times New Roman" panose="02020603050405020304" pitchFamily="18" charset="0"/>
              </a:rPr>
              <a:t>: </a:t>
            </a:r>
            <a:r>
              <a:rPr lang="en-US" sz="1400" i="1" dirty="0">
                <a:solidFill>
                  <a:srgbClr val="000000"/>
                </a:solidFill>
                <a:latin typeface="Times New Roman" panose="02020603050405020304" pitchFamily="18" charset="0"/>
              </a:rPr>
              <a:t>Histogram </a:t>
            </a:r>
            <a:r>
              <a:rPr lang="en-US" sz="1400" i="1" dirty="0" err="1">
                <a:solidFill>
                  <a:srgbClr val="000000"/>
                </a:solidFill>
                <a:latin typeface="Times New Roman" panose="02020603050405020304" pitchFamily="18" charset="0"/>
              </a:rPr>
              <a:t>theo</a:t>
            </a:r>
            <a:r>
              <a:rPr lang="en-US" sz="1400" i="1" dirty="0">
                <a:solidFill>
                  <a:srgbClr val="000000"/>
                </a:solidFill>
                <a:latin typeface="Times New Roman" panose="02020603050405020304" pitchFamily="18" charset="0"/>
              </a:rPr>
              <a:t> Frontage</a:t>
            </a:r>
            <a:endParaRPr lang="en-US" sz="1400" dirty="0"/>
          </a:p>
        </p:txBody>
      </p:sp>
      <p:pic>
        <p:nvPicPr>
          <p:cNvPr id="1030" name="Picture 6">
            <a:extLst>
              <a:ext uri="{FF2B5EF4-FFF2-40B4-BE49-F238E27FC236}">
                <a16:creationId xmlns:a16="http://schemas.microsoft.com/office/drawing/2014/main" id="{47E88B69-8F8B-9928-8E01-121BDD44FCE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4350" y="4002564"/>
            <a:ext cx="5581650" cy="21717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B8FCEBA0-522C-AABC-C550-4CE785ABA1B1}"/>
              </a:ext>
            </a:extLst>
          </p:cNvPr>
          <p:cNvSpPr txBox="1"/>
          <p:nvPr/>
        </p:nvSpPr>
        <p:spPr>
          <a:xfrm>
            <a:off x="1947798" y="6158861"/>
            <a:ext cx="2929002" cy="307777"/>
          </a:xfrm>
          <a:prstGeom prst="rect">
            <a:avLst/>
          </a:prstGeom>
          <a:noFill/>
        </p:spPr>
        <p:txBody>
          <a:bodyPr wrap="square">
            <a:spAutoFit/>
          </a:bodyPr>
          <a:lstStyle/>
          <a:p>
            <a:r>
              <a:rPr lang="en-US" sz="1400" b="0" i="1" u="none" strike="noStrike" dirty="0" err="1">
                <a:solidFill>
                  <a:srgbClr val="000000"/>
                </a:solidFill>
                <a:effectLst/>
                <a:latin typeface="Times New Roman" panose="02020603050405020304" pitchFamily="18" charset="0"/>
              </a:rPr>
              <a:t>Hình</a:t>
            </a:r>
            <a:r>
              <a:rPr lang="en-US" sz="1400" b="0" i="1" u="none" strike="noStrike" dirty="0">
                <a:solidFill>
                  <a:srgbClr val="000000"/>
                </a:solidFill>
                <a:effectLst/>
                <a:latin typeface="Times New Roman" panose="02020603050405020304" pitchFamily="18" charset="0"/>
              </a:rPr>
              <a:t> </a:t>
            </a:r>
            <a:r>
              <a:rPr lang="en-US" sz="1400" i="1" dirty="0">
                <a:solidFill>
                  <a:srgbClr val="000000"/>
                </a:solidFill>
                <a:latin typeface="Times New Roman" panose="02020603050405020304" pitchFamily="18" charset="0"/>
              </a:rPr>
              <a:t>9</a:t>
            </a:r>
            <a:r>
              <a:rPr lang="en-US" sz="1400" b="0" i="1" u="none" strike="noStrike" dirty="0">
                <a:solidFill>
                  <a:srgbClr val="000000"/>
                </a:solidFill>
                <a:effectLst/>
                <a:latin typeface="Times New Roman" panose="02020603050405020304" pitchFamily="18" charset="0"/>
              </a:rPr>
              <a:t>: </a:t>
            </a:r>
            <a:r>
              <a:rPr lang="en-US" sz="1400" i="1" dirty="0">
                <a:solidFill>
                  <a:srgbClr val="000000"/>
                </a:solidFill>
                <a:latin typeface="Times New Roman" panose="02020603050405020304" pitchFamily="18" charset="0"/>
              </a:rPr>
              <a:t>Histogram </a:t>
            </a:r>
            <a:r>
              <a:rPr lang="en-US" sz="1400" i="1" dirty="0" err="1">
                <a:solidFill>
                  <a:srgbClr val="000000"/>
                </a:solidFill>
                <a:latin typeface="Times New Roman" panose="02020603050405020304" pitchFamily="18" charset="0"/>
              </a:rPr>
              <a:t>theo</a:t>
            </a:r>
            <a:r>
              <a:rPr lang="en-US" sz="1400" i="1" dirty="0">
                <a:solidFill>
                  <a:srgbClr val="000000"/>
                </a:solidFill>
                <a:latin typeface="Times New Roman" panose="02020603050405020304" pitchFamily="18" charset="0"/>
              </a:rPr>
              <a:t> Access road</a:t>
            </a:r>
            <a:endParaRPr lang="en-US" sz="1400" dirty="0"/>
          </a:p>
        </p:txBody>
      </p:sp>
      <p:pic>
        <p:nvPicPr>
          <p:cNvPr id="1032" name="Picture 8">
            <a:extLst>
              <a:ext uri="{FF2B5EF4-FFF2-40B4-BE49-F238E27FC236}">
                <a16:creationId xmlns:a16="http://schemas.microsoft.com/office/drawing/2014/main" id="{6ACB77B0-728B-56EB-19DD-9B150F75FCB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82672" y="4002563"/>
            <a:ext cx="5581650" cy="21812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61397E17-0DE8-91AE-3211-152DAD54AA47}"/>
              </a:ext>
            </a:extLst>
          </p:cNvPr>
          <p:cNvSpPr txBox="1"/>
          <p:nvPr/>
        </p:nvSpPr>
        <p:spPr>
          <a:xfrm>
            <a:off x="8248047" y="6158859"/>
            <a:ext cx="2714753" cy="307777"/>
          </a:xfrm>
          <a:prstGeom prst="rect">
            <a:avLst/>
          </a:prstGeom>
          <a:noFill/>
        </p:spPr>
        <p:txBody>
          <a:bodyPr wrap="square">
            <a:spAutoFit/>
          </a:bodyPr>
          <a:lstStyle/>
          <a:p>
            <a:r>
              <a:rPr lang="en-US" sz="1400" b="0" i="1" u="none" strike="noStrike" dirty="0" err="1">
                <a:solidFill>
                  <a:srgbClr val="000000"/>
                </a:solidFill>
                <a:effectLst/>
                <a:latin typeface="Times New Roman" panose="02020603050405020304" pitchFamily="18" charset="0"/>
              </a:rPr>
              <a:t>Hình</a:t>
            </a:r>
            <a:r>
              <a:rPr lang="en-US" sz="1400" b="0" i="1" u="none" strike="noStrike" dirty="0">
                <a:solidFill>
                  <a:srgbClr val="000000"/>
                </a:solidFill>
                <a:effectLst/>
                <a:latin typeface="Times New Roman" panose="02020603050405020304" pitchFamily="18" charset="0"/>
              </a:rPr>
              <a:t> 10: </a:t>
            </a:r>
            <a:r>
              <a:rPr lang="en-US" sz="1400" i="1" dirty="0">
                <a:solidFill>
                  <a:srgbClr val="000000"/>
                </a:solidFill>
                <a:latin typeface="Times New Roman" panose="02020603050405020304" pitchFamily="18" charset="0"/>
              </a:rPr>
              <a:t>Histogram </a:t>
            </a:r>
            <a:r>
              <a:rPr lang="en-US" sz="1400" i="1" dirty="0" err="1">
                <a:solidFill>
                  <a:srgbClr val="000000"/>
                </a:solidFill>
                <a:latin typeface="Times New Roman" panose="02020603050405020304" pitchFamily="18" charset="0"/>
              </a:rPr>
              <a:t>theo</a:t>
            </a:r>
            <a:r>
              <a:rPr lang="en-US" sz="1400" i="1" dirty="0">
                <a:solidFill>
                  <a:srgbClr val="000000"/>
                </a:solidFill>
                <a:latin typeface="Times New Roman" panose="02020603050405020304" pitchFamily="18" charset="0"/>
              </a:rPr>
              <a:t> Floors</a:t>
            </a:r>
            <a:endParaRPr lang="en-US" sz="1400" dirty="0"/>
          </a:p>
        </p:txBody>
      </p:sp>
    </p:spTree>
    <p:extLst>
      <p:ext uri="{BB962C8B-B14F-4D97-AF65-F5344CB8AC3E}">
        <p14:creationId xmlns:p14="http://schemas.microsoft.com/office/powerpoint/2010/main" val="36353364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F7633-7CCE-932F-8778-EF87524948AA}"/>
            </a:ext>
          </a:extLst>
        </p:cNvPr>
        <p:cNvGrpSpPr/>
        <p:nvPr/>
      </p:nvGrpSpPr>
      <p:grpSpPr>
        <a:xfrm>
          <a:off x="0" y="0"/>
          <a:ext cx="0" cy="0"/>
          <a:chOff x="0" y="0"/>
          <a:chExt cx="0" cy="0"/>
        </a:xfrm>
      </p:grpSpPr>
      <p:sp>
        <p:nvSpPr>
          <p:cNvPr id="13" name="Title 1">
            <a:extLst>
              <a:ext uri="{FF2B5EF4-FFF2-40B4-BE49-F238E27FC236}">
                <a16:creationId xmlns:a16="http://schemas.microsoft.com/office/drawing/2014/main" id="{C96CB545-D2F9-D45E-336E-A99043F5E746}"/>
              </a:ext>
            </a:extLst>
          </p:cNvPr>
          <p:cNvSpPr>
            <a:spLocks noGrp="1"/>
          </p:cNvSpPr>
          <p:nvPr>
            <p:ph type="title"/>
          </p:nvPr>
        </p:nvSpPr>
        <p:spPr>
          <a:xfrm>
            <a:off x="629200" y="77167"/>
            <a:ext cx="10962800" cy="894000"/>
          </a:xfrm>
        </p:spPr>
        <p:txBody>
          <a:bodyPr/>
          <a:lstStyle/>
          <a:p>
            <a:r>
              <a:rPr lang="en" sz="4800" b="1" dirty="0"/>
              <a:t>Phương pháp tiếp cận</a:t>
            </a:r>
            <a:endParaRPr lang="en-US" sz="4800" dirty="0"/>
          </a:p>
        </p:txBody>
      </p:sp>
      <p:sp>
        <p:nvSpPr>
          <p:cNvPr id="10" name="Text Placeholder 2">
            <a:extLst>
              <a:ext uri="{FF2B5EF4-FFF2-40B4-BE49-F238E27FC236}">
                <a16:creationId xmlns:a16="http://schemas.microsoft.com/office/drawing/2014/main" id="{C95C34EC-6155-5B79-238E-1AE49569F503}"/>
              </a:ext>
            </a:extLst>
          </p:cNvPr>
          <p:cNvSpPr txBox="1">
            <a:spLocks/>
          </p:cNvSpPr>
          <p:nvPr/>
        </p:nvSpPr>
        <p:spPr>
          <a:xfrm>
            <a:off x="0" y="971167"/>
            <a:ext cx="10962800" cy="55192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609585" marR="0" lvl="0" indent="-491054" algn="l" rtl="0">
              <a:lnSpc>
                <a:spcPct val="115000"/>
              </a:lnSpc>
              <a:spcBef>
                <a:spcPts val="0"/>
              </a:spcBef>
              <a:spcAft>
                <a:spcPts val="0"/>
              </a:spcAft>
              <a:buClr>
                <a:srgbClr val="000000"/>
              </a:buClr>
              <a:buSzPts val="2200"/>
              <a:buFont typeface="Roboto"/>
              <a:buChar char="●"/>
              <a:defRPr sz="2933" b="0" i="0" u="none" strike="noStrike" cap="none">
                <a:solidFill>
                  <a:srgbClr val="000000"/>
                </a:solidFill>
                <a:latin typeface="Roboto"/>
                <a:ea typeface="Roboto"/>
                <a:cs typeface="Roboto"/>
                <a:sym typeface="Roboto"/>
              </a:defRPr>
            </a:lvl1pPr>
            <a:lvl2pPr marL="1219170" marR="0" lvl="1" indent="-474121" algn="l" rtl="0">
              <a:lnSpc>
                <a:spcPct val="115000"/>
              </a:lnSpc>
              <a:spcBef>
                <a:spcPts val="2133"/>
              </a:spcBef>
              <a:spcAft>
                <a:spcPts val="0"/>
              </a:spcAft>
              <a:buClr>
                <a:srgbClr val="000000"/>
              </a:buClr>
              <a:buSzPts val="2000"/>
              <a:buFont typeface="Roboto"/>
              <a:buChar char="○"/>
              <a:defRPr sz="2667" b="0" i="0" u="none" strike="noStrike" cap="none">
                <a:solidFill>
                  <a:srgbClr val="000000"/>
                </a:solidFill>
                <a:latin typeface="Roboto"/>
                <a:ea typeface="Roboto"/>
                <a:cs typeface="Roboto"/>
                <a:sym typeface="Roboto"/>
              </a:defRPr>
            </a:lvl2pPr>
            <a:lvl3pPr marL="1828754" marR="0" lvl="2" indent="-457189" algn="l" rtl="0">
              <a:lnSpc>
                <a:spcPct val="115000"/>
              </a:lnSpc>
              <a:spcBef>
                <a:spcPts val="2133"/>
              </a:spcBef>
              <a:spcAft>
                <a:spcPts val="0"/>
              </a:spcAft>
              <a:buClr>
                <a:srgbClr val="000000"/>
              </a:buClr>
              <a:buSzPts val="1800"/>
              <a:buFont typeface="Roboto"/>
              <a:buChar char="■"/>
              <a:defRPr sz="2400" b="0" i="0" u="none" strike="noStrike" cap="none">
                <a:solidFill>
                  <a:srgbClr val="000000"/>
                </a:solidFill>
                <a:latin typeface="Roboto"/>
                <a:ea typeface="Roboto"/>
                <a:cs typeface="Roboto"/>
                <a:sym typeface="Roboto"/>
              </a:defRPr>
            </a:lvl3pPr>
            <a:lvl4pPr marL="2438339" marR="0" lvl="3" indent="-440256" algn="l" rtl="0">
              <a:lnSpc>
                <a:spcPct val="115000"/>
              </a:lnSpc>
              <a:spcBef>
                <a:spcPts val="2133"/>
              </a:spcBef>
              <a:spcAft>
                <a:spcPts val="0"/>
              </a:spcAft>
              <a:buClr>
                <a:srgbClr val="000000"/>
              </a:buClr>
              <a:buSzPts val="1600"/>
              <a:buFont typeface="Roboto"/>
              <a:buChar char="●"/>
              <a:defRPr sz="2133" b="0" i="0" u="none" strike="noStrike" cap="none">
                <a:solidFill>
                  <a:srgbClr val="000000"/>
                </a:solidFill>
                <a:latin typeface="Roboto"/>
                <a:ea typeface="Roboto"/>
                <a:cs typeface="Roboto"/>
                <a:sym typeface="Roboto"/>
              </a:defRPr>
            </a:lvl4pPr>
            <a:lvl5pPr marL="3047924" marR="0" lvl="4" indent="-423323" algn="l" rtl="0">
              <a:lnSpc>
                <a:spcPct val="115000"/>
              </a:lnSpc>
              <a:spcBef>
                <a:spcPts val="2133"/>
              </a:spcBef>
              <a:spcAft>
                <a:spcPts val="0"/>
              </a:spcAft>
              <a:buClr>
                <a:srgbClr val="000000"/>
              </a:buClr>
              <a:buSzPts val="1400"/>
              <a:buFont typeface="Roboto"/>
              <a:buChar char="○"/>
              <a:defRPr sz="1867" b="0" i="0" u="none" strike="noStrike" cap="none">
                <a:solidFill>
                  <a:srgbClr val="000000"/>
                </a:solidFill>
                <a:latin typeface="Roboto"/>
                <a:ea typeface="Roboto"/>
                <a:cs typeface="Roboto"/>
                <a:sym typeface="Roboto"/>
              </a:defRPr>
            </a:lvl5pPr>
            <a:lvl6pPr marL="3657509" marR="0" lvl="5" indent="-423323" algn="l" rtl="0">
              <a:lnSpc>
                <a:spcPct val="115000"/>
              </a:lnSpc>
              <a:spcBef>
                <a:spcPts val="2133"/>
              </a:spcBef>
              <a:spcAft>
                <a:spcPts val="0"/>
              </a:spcAft>
              <a:buClr>
                <a:srgbClr val="000000"/>
              </a:buClr>
              <a:buSzPts val="1400"/>
              <a:buFont typeface="Roboto"/>
              <a:buChar char="■"/>
              <a:defRPr sz="1867" b="0" i="0" u="none" strike="noStrike" cap="none">
                <a:solidFill>
                  <a:srgbClr val="000000"/>
                </a:solidFill>
                <a:latin typeface="Roboto"/>
                <a:ea typeface="Roboto"/>
                <a:cs typeface="Roboto"/>
                <a:sym typeface="Roboto"/>
              </a:defRPr>
            </a:lvl6pPr>
            <a:lvl7pPr marL="4267093" marR="0" lvl="6" indent="-423323" algn="l" rtl="0">
              <a:lnSpc>
                <a:spcPct val="115000"/>
              </a:lnSpc>
              <a:spcBef>
                <a:spcPts val="2133"/>
              </a:spcBef>
              <a:spcAft>
                <a:spcPts val="0"/>
              </a:spcAft>
              <a:buClr>
                <a:srgbClr val="000000"/>
              </a:buClr>
              <a:buSzPts val="1400"/>
              <a:buFont typeface="Roboto"/>
              <a:buChar char="●"/>
              <a:defRPr sz="1867" b="0" i="0" u="none" strike="noStrike" cap="none">
                <a:solidFill>
                  <a:srgbClr val="000000"/>
                </a:solidFill>
                <a:latin typeface="Roboto"/>
                <a:ea typeface="Roboto"/>
                <a:cs typeface="Roboto"/>
                <a:sym typeface="Roboto"/>
              </a:defRPr>
            </a:lvl7pPr>
            <a:lvl8pPr marL="4876678" marR="0" lvl="7" indent="-423323" algn="l" rtl="0">
              <a:lnSpc>
                <a:spcPct val="115000"/>
              </a:lnSpc>
              <a:spcBef>
                <a:spcPts val="2133"/>
              </a:spcBef>
              <a:spcAft>
                <a:spcPts val="0"/>
              </a:spcAft>
              <a:buClr>
                <a:srgbClr val="000000"/>
              </a:buClr>
              <a:buSzPts val="1400"/>
              <a:buFont typeface="Roboto"/>
              <a:buChar char="○"/>
              <a:defRPr sz="1867" b="0" i="0" u="none" strike="noStrike" cap="none">
                <a:solidFill>
                  <a:srgbClr val="000000"/>
                </a:solidFill>
                <a:latin typeface="Roboto"/>
                <a:ea typeface="Roboto"/>
                <a:cs typeface="Roboto"/>
                <a:sym typeface="Roboto"/>
              </a:defRPr>
            </a:lvl8pPr>
            <a:lvl9pPr marL="5486263" marR="0" lvl="8" indent="-423323" algn="l" rtl="0">
              <a:lnSpc>
                <a:spcPct val="115000"/>
              </a:lnSpc>
              <a:spcBef>
                <a:spcPts val="2133"/>
              </a:spcBef>
              <a:spcAft>
                <a:spcPts val="2133"/>
              </a:spcAft>
              <a:buClr>
                <a:schemeClr val="lt2"/>
              </a:buClr>
              <a:buSzPts val="1400"/>
              <a:buFont typeface="Roboto"/>
              <a:buChar char="■"/>
              <a:defRPr sz="1867" b="0" i="0" u="none" strike="noStrike" cap="none">
                <a:solidFill>
                  <a:schemeClr val="lt2"/>
                </a:solidFill>
                <a:latin typeface="Roboto"/>
                <a:ea typeface="Roboto"/>
                <a:cs typeface="Roboto"/>
                <a:sym typeface="Roboto"/>
              </a:defRPr>
            </a:lvl9pPr>
          </a:lstStyle>
          <a:p>
            <a:pPr marL="118531" indent="0">
              <a:buFont typeface="Roboto"/>
              <a:buNone/>
            </a:pPr>
            <a:r>
              <a:rPr lang="en-US" sz="2000" b="1" kern="0" dirty="0"/>
              <a:t>3. </a:t>
            </a:r>
            <a:r>
              <a:rPr lang="en-US" sz="2000" b="1" kern="0" dirty="0" err="1"/>
              <a:t>Phân</a:t>
            </a:r>
            <a:r>
              <a:rPr lang="en-US" sz="2000" b="1" kern="0" dirty="0"/>
              <a:t> </a:t>
            </a:r>
            <a:r>
              <a:rPr lang="en-US" sz="2000" b="1" kern="0" dirty="0" err="1"/>
              <a:t>tích</a:t>
            </a:r>
            <a:r>
              <a:rPr lang="en-US" sz="2000" b="1" kern="0" dirty="0"/>
              <a:t> </a:t>
            </a:r>
            <a:r>
              <a:rPr lang="en-US" sz="2000" b="1" kern="0" dirty="0" err="1"/>
              <a:t>đơn</a:t>
            </a:r>
            <a:r>
              <a:rPr lang="en-US" sz="2000" b="1" kern="0" dirty="0"/>
              <a:t> </a:t>
            </a:r>
            <a:r>
              <a:rPr lang="en-US" sz="2000" b="1" kern="0" dirty="0" err="1"/>
              <a:t>biến</a:t>
            </a:r>
            <a:endParaRPr lang="en-US" sz="2000" b="1" kern="0" dirty="0"/>
          </a:p>
        </p:txBody>
      </p:sp>
      <p:sp>
        <p:nvSpPr>
          <p:cNvPr id="2" name="TextBox 1">
            <a:extLst>
              <a:ext uri="{FF2B5EF4-FFF2-40B4-BE49-F238E27FC236}">
                <a16:creationId xmlns:a16="http://schemas.microsoft.com/office/drawing/2014/main" id="{BC3B5779-9FC6-F96A-2C10-FBF3508E67B7}"/>
              </a:ext>
            </a:extLst>
          </p:cNvPr>
          <p:cNvSpPr txBox="1"/>
          <p:nvPr/>
        </p:nvSpPr>
        <p:spPr>
          <a:xfrm>
            <a:off x="1932901" y="3694787"/>
            <a:ext cx="2845576" cy="307777"/>
          </a:xfrm>
          <a:prstGeom prst="rect">
            <a:avLst/>
          </a:prstGeom>
          <a:noFill/>
        </p:spPr>
        <p:txBody>
          <a:bodyPr wrap="square">
            <a:spAutoFit/>
          </a:bodyPr>
          <a:lstStyle/>
          <a:p>
            <a:r>
              <a:rPr lang="en-US" sz="1400" b="0" i="1" u="none" strike="noStrike" dirty="0" err="1">
                <a:solidFill>
                  <a:srgbClr val="000000"/>
                </a:solidFill>
                <a:effectLst/>
                <a:latin typeface="Times New Roman" panose="02020603050405020304" pitchFamily="18" charset="0"/>
              </a:rPr>
              <a:t>Hình</a:t>
            </a:r>
            <a:r>
              <a:rPr lang="en-US" sz="1400" b="0" i="1" u="none" strike="noStrike" dirty="0">
                <a:solidFill>
                  <a:srgbClr val="000000"/>
                </a:solidFill>
                <a:effectLst/>
                <a:latin typeface="Times New Roman" panose="02020603050405020304" pitchFamily="18" charset="0"/>
              </a:rPr>
              <a:t> </a:t>
            </a:r>
            <a:r>
              <a:rPr lang="en-US" sz="1400" i="1" dirty="0">
                <a:solidFill>
                  <a:srgbClr val="000000"/>
                </a:solidFill>
                <a:latin typeface="Times New Roman" panose="02020603050405020304" pitchFamily="18" charset="0"/>
              </a:rPr>
              <a:t>11</a:t>
            </a:r>
            <a:r>
              <a:rPr lang="en-US" sz="1400" b="0" i="1" u="none" strike="noStrike" dirty="0">
                <a:solidFill>
                  <a:srgbClr val="000000"/>
                </a:solidFill>
                <a:effectLst/>
                <a:latin typeface="Times New Roman" panose="02020603050405020304" pitchFamily="18" charset="0"/>
              </a:rPr>
              <a:t>: </a:t>
            </a:r>
            <a:r>
              <a:rPr lang="en-US" sz="1400" i="1" dirty="0">
                <a:solidFill>
                  <a:srgbClr val="000000"/>
                </a:solidFill>
                <a:latin typeface="Times New Roman" panose="02020603050405020304" pitchFamily="18" charset="0"/>
              </a:rPr>
              <a:t>Histogram </a:t>
            </a:r>
            <a:r>
              <a:rPr lang="en-US" sz="1400" i="1" dirty="0" err="1">
                <a:solidFill>
                  <a:srgbClr val="000000"/>
                </a:solidFill>
                <a:latin typeface="Times New Roman" panose="02020603050405020304" pitchFamily="18" charset="0"/>
              </a:rPr>
              <a:t>theo</a:t>
            </a:r>
            <a:r>
              <a:rPr lang="en-US" sz="1400" i="1" dirty="0">
                <a:solidFill>
                  <a:srgbClr val="000000"/>
                </a:solidFill>
                <a:latin typeface="Times New Roman" panose="02020603050405020304" pitchFamily="18" charset="0"/>
              </a:rPr>
              <a:t> Bedrooms</a:t>
            </a:r>
            <a:endParaRPr lang="en-US" sz="1400" dirty="0"/>
          </a:p>
        </p:txBody>
      </p:sp>
      <p:sp>
        <p:nvSpPr>
          <p:cNvPr id="3" name="TextBox 2">
            <a:extLst>
              <a:ext uri="{FF2B5EF4-FFF2-40B4-BE49-F238E27FC236}">
                <a16:creationId xmlns:a16="http://schemas.microsoft.com/office/drawing/2014/main" id="{29AFFA25-8D27-3EB5-B394-7F941EB7C209}"/>
              </a:ext>
            </a:extLst>
          </p:cNvPr>
          <p:cNvSpPr txBox="1"/>
          <p:nvPr/>
        </p:nvSpPr>
        <p:spPr>
          <a:xfrm>
            <a:off x="8218550" y="3694786"/>
            <a:ext cx="2845576" cy="307777"/>
          </a:xfrm>
          <a:prstGeom prst="rect">
            <a:avLst/>
          </a:prstGeom>
          <a:noFill/>
        </p:spPr>
        <p:txBody>
          <a:bodyPr wrap="square">
            <a:spAutoFit/>
          </a:bodyPr>
          <a:lstStyle/>
          <a:p>
            <a:r>
              <a:rPr lang="en-US" sz="1400" b="0" i="1" u="none" strike="noStrike" dirty="0" err="1">
                <a:solidFill>
                  <a:srgbClr val="000000"/>
                </a:solidFill>
                <a:effectLst/>
                <a:latin typeface="Times New Roman" panose="02020603050405020304" pitchFamily="18" charset="0"/>
              </a:rPr>
              <a:t>Hình</a:t>
            </a:r>
            <a:r>
              <a:rPr lang="en-US" sz="1400" b="0" i="1" u="none" strike="noStrike" dirty="0">
                <a:solidFill>
                  <a:srgbClr val="000000"/>
                </a:solidFill>
                <a:effectLst/>
                <a:latin typeface="Times New Roman" panose="02020603050405020304" pitchFamily="18" charset="0"/>
              </a:rPr>
              <a:t> 12: </a:t>
            </a:r>
            <a:r>
              <a:rPr lang="en-US" sz="1400" i="1" dirty="0">
                <a:solidFill>
                  <a:srgbClr val="000000"/>
                </a:solidFill>
                <a:latin typeface="Times New Roman" panose="02020603050405020304" pitchFamily="18" charset="0"/>
              </a:rPr>
              <a:t>Histogram </a:t>
            </a:r>
            <a:r>
              <a:rPr lang="en-US" sz="1400" i="1" dirty="0" err="1">
                <a:solidFill>
                  <a:srgbClr val="000000"/>
                </a:solidFill>
                <a:latin typeface="Times New Roman" panose="02020603050405020304" pitchFamily="18" charset="0"/>
              </a:rPr>
              <a:t>theo</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Bath_room</a:t>
            </a:r>
            <a:endParaRPr lang="en-US" sz="1400" dirty="0"/>
          </a:p>
        </p:txBody>
      </p:sp>
      <p:sp>
        <p:nvSpPr>
          <p:cNvPr id="6" name="TextBox 5">
            <a:extLst>
              <a:ext uri="{FF2B5EF4-FFF2-40B4-BE49-F238E27FC236}">
                <a16:creationId xmlns:a16="http://schemas.microsoft.com/office/drawing/2014/main" id="{78E47F8C-AA82-220D-C2BB-33AD07565A74}"/>
              </a:ext>
            </a:extLst>
          </p:cNvPr>
          <p:cNvSpPr txBox="1"/>
          <p:nvPr/>
        </p:nvSpPr>
        <p:spPr>
          <a:xfrm>
            <a:off x="8464357" y="7702524"/>
            <a:ext cx="2714753" cy="307777"/>
          </a:xfrm>
          <a:prstGeom prst="rect">
            <a:avLst/>
          </a:prstGeom>
          <a:noFill/>
        </p:spPr>
        <p:txBody>
          <a:bodyPr wrap="square">
            <a:spAutoFit/>
          </a:bodyPr>
          <a:lstStyle/>
          <a:p>
            <a:r>
              <a:rPr lang="en-US" sz="1400" b="0" i="1" u="none" strike="noStrike" dirty="0" err="1">
                <a:solidFill>
                  <a:srgbClr val="000000"/>
                </a:solidFill>
                <a:effectLst/>
                <a:latin typeface="Times New Roman" panose="02020603050405020304" pitchFamily="18" charset="0"/>
              </a:rPr>
              <a:t>Hình</a:t>
            </a:r>
            <a:r>
              <a:rPr lang="en-US" sz="1400" b="0" i="1" u="none" strike="noStrike" dirty="0">
                <a:solidFill>
                  <a:srgbClr val="000000"/>
                </a:solidFill>
                <a:effectLst/>
                <a:latin typeface="Times New Roman" panose="02020603050405020304" pitchFamily="18" charset="0"/>
              </a:rPr>
              <a:t> 10: </a:t>
            </a:r>
            <a:r>
              <a:rPr lang="en-US" sz="1400" i="1" dirty="0">
                <a:solidFill>
                  <a:srgbClr val="000000"/>
                </a:solidFill>
                <a:latin typeface="Times New Roman" panose="02020603050405020304" pitchFamily="18" charset="0"/>
              </a:rPr>
              <a:t>Histogram </a:t>
            </a:r>
            <a:r>
              <a:rPr lang="en-US" sz="1400" i="1" dirty="0" err="1">
                <a:solidFill>
                  <a:srgbClr val="000000"/>
                </a:solidFill>
                <a:latin typeface="Times New Roman" panose="02020603050405020304" pitchFamily="18" charset="0"/>
              </a:rPr>
              <a:t>theo</a:t>
            </a:r>
            <a:r>
              <a:rPr lang="en-US" sz="1400" i="1" dirty="0">
                <a:solidFill>
                  <a:srgbClr val="000000"/>
                </a:solidFill>
                <a:latin typeface="Times New Roman" panose="02020603050405020304" pitchFamily="18" charset="0"/>
              </a:rPr>
              <a:t> Floors</a:t>
            </a:r>
            <a:endParaRPr lang="en-US" sz="1400" dirty="0"/>
          </a:p>
        </p:txBody>
      </p:sp>
      <p:pic>
        <p:nvPicPr>
          <p:cNvPr id="2050" name="Picture 2">
            <a:extLst>
              <a:ext uri="{FF2B5EF4-FFF2-40B4-BE49-F238E27FC236}">
                <a16:creationId xmlns:a16="http://schemas.microsoft.com/office/drawing/2014/main" id="{0FB436FB-C7D2-0F0A-7403-BE95639F8B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9452" y="1504037"/>
            <a:ext cx="5581650" cy="220027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DC8F7C10-1EC2-2D7C-A9A5-031C9746C3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49874" y="1504037"/>
            <a:ext cx="5581650" cy="2162175"/>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39253BB1-6BDE-8A98-7225-81D99B324CF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9200" y="4108826"/>
            <a:ext cx="5581650" cy="218122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DD48283-1FEB-6AC1-9124-B989D328C7AA}"/>
              </a:ext>
            </a:extLst>
          </p:cNvPr>
          <p:cNvSpPr txBox="1"/>
          <p:nvPr/>
        </p:nvSpPr>
        <p:spPr>
          <a:xfrm>
            <a:off x="1867489" y="6174264"/>
            <a:ext cx="2845576" cy="307777"/>
          </a:xfrm>
          <a:prstGeom prst="rect">
            <a:avLst/>
          </a:prstGeom>
          <a:noFill/>
        </p:spPr>
        <p:txBody>
          <a:bodyPr wrap="square">
            <a:spAutoFit/>
          </a:bodyPr>
          <a:lstStyle/>
          <a:p>
            <a:r>
              <a:rPr lang="en-US" sz="1400" b="0" i="1" u="none" strike="noStrike" dirty="0" err="1">
                <a:solidFill>
                  <a:srgbClr val="000000"/>
                </a:solidFill>
                <a:effectLst/>
                <a:latin typeface="Times New Roman" panose="02020603050405020304" pitchFamily="18" charset="0"/>
              </a:rPr>
              <a:t>Hình</a:t>
            </a:r>
            <a:r>
              <a:rPr lang="en-US" sz="1400" b="0" i="1" u="none" strike="noStrike" dirty="0">
                <a:solidFill>
                  <a:srgbClr val="000000"/>
                </a:solidFill>
                <a:effectLst/>
                <a:latin typeface="Times New Roman" panose="02020603050405020304" pitchFamily="18" charset="0"/>
              </a:rPr>
              <a:t> </a:t>
            </a:r>
            <a:r>
              <a:rPr lang="en-US" sz="1400" i="1" dirty="0">
                <a:solidFill>
                  <a:srgbClr val="000000"/>
                </a:solidFill>
                <a:latin typeface="Times New Roman" panose="02020603050405020304" pitchFamily="18" charset="0"/>
              </a:rPr>
              <a:t>13</a:t>
            </a:r>
            <a:r>
              <a:rPr lang="en-US" sz="1400" b="0" i="1" u="none" strike="noStrike" dirty="0">
                <a:solidFill>
                  <a:srgbClr val="000000"/>
                </a:solidFill>
                <a:effectLst/>
                <a:latin typeface="Times New Roman" panose="02020603050405020304" pitchFamily="18" charset="0"/>
              </a:rPr>
              <a:t>: </a:t>
            </a:r>
            <a:r>
              <a:rPr lang="en-US" sz="1400" i="1" dirty="0">
                <a:solidFill>
                  <a:srgbClr val="000000"/>
                </a:solidFill>
                <a:latin typeface="Times New Roman" panose="02020603050405020304" pitchFamily="18" charset="0"/>
              </a:rPr>
              <a:t>Histogram </a:t>
            </a:r>
            <a:r>
              <a:rPr lang="en-US" sz="1400" i="1" dirty="0" err="1">
                <a:solidFill>
                  <a:srgbClr val="000000"/>
                </a:solidFill>
                <a:latin typeface="Times New Roman" panose="02020603050405020304" pitchFamily="18" charset="0"/>
              </a:rPr>
              <a:t>theo</a:t>
            </a:r>
            <a:r>
              <a:rPr lang="en-US" sz="1400" i="1" dirty="0">
                <a:solidFill>
                  <a:srgbClr val="000000"/>
                </a:solidFill>
                <a:latin typeface="Times New Roman" panose="02020603050405020304" pitchFamily="18" charset="0"/>
              </a:rPr>
              <a:t> Price</a:t>
            </a:r>
            <a:endParaRPr lang="en-US" sz="1400" dirty="0"/>
          </a:p>
        </p:txBody>
      </p:sp>
    </p:spTree>
    <p:extLst>
      <p:ext uri="{BB962C8B-B14F-4D97-AF65-F5344CB8AC3E}">
        <p14:creationId xmlns:p14="http://schemas.microsoft.com/office/powerpoint/2010/main" val="28536158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8CB92C-8F8E-2B77-36EE-5D654406AFB7}"/>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C04F887E-4A67-CABA-5A0C-257740F40822}"/>
              </a:ext>
            </a:extLst>
          </p:cNvPr>
          <p:cNvSpPr>
            <a:spLocks noGrp="1"/>
          </p:cNvSpPr>
          <p:nvPr>
            <p:ph type="title"/>
          </p:nvPr>
        </p:nvSpPr>
        <p:spPr>
          <a:xfrm>
            <a:off x="629200" y="77167"/>
            <a:ext cx="10962800" cy="894000"/>
          </a:xfrm>
        </p:spPr>
        <p:txBody>
          <a:bodyPr/>
          <a:lstStyle/>
          <a:p>
            <a:r>
              <a:rPr lang="en" sz="4800" b="1" dirty="0"/>
              <a:t>Phương pháp tiếp cận</a:t>
            </a:r>
            <a:endParaRPr lang="en-US" sz="4800" dirty="0"/>
          </a:p>
        </p:txBody>
      </p:sp>
      <p:sp>
        <p:nvSpPr>
          <p:cNvPr id="6" name="Text Placeholder 2">
            <a:extLst>
              <a:ext uri="{FF2B5EF4-FFF2-40B4-BE49-F238E27FC236}">
                <a16:creationId xmlns:a16="http://schemas.microsoft.com/office/drawing/2014/main" id="{055D099D-C6CE-C310-992F-F36E321C3114}"/>
              </a:ext>
            </a:extLst>
          </p:cNvPr>
          <p:cNvSpPr txBox="1">
            <a:spLocks/>
          </p:cNvSpPr>
          <p:nvPr/>
        </p:nvSpPr>
        <p:spPr>
          <a:xfrm>
            <a:off x="0" y="971167"/>
            <a:ext cx="10962800" cy="55192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609585" marR="0" lvl="0" indent="-491054" algn="l" rtl="0">
              <a:lnSpc>
                <a:spcPct val="115000"/>
              </a:lnSpc>
              <a:spcBef>
                <a:spcPts val="0"/>
              </a:spcBef>
              <a:spcAft>
                <a:spcPts val="0"/>
              </a:spcAft>
              <a:buClr>
                <a:srgbClr val="000000"/>
              </a:buClr>
              <a:buSzPts val="2200"/>
              <a:buFont typeface="Roboto"/>
              <a:buChar char="●"/>
              <a:defRPr sz="2933" b="0" i="0" u="none" strike="noStrike" cap="none">
                <a:solidFill>
                  <a:srgbClr val="000000"/>
                </a:solidFill>
                <a:latin typeface="Roboto"/>
                <a:ea typeface="Roboto"/>
                <a:cs typeface="Roboto"/>
                <a:sym typeface="Roboto"/>
              </a:defRPr>
            </a:lvl1pPr>
            <a:lvl2pPr marL="1219170" marR="0" lvl="1" indent="-474121" algn="l" rtl="0">
              <a:lnSpc>
                <a:spcPct val="115000"/>
              </a:lnSpc>
              <a:spcBef>
                <a:spcPts val="2133"/>
              </a:spcBef>
              <a:spcAft>
                <a:spcPts val="0"/>
              </a:spcAft>
              <a:buClr>
                <a:srgbClr val="000000"/>
              </a:buClr>
              <a:buSzPts val="2000"/>
              <a:buFont typeface="Roboto"/>
              <a:buChar char="○"/>
              <a:defRPr sz="2667" b="0" i="0" u="none" strike="noStrike" cap="none">
                <a:solidFill>
                  <a:srgbClr val="000000"/>
                </a:solidFill>
                <a:latin typeface="Roboto"/>
                <a:ea typeface="Roboto"/>
                <a:cs typeface="Roboto"/>
                <a:sym typeface="Roboto"/>
              </a:defRPr>
            </a:lvl2pPr>
            <a:lvl3pPr marL="1828754" marR="0" lvl="2" indent="-457189" algn="l" rtl="0">
              <a:lnSpc>
                <a:spcPct val="115000"/>
              </a:lnSpc>
              <a:spcBef>
                <a:spcPts val="2133"/>
              </a:spcBef>
              <a:spcAft>
                <a:spcPts val="0"/>
              </a:spcAft>
              <a:buClr>
                <a:srgbClr val="000000"/>
              </a:buClr>
              <a:buSzPts val="1800"/>
              <a:buFont typeface="Roboto"/>
              <a:buChar char="■"/>
              <a:defRPr sz="2400" b="0" i="0" u="none" strike="noStrike" cap="none">
                <a:solidFill>
                  <a:srgbClr val="000000"/>
                </a:solidFill>
                <a:latin typeface="Roboto"/>
                <a:ea typeface="Roboto"/>
                <a:cs typeface="Roboto"/>
                <a:sym typeface="Roboto"/>
              </a:defRPr>
            </a:lvl3pPr>
            <a:lvl4pPr marL="2438339" marR="0" lvl="3" indent="-440256" algn="l" rtl="0">
              <a:lnSpc>
                <a:spcPct val="115000"/>
              </a:lnSpc>
              <a:spcBef>
                <a:spcPts val="2133"/>
              </a:spcBef>
              <a:spcAft>
                <a:spcPts val="0"/>
              </a:spcAft>
              <a:buClr>
                <a:srgbClr val="000000"/>
              </a:buClr>
              <a:buSzPts val="1600"/>
              <a:buFont typeface="Roboto"/>
              <a:buChar char="●"/>
              <a:defRPr sz="2133" b="0" i="0" u="none" strike="noStrike" cap="none">
                <a:solidFill>
                  <a:srgbClr val="000000"/>
                </a:solidFill>
                <a:latin typeface="Roboto"/>
                <a:ea typeface="Roboto"/>
                <a:cs typeface="Roboto"/>
                <a:sym typeface="Roboto"/>
              </a:defRPr>
            </a:lvl4pPr>
            <a:lvl5pPr marL="3047924" marR="0" lvl="4" indent="-423323" algn="l" rtl="0">
              <a:lnSpc>
                <a:spcPct val="115000"/>
              </a:lnSpc>
              <a:spcBef>
                <a:spcPts val="2133"/>
              </a:spcBef>
              <a:spcAft>
                <a:spcPts val="0"/>
              </a:spcAft>
              <a:buClr>
                <a:srgbClr val="000000"/>
              </a:buClr>
              <a:buSzPts val="1400"/>
              <a:buFont typeface="Roboto"/>
              <a:buChar char="○"/>
              <a:defRPr sz="1867" b="0" i="0" u="none" strike="noStrike" cap="none">
                <a:solidFill>
                  <a:srgbClr val="000000"/>
                </a:solidFill>
                <a:latin typeface="Roboto"/>
                <a:ea typeface="Roboto"/>
                <a:cs typeface="Roboto"/>
                <a:sym typeface="Roboto"/>
              </a:defRPr>
            </a:lvl5pPr>
            <a:lvl6pPr marL="3657509" marR="0" lvl="5" indent="-423323" algn="l" rtl="0">
              <a:lnSpc>
                <a:spcPct val="115000"/>
              </a:lnSpc>
              <a:spcBef>
                <a:spcPts val="2133"/>
              </a:spcBef>
              <a:spcAft>
                <a:spcPts val="0"/>
              </a:spcAft>
              <a:buClr>
                <a:srgbClr val="000000"/>
              </a:buClr>
              <a:buSzPts val="1400"/>
              <a:buFont typeface="Roboto"/>
              <a:buChar char="■"/>
              <a:defRPr sz="1867" b="0" i="0" u="none" strike="noStrike" cap="none">
                <a:solidFill>
                  <a:srgbClr val="000000"/>
                </a:solidFill>
                <a:latin typeface="Roboto"/>
                <a:ea typeface="Roboto"/>
                <a:cs typeface="Roboto"/>
                <a:sym typeface="Roboto"/>
              </a:defRPr>
            </a:lvl6pPr>
            <a:lvl7pPr marL="4267093" marR="0" lvl="6" indent="-423323" algn="l" rtl="0">
              <a:lnSpc>
                <a:spcPct val="115000"/>
              </a:lnSpc>
              <a:spcBef>
                <a:spcPts val="2133"/>
              </a:spcBef>
              <a:spcAft>
                <a:spcPts val="0"/>
              </a:spcAft>
              <a:buClr>
                <a:srgbClr val="000000"/>
              </a:buClr>
              <a:buSzPts val="1400"/>
              <a:buFont typeface="Roboto"/>
              <a:buChar char="●"/>
              <a:defRPr sz="1867" b="0" i="0" u="none" strike="noStrike" cap="none">
                <a:solidFill>
                  <a:srgbClr val="000000"/>
                </a:solidFill>
                <a:latin typeface="Roboto"/>
                <a:ea typeface="Roboto"/>
                <a:cs typeface="Roboto"/>
                <a:sym typeface="Roboto"/>
              </a:defRPr>
            </a:lvl7pPr>
            <a:lvl8pPr marL="4876678" marR="0" lvl="7" indent="-423323" algn="l" rtl="0">
              <a:lnSpc>
                <a:spcPct val="115000"/>
              </a:lnSpc>
              <a:spcBef>
                <a:spcPts val="2133"/>
              </a:spcBef>
              <a:spcAft>
                <a:spcPts val="0"/>
              </a:spcAft>
              <a:buClr>
                <a:srgbClr val="000000"/>
              </a:buClr>
              <a:buSzPts val="1400"/>
              <a:buFont typeface="Roboto"/>
              <a:buChar char="○"/>
              <a:defRPr sz="1867" b="0" i="0" u="none" strike="noStrike" cap="none">
                <a:solidFill>
                  <a:srgbClr val="000000"/>
                </a:solidFill>
                <a:latin typeface="Roboto"/>
                <a:ea typeface="Roboto"/>
                <a:cs typeface="Roboto"/>
                <a:sym typeface="Roboto"/>
              </a:defRPr>
            </a:lvl8pPr>
            <a:lvl9pPr marL="5486263" marR="0" lvl="8" indent="-423323" algn="l" rtl="0">
              <a:lnSpc>
                <a:spcPct val="115000"/>
              </a:lnSpc>
              <a:spcBef>
                <a:spcPts val="2133"/>
              </a:spcBef>
              <a:spcAft>
                <a:spcPts val="2133"/>
              </a:spcAft>
              <a:buClr>
                <a:schemeClr val="lt2"/>
              </a:buClr>
              <a:buSzPts val="1400"/>
              <a:buFont typeface="Roboto"/>
              <a:buChar char="■"/>
              <a:defRPr sz="1867" b="0" i="0" u="none" strike="noStrike" cap="none">
                <a:solidFill>
                  <a:schemeClr val="lt2"/>
                </a:solidFill>
                <a:latin typeface="Roboto"/>
                <a:ea typeface="Roboto"/>
                <a:cs typeface="Roboto"/>
                <a:sym typeface="Roboto"/>
              </a:defRPr>
            </a:lvl9pPr>
          </a:lstStyle>
          <a:p>
            <a:pPr marL="118531" indent="0">
              <a:buFont typeface="Roboto"/>
              <a:buNone/>
            </a:pPr>
            <a:r>
              <a:rPr lang="en-US" sz="2000" b="1" kern="0" dirty="0"/>
              <a:t>4. </a:t>
            </a:r>
            <a:r>
              <a:rPr lang="en-US" sz="2000" b="1" kern="0" dirty="0" err="1"/>
              <a:t>Phân</a:t>
            </a:r>
            <a:r>
              <a:rPr lang="en-US" sz="2000" b="1" kern="0" dirty="0"/>
              <a:t> </a:t>
            </a:r>
            <a:r>
              <a:rPr lang="en-US" sz="2000" b="1" kern="0" dirty="0" err="1"/>
              <a:t>tích</a:t>
            </a:r>
            <a:r>
              <a:rPr lang="en-US" sz="2000" b="1" kern="0" dirty="0"/>
              <a:t> </a:t>
            </a:r>
            <a:r>
              <a:rPr lang="en-US" sz="2000" b="1" kern="0" dirty="0" err="1"/>
              <a:t>đa</a:t>
            </a:r>
            <a:r>
              <a:rPr lang="en-US" sz="2000" b="1" kern="0" dirty="0"/>
              <a:t> </a:t>
            </a:r>
            <a:r>
              <a:rPr lang="en-US" sz="2000" b="1" kern="0" dirty="0" err="1"/>
              <a:t>biến</a:t>
            </a:r>
            <a:r>
              <a:rPr lang="en-US" sz="2000" b="1" kern="0" dirty="0"/>
              <a:t> </a:t>
            </a:r>
            <a:r>
              <a:rPr lang="en-US" sz="2000" b="1" kern="0" dirty="0" err="1"/>
              <a:t>theo</a:t>
            </a:r>
            <a:r>
              <a:rPr lang="en-US" sz="2000" b="1" kern="0" dirty="0"/>
              <a:t> </a:t>
            </a:r>
            <a:r>
              <a:rPr lang="en-US" sz="2000" b="1" kern="0" dirty="0" err="1"/>
              <a:t>vị</a:t>
            </a:r>
            <a:r>
              <a:rPr lang="en-US" sz="2000" b="1" kern="0" dirty="0"/>
              <a:t> </a:t>
            </a:r>
            <a:r>
              <a:rPr lang="en-US" sz="2000" b="1" kern="0" dirty="0" err="1"/>
              <a:t>trí</a:t>
            </a:r>
            <a:r>
              <a:rPr lang="en-US" sz="2000" b="1" kern="0" dirty="0"/>
              <a:t> </a:t>
            </a:r>
            <a:r>
              <a:rPr lang="en-US" sz="2000" b="1" kern="0" dirty="0" err="1"/>
              <a:t>và</a:t>
            </a:r>
            <a:r>
              <a:rPr lang="en-US" sz="2000" b="1" kern="0" dirty="0"/>
              <a:t> </a:t>
            </a:r>
            <a:r>
              <a:rPr lang="en-US" sz="2000" b="1" kern="0" dirty="0" err="1"/>
              <a:t>đặc</a:t>
            </a:r>
            <a:r>
              <a:rPr lang="en-US" sz="2000" b="1" kern="0" dirty="0"/>
              <a:t> </a:t>
            </a:r>
            <a:r>
              <a:rPr lang="en-US" sz="2000" b="1" kern="0" dirty="0" err="1"/>
              <a:t>trưng</a:t>
            </a:r>
            <a:r>
              <a:rPr lang="en-US" sz="2000" b="1" kern="0" dirty="0"/>
              <a:t> </a:t>
            </a:r>
            <a:r>
              <a:rPr lang="en-US" sz="2000" b="1" kern="0" dirty="0" err="1"/>
              <a:t>vật</a:t>
            </a:r>
            <a:r>
              <a:rPr lang="en-US" sz="2000" b="1" kern="0" dirty="0"/>
              <a:t> </a:t>
            </a:r>
            <a:r>
              <a:rPr lang="en-US" sz="2000" b="1" kern="0" dirty="0" err="1"/>
              <a:t>lý</a:t>
            </a:r>
            <a:endParaRPr lang="en-US" sz="2000" b="1" kern="0" dirty="0"/>
          </a:p>
        </p:txBody>
      </p:sp>
      <p:pic>
        <p:nvPicPr>
          <p:cNvPr id="3074" name="Picture 2">
            <a:extLst>
              <a:ext uri="{FF2B5EF4-FFF2-40B4-BE49-F238E27FC236}">
                <a16:creationId xmlns:a16="http://schemas.microsoft.com/office/drawing/2014/main" id="{ABD7D0D4-F8FF-B823-5868-6E41831D77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9101" y="1389339"/>
            <a:ext cx="4108341" cy="256081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ACC70318-F460-1ACA-D738-3E5C80920C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86455" y="1389339"/>
            <a:ext cx="4556693" cy="2325464"/>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A717E164-ED5C-B8EE-0114-4469F6B4FD63}"/>
              </a:ext>
            </a:extLst>
          </p:cNvPr>
          <p:cNvSpPr txBox="1"/>
          <p:nvPr/>
        </p:nvSpPr>
        <p:spPr>
          <a:xfrm>
            <a:off x="993924" y="3831318"/>
            <a:ext cx="3163483" cy="307777"/>
          </a:xfrm>
          <a:prstGeom prst="rect">
            <a:avLst/>
          </a:prstGeom>
          <a:noFill/>
        </p:spPr>
        <p:txBody>
          <a:bodyPr wrap="square">
            <a:spAutoFit/>
          </a:bodyPr>
          <a:lstStyle/>
          <a:p>
            <a:r>
              <a:rPr lang="en-US" sz="1400" b="0" i="1" u="none" strike="noStrike" dirty="0" err="1">
                <a:solidFill>
                  <a:srgbClr val="000000"/>
                </a:solidFill>
                <a:effectLst/>
                <a:latin typeface="Times New Roman" panose="02020603050405020304" pitchFamily="18" charset="0"/>
              </a:rPr>
              <a:t>Hình</a:t>
            </a:r>
            <a:r>
              <a:rPr lang="en-US" sz="1400" b="0" i="1" u="none" strike="noStrike" dirty="0">
                <a:solidFill>
                  <a:srgbClr val="000000"/>
                </a:solidFill>
                <a:effectLst/>
                <a:latin typeface="Times New Roman" panose="02020603050405020304" pitchFamily="18" charset="0"/>
              </a:rPr>
              <a:t> </a:t>
            </a:r>
            <a:r>
              <a:rPr lang="en-US" sz="1400" i="1" dirty="0">
                <a:solidFill>
                  <a:srgbClr val="000000"/>
                </a:solidFill>
                <a:latin typeface="Times New Roman" panose="02020603050405020304" pitchFamily="18" charset="0"/>
              </a:rPr>
              <a:t>14</a:t>
            </a:r>
            <a:r>
              <a:rPr lang="en-US" sz="1400" b="0" i="1" u="none" strike="noStrike" dirty="0">
                <a:solidFill>
                  <a:srgbClr val="000000"/>
                </a:solidFill>
                <a:effectLst/>
                <a:latin typeface="Times New Roman" panose="02020603050405020304" pitchFamily="18" charset="0"/>
              </a:rPr>
              <a:t>: Boxplot </a:t>
            </a:r>
            <a:r>
              <a:rPr lang="en-US" sz="1400" b="0" i="1" u="none" strike="noStrike" dirty="0" err="1">
                <a:solidFill>
                  <a:srgbClr val="000000"/>
                </a:solidFill>
                <a:effectLst/>
                <a:latin typeface="Times New Roman" panose="02020603050405020304" pitchFamily="18" charset="0"/>
              </a:rPr>
              <a:t>giá</a:t>
            </a:r>
            <a:r>
              <a:rPr lang="en-US" sz="1400" b="0" i="1" u="none" strike="noStrike" dirty="0">
                <a:solidFill>
                  <a:srgbClr val="000000"/>
                </a:solidFill>
                <a:effectLst/>
                <a:latin typeface="Times New Roman" panose="02020603050405020304" pitchFamily="18" charset="0"/>
              </a:rPr>
              <a:t> </a:t>
            </a:r>
            <a:r>
              <a:rPr lang="en-US" sz="1400" b="0" i="1" u="none" strike="noStrike" dirty="0" err="1">
                <a:solidFill>
                  <a:srgbClr val="000000"/>
                </a:solidFill>
                <a:effectLst/>
                <a:latin typeface="Times New Roman" panose="02020603050405020304" pitchFamily="18" charset="0"/>
              </a:rPr>
              <a:t>nhà</a:t>
            </a:r>
            <a:r>
              <a:rPr lang="en-US" sz="1400" b="0" i="1" u="none" strike="noStrike" dirty="0">
                <a:solidFill>
                  <a:srgbClr val="000000"/>
                </a:solidFill>
                <a:effectLst/>
                <a:latin typeface="Times New Roman" panose="02020603050405020304" pitchFamily="18" charset="0"/>
              </a:rPr>
              <a:t> </a:t>
            </a:r>
            <a:r>
              <a:rPr lang="en-US" sz="1400" b="0" i="1" u="none" strike="noStrike" dirty="0" err="1">
                <a:solidFill>
                  <a:srgbClr val="000000"/>
                </a:solidFill>
                <a:effectLst/>
                <a:latin typeface="Times New Roman" panose="02020603050405020304" pitchFamily="18" charset="0"/>
              </a:rPr>
              <a:t>theo</a:t>
            </a:r>
            <a:r>
              <a:rPr lang="en-US" sz="1400" b="0" i="1" u="none" strike="noStrike" dirty="0">
                <a:solidFill>
                  <a:srgbClr val="000000"/>
                </a:solidFill>
                <a:effectLst/>
                <a:latin typeface="Times New Roman" panose="02020603050405020304" pitchFamily="18" charset="0"/>
              </a:rPr>
              <a:t> </a:t>
            </a:r>
            <a:r>
              <a:rPr lang="en-US" sz="1400" b="0" i="1" u="none" strike="noStrike" dirty="0" err="1">
                <a:solidFill>
                  <a:srgbClr val="000000"/>
                </a:solidFill>
                <a:effectLst/>
                <a:latin typeface="Times New Roman" panose="02020603050405020304" pitchFamily="18" charset="0"/>
              </a:rPr>
              <a:t>thành</a:t>
            </a:r>
            <a:r>
              <a:rPr lang="en-US" sz="1400" b="0" i="1" u="none" strike="noStrike" dirty="0">
                <a:solidFill>
                  <a:srgbClr val="000000"/>
                </a:solidFill>
                <a:effectLst/>
                <a:latin typeface="Times New Roman" panose="02020603050405020304" pitchFamily="18" charset="0"/>
              </a:rPr>
              <a:t> </a:t>
            </a:r>
            <a:r>
              <a:rPr lang="en-US" sz="1400" b="0" i="1" u="none" strike="noStrike" dirty="0" err="1">
                <a:solidFill>
                  <a:srgbClr val="000000"/>
                </a:solidFill>
                <a:effectLst/>
                <a:latin typeface="Times New Roman" panose="02020603050405020304" pitchFamily="18" charset="0"/>
              </a:rPr>
              <a:t>phố</a:t>
            </a:r>
            <a:endParaRPr lang="en-US" sz="1400" dirty="0"/>
          </a:p>
        </p:txBody>
      </p:sp>
      <p:sp>
        <p:nvSpPr>
          <p:cNvPr id="9" name="TextBox 8">
            <a:extLst>
              <a:ext uri="{FF2B5EF4-FFF2-40B4-BE49-F238E27FC236}">
                <a16:creationId xmlns:a16="http://schemas.microsoft.com/office/drawing/2014/main" id="{64D01388-B5B2-8957-9AE4-38BB7CC390C5}"/>
              </a:ext>
            </a:extLst>
          </p:cNvPr>
          <p:cNvSpPr txBox="1"/>
          <p:nvPr/>
        </p:nvSpPr>
        <p:spPr>
          <a:xfrm>
            <a:off x="6924181" y="3808391"/>
            <a:ext cx="3818967" cy="307777"/>
          </a:xfrm>
          <a:prstGeom prst="rect">
            <a:avLst/>
          </a:prstGeom>
          <a:noFill/>
        </p:spPr>
        <p:txBody>
          <a:bodyPr wrap="square">
            <a:spAutoFit/>
          </a:bodyPr>
          <a:lstStyle/>
          <a:p>
            <a:r>
              <a:rPr lang="en-US" sz="1400" b="0" i="1" u="none" strike="noStrike" dirty="0" err="1">
                <a:solidFill>
                  <a:srgbClr val="000000"/>
                </a:solidFill>
                <a:effectLst/>
                <a:latin typeface="Times New Roman" panose="02020603050405020304" pitchFamily="18" charset="0"/>
              </a:rPr>
              <a:t>Hình</a:t>
            </a:r>
            <a:r>
              <a:rPr lang="en-US" sz="1400" b="0" i="1" u="none" strike="noStrike" dirty="0">
                <a:solidFill>
                  <a:srgbClr val="000000"/>
                </a:solidFill>
                <a:effectLst/>
                <a:latin typeface="Times New Roman" panose="02020603050405020304" pitchFamily="18" charset="0"/>
              </a:rPr>
              <a:t> </a:t>
            </a:r>
            <a:r>
              <a:rPr lang="en-US" sz="1400" i="1" dirty="0">
                <a:solidFill>
                  <a:srgbClr val="000000"/>
                </a:solidFill>
                <a:latin typeface="Times New Roman" panose="02020603050405020304" pitchFamily="18" charset="0"/>
              </a:rPr>
              <a:t>15</a:t>
            </a:r>
            <a:r>
              <a:rPr lang="en-US" sz="1400" b="0" i="1" u="none" strike="noStrike" dirty="0">
                <a:solidFill>
                  <a:srgbClr val="000000"/>
                </a:solidFill>
                <a:effectLst/>
                <a:latin typeface="Times New Roman" panose="02020603050405020304" pitchFamily="18" charset="0"/>
              </a:rPr>
              <a:t>: </a:t>
            </a:r>
            <a:r>
              <a:rPr lang="en-US" sz="1400" i="1" dirty="0" err="1">
                <a:solidFill>
                  <a:srgbClr val="000000"/>
                </a:solidFill>
                <a:latin typeface="Times New Roman" panose="02020603050405020304" pitchFamily="18" charset="0"/>
              </a:rPr>
              <a:t>Biểu</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đồ</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cột</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quy</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mô</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thoe</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từng</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thành</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phố</a:t>
            </a:r>
            <a:endParaRPr lang="en-US" sz="1400" dirty="0"/>
          </a:p>
        </p:txBody>
      </p:sp>
      <p:sp>
        <p:nvSpPr>
          <p:cNvPr id="3" name="TextBox 2">
            <a:extLst>
              <a:ext uri="{FF2B5EF4-FFF2-40B4-BE49-F238E27FC236}">
                <a16:creationId xmlns:a16="http://schemas.microsoft.com/office/drawing/2014/main" id="{B95D7CF5-818D-9CFE-098D-82C279A675B0}"/>
              </a:ext>
            </a:extLst>
          </p:cNvPr>
          <p:cNvSpPr txBox="1"/>
          <p:nvPr/>
        </p:nvSpPr>
        <p:spPr>
          <a:xfrm>
            <a:off x="379100" y="4368321"/>
            <a:ext cx="11081379" cy="369332"/>
          </a:xfrm>
          <a:prstGeom prst="rect">
            <a:avLst/>
          </a:prstGeom>
          <a:noFill/>
        </p:spPr>
        <p:txBody>
          <a:bodyPr wrap="square">
            <a:spAutoFit/>
          </a:bodyPr>
          <a:lstStyle/>
          <a:p>
            <a:r>
              <a:rPr lang="en-US" sz="1800" b="0" i="0" u="none" strike="noStrike" dirty="0" err="1">
                <a:solidFill>
                  <a:srgbClr val="000000"/>
                </a:solidFill>
                <a:effectLst/>
                <a:latin typeface="Times New Roman" panose="02020603050405020304" pitchFamily="18" charset="0"/>
              </a:rPr>
              <a:t>Hồ</a:t>
            </a:r>
            <a:r>
              <a:rPr lang="en-US" sz="1800" b="0" i="0" u="none" strike="noStrike" dirty="0">
                <a:solidFill>
                  <a:srgbClr val="000000"/>
                </a:solidFill>
                <a:effectLst/>
                <a:latin typeface="Times New Roman" panose="02020603050405020304" pitchFamily="18" charset="0"/>
              </a:rPr>
              <a:t> Chí Minh </a:t>
            </a:r>
            <a:r>
              <a:rPr lang="en-US" sz="1800" b="0" i="0" u="none" strike="noStrike" dirty="0" err="1">
                <a:solidFill>
                  <a:srgbClr val="000000"/>
                </a:solidFill>
                <a:effectLst/>
                <a:latin typeface="Times New Roman" panose="02020603050405020304" pitchFamily="18" charset="0"/>
              </a:rPr>
              <a:t>và</a:t>
            </a:r>
            <a:r>
              <a:rPr lang="en-US" sz="1800" b="0" i="0" u="none" strike="noStrike" dirty="0">
                <a:solidFill>
                  <a:srgbClr val="000000"/>
                </a:solidFill>
                <a:effectLst/>
                <a:latin typeface="Times New Roman" panose="02020603050405020304" pitchFamily="18" charset="0"/>
              </a:rPr>
              <a:t> Hà </a:t>
            </a:r>
            <a:r>
              <a:rPr lang="en-US" sz="1800" b="0" i="0" u="none" strike="noStrike" dirty="0" err="1">
                <a:solidFill>
                  <a:srgbClr val="000000"/>
                </a:solidFill>
                <a:effectLst/>
                <a:latin typeface="Times New Roman" panose="02020603050405020304" pitchFamily="18" charset="0"/>
              </a:rPr>
              <a:t>Nội</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có</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mức</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giá</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trung</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vị</a:t>
            </a:r>
            <a:r>
              <a:rPr lang="en-US" sz="1800" b="0" i="0" u="none" strike="noStrike" dirty="0">
                <a:solidFill>
                  <a:srgbClr val="000000"/>
                </a:solidFill>
                <a:effectLst/>
                <a:latin typeface="Times New Roman" panose="02020603050405020304" pitchFamily="18" charset="0"/>
              </a:rPr>
              <a:t> (median) </a:t>
            </a:r>
            <a:r>
              <a:rPr lang="en-US" sz="1800" b="0" i="0" u="none" strike="noStrike" dirty="0" err="1">
                <a:solidFill>
                  <a:srgbClr val="000000"/>
                </a:solidFill>
                <a:effectLst/>
                <a:latin typeface="Times New Roman" panose="02020603050405020304" pitchFamily="18" charset="0"/>
              </a:rPr>
              <a:t>cao</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nhất</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khoảng</a:t>
            </a:r>
            <a:r>
              <a:rPr lang="en-US" sz="1800" b="0" i="0" u="none" strike="noStrike" dirty="0">
                <a:solidFill>
                  <a:srgbClr val="000000"/>
                </a:solidFill>
                <a:effectLst/>
                <a:latin typeface="Times New Roman" panose="02020603050405020304" pitchFamily="18" charset="0"/>
              </a:rPr>
              <a:t> 6 </a:t>
            </a:r>
            <a:r>
              <a:rPr lang="en-US" sz="1800" b="0" i="0" u="none" strike="noStrike" dirty="0" err="1">
                <a:solidFill>
                  <a:srgbClr val="000000"/>
                </a:solidFill>
                <a:effectLst/>
                <a:latin typeface="Times New Roman" panose="02020603050405020304" pitchFamily="18" charset="0"/>
              </a:rPr>
              <a:t>tỷ</a:t>
            </a:r>
            <a:r>
              <a:rPr lang="en-US" sz="1800" b="0" i="0" u="none" strike="noStrike" dirty="0">
                <a:solidFill>
                  <a:srgbClr val="000000"/>
                </a:solidFill>
                <a:effectLst/>
                <a:latin typeface="Times New Roman" panose="02020603050405020304" pitchFamily="18" charset="0"/>
              </a:rPr>
              <a:t> VNĐ) </a:t>
            </a:r>
            <a:r>
              <a:rPr lang="en-US" sz="1800" b="0" i="0" u="none" strike="noStrike" dirty="0" err="1">
                <a:solidFill>
                  <a:srgbClr val="000000"/>
                </a:solidFill>
                <a:effectLst/>
                <a:latin typeface="Times New Roman" panose="02020603050405020304" pitchFamily="18" charset="0"/>
              </a:rPr>
              <a:t>và</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dải</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giá</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rộng</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nhất</a:t>
            </a:r>
            <a:endParaRPr lang="en-US" dirty="0"/>
          </a:p>
        </p:txBody>
      </p:sp>
      <p:sp>
        <p:nvSpPr>
          <p:cNvPr id="5" name="TextBox 4">
            <a:extLst>
              <a:ext uri="{FF2B5EF4-FFF2-40B4-BE49-F238E27FC236}">
                <a16:creationId xmlns:a16="http://schemas.microsoft.com/office/drawing/2014/main" id="{3E5D793E-5DDB-A617-BC01-CAD3A1987A63}"/>
              </a:ext>
            </a:extLst>
          </p:cNvPr>
          <p:cNvSpPr txBox="1"/>
          <p:nvPr/>
        </p:nvSpPr>
        <p:spPr>
          <a:xfrm>
            <a:off x="379100" y="4782213"/>
            <a:ext cx="11497940" cy="646331"/>
          </a:xfrm>
          <a:prstGeom prst="rect">
            <a:avLst/>
          </a:prstGeom>
          <a:noFill/>
        </p:spPr>
        <p:txBody>
          <a:bodyPr wrap="square">
            <a:spAutoFit/>
          </a:bodyPr>
          <a:lstStyle/>
          <a:p>
            <a:r>
              <a:rPr lang="en-US" sz="1800" b="0" i="0" u="none" strike="noStrike" dirty="0" err="1">
                <a:solidFill>
                  <a:srgbClr val="000000"/>
                </a:solidFill>
                <a:effectLst/>
                <a:latin typeface="Times New Roman" panose="02020603050405020304" pitchFamily="18" charset="0"/>
              </a:rPr>
              <a:t>Đặc</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thù</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vùng</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miền</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và</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khoảng</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cách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phát</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triển</a:t>
            </a:r>
            <a:r>
              <a:rPr lang="en-US" sz="1800" b="0" i="0" u="none" strike="noStrike" dirty="0">
                <a:solidFill>
                  <a:srgbClr val="000000"/>
                </a:solidFill>
                <a:effectLst/>
                <a:latin typeface="Times New Roman" panose="02020603050405020304" pitchFamily="18" charset="0"/>
              </a:rPr>
              <a:t>: </a:t>
            </a:r>
            <a:r>
              <a:rPr lang="vi-VN" dirty="0">
                <a:solidFill>
                  <a:schemeClr val="accent4">
                    <a:lumMod val="10000"/>
                  </a:schemeClr>
                </a:solidFill>
                <a:latin typeface="+mj-lt"/>
              </a:rPr>
              <a:t>TP.HCM ở đỉnh cao và Long An ở mức thấp hơn (trung vị khoảng 2.8 tỷ VNĐ)</a:t>
            </a:r>
            <a:endParaRPr lang="en-US" dirty="0">
              <a:solidFill>
                <a:schemeClr val="accent4">
                  <a:lumMod val="10000"/>
                </a:schemeClr>
              </a:solidFill>
              <a:latin typeface="+mj-lt"/>
            </a:endParaRPr>
          </a:p>
        </p:txBody>
      </p:sp>
      <p:sp>
        <p:nvSpPr>
          <p:cNvPr id="11" name="TextBox 10">
            <a:extLst>
              <a:ext uri="{FF2B5EF4-FFF2-40B4-BE49-F238E27FC236}">
                <a16:creationId xmlns:a16="http://schemas.microsoft.com/office/drawing/2014/main" id="{D522987F-3943-EF31-3C57-D494F5276684}"/>
              </a:ext>
            </a:extLst>
          </p:cNvPr>
          <p:cNvSpPr txBox="1"/>
          <p:nvPr/>
        </p:nvSpPr>
        <p:spPr>
          <a:xfrm>
            <a:off x="379100" y="5334133"/>
            <a:ext cx="11433800" cy="369332"/>
          </a:xfrm>
          <a:prstGeom prst="rect">
            <a:avLst/>
          </a:prstGeom>
          <a:noFill/>
        </p:spPr>
        <p:txBody>
          <a:bodyPr wrap="square">
            <a:spAutoFit/>
          </a:bodyPr>
          <a:lstStyle/>
          <a:p>
            <a:r>
              <a:rPr lang="vi-VN" sz="1800" b="0" i="0" u="none" strike="noStrike" dirty="0">
                <a:solidFill>
                  <a:srgbClr val="000000"/>
                </a:solidFill>
                <a:effectLst/>
                <a:latin typeface="Times New Roman" panose="02020603050405020304" pitchFamily="18" charset="0"/>
              </a:rPr>
              <a:t>Các thành phố như Bình Dương và Đồng Nai có dải giá tập trung ở phần thấp hơn</a:t>
            </a:r>
            <a:endParaRPr lang="en-US" dirty="0"/>
          </a:p>
        </p:txBody>
      </p:sp>
    </p:spTree>
    <p:extLst>
      <p:ext uri="{BB962C8B-B14F-4D97-AF65-F5344CB8AC3E}">
        <p14:creationId xmlns:p14="http://schemas.microsoft.com/office/powerpoint/2010/main" val="33170923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629200" y="77167"/>
            <a:ext cx="10962800" cy="894000"/>
          </a:xfrm>
        </p:spPr>
        <p:txBody>
          <a:bodyPr/>
          <a:lstStyle/>
          <a:p>
            <a:r>
              <a:rPr lang="en" sz="4800" b="1" dirty="0"/>
              <a:t>Phương pháp tiếp cận</a:t>
            </a:r>
            <a:endParaRPr lang="en-US" sz="4800" dirty="0"/>
          </a:p>
        </p:txBody>
      </p:sp>
      <p:sp>
        <p:nvSpPr>
          <p:cNvPr id="6" name="Text Placeholder 2"/>
          <p:cNvSpPr txBox="1">
            <a:spLocks/>
          </p:cNvSpPr>
          <p:nvPr/>
        </p:nvSpPr>
        <p:spPr>
          <a:xfrm>
            <a:off x="0" y="971167"/>
            <a:ext cx="10962800" cy="55192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609585" marR="0" lvl="0" indent="-491054" algn="l" rtl="0">
              <a:lnSpc>
                <a:spcPct val="115000"/>
              </a:lnSpc>
              <a:spcBef>
                <a:spcPts val="0"/>
              </a:spcBef>
              <a:spcAft>
                <a:spcPts val="0"/>
              </a:spcAft>
              <a:buClr>
                <a:srgbClr val="000000"/>
              </a:buClr>
              <a:buSzPts val="2200"/>
              <a:buFont typeface="Roboto"/>
              <a:buChar char="●"/>
              <a:defRPr sz="2933" b="0" i="0" u="none" strike="noStrike" cap="none">
                <a:solidFill>
                  <a:srgbClr val="000000"/>
                </a:solidFill>
                <a:latin typeface="Roboto"/>
                <a:ea typeface="Roboto"/>
                <a:cs typeface="Roboto"/>
                <a:sym typeface="Roboto"/>
              </a:defRPr>
            </a:lvl1pPr>
            <a:lvl2pPr marL="1219170" marR="0" lvl="1" indent="-474121" algn="l" rtl="0">
              <a:lnSpc>
                <a:spcPct val="115000"/>
              </a:lnSpc>
              <a:spcBef>
                <a:spcPts val="2133"/>
              </a:spcBef>
              <a:spcAft>
                <a:spcPts val="0"/>
              </a:spcAft>
              <a:buClr>
                <a:srgbClr val="000000"/>
              </a:buClr>
              <a:buSzPts val="2000"/>
              <a:buFont typeface="Roboto"/>
              <a:buChar char="○"/>
              <a:defRPr sz="2667" b="0" i="0" u="none" strike="noStrike" cap="none">
                <a:solidFill>
                  <a:srgbClr val="000000"/>
                </a:solidFill>
                <a:latin typeface="Roboto"/>
                <a:ea typeface="Roboto"/>
                <a:cs typeface="Roboto"/>
                <a:sym typeface="Roboto"/>
              </a:defRPr>
            </a:lvl2pPr>
            <a:lvl3pPr marL="1828754" marR="0" lvl="2" indent="-457189" algn="l" rtl="0">
              <a:lnSpc>
                <a:spcPct val="115000"/>
              </a:lnSpc>
              <a:spcBef>
                <a:spcPts val="2133"/>
              </a:spcBef>
              <a:spcAft>
                <a:spcPts val="0"/>
              </a:spcAft>
              <a:buClr>
                <a:srgbClr val="000000"/>
              </a:buClr>
              <a:buSzPts val="1800"/>
              <a:buFont typeface="Roboto"/>
              <a:buChar char="■"/>
              <a:defRPr sz="2400" b="0" i="0" u="none" strike="noStrike" cap="none">
                <a:solidFill>
                  <a:srgbClr val="000000"/>
                </a:solidFill>
                <a:latin typeface="Roboto"/>
                <a:ea typeface="Roboto"/>
                <a:cs typeface="Roboto"/>
                <a:sym typeface="Roboto"/>
              </a:defRPr>
            </a:lvl3pPr>
            <a:lvl4pPr marL="2438339" marR="0" lvl="3" indent="-440256" algn="l" rtl="0">
              <a:lnSpc>
                <a:spcPct val="115000"/>
              </a:lnSpc>
              <a:spcBef>
                <a:spcPts val="2133"/>
              </a:spcBef>
              <a:spcAft>
                <a:spcPts val="0"/>
              </a:spcAft>
              <a:buClr>
                <a:srgbClr val="000000"/>
              </a:buClr>
              <a:buSzPts val="1600"/>
              <a:buFont typeface="Roboto"/>
              <a:buChar char="●"/>
              <a:defRPr sz="2133" b="0" i="0" u="none" strike="noStrike" cap="none">
                <a:solidFill>
                  <a:srgbClr val="000000"/>
                </a:solidFill>
                <a:latin typeface="Roboto"/>
                <a:ea typeface="Roboto"/>
                <a:cs typeface="Roboto"/>
                <a:sym typeface="Roboto"/>
              </a:defRPr>
            </a:lvl4pPr>
            <a:lvl5pPr marL="3047924" marR="0" lvl="4" indent="-423323" algn="l" rtl="0">
              <a:lnSpc>
                <a:spcPct val="115000"/>
              </a:lnSpc>
              <a:spcBef>
                <a:spcPts val="2133"/>
              </a:spcBef>
              <a:spcAft>
                <a:spcPts val="0"/>
              </a:spcAft>
              <a:buClr>
                <a:srgbClr val="000000"/>
              </a:buClr>
              <a:buSzPts val="1400"/>
              <a:buFont typeface="Roboto"/>
              <a:buChar char="○"/>
              <a:defRPr sz="1867" b="0" i="0" u="none" strike="noStrike" cap="none">
                <a:solidFill>
                  <a:srgbClr val="000000"/>
                </a:solidFill>
                <a:latin typeface="Roboto"/>
                <a:ea typeface="Roboto"/>
                <a:cs typeface="Roboto"/>
                <a:sym typeface="Roboto"/>
              </a:defRPr>
            </a:lvl5pPr>
            <a:lvl6pPr marL="3657509" marR="0" lvl="5" indent="-423323" algn="l" rtl="0">
              <a:lnSpc>
                <a:spcPct val="115000"/>
              </a:lnSpc>
              <a:spcBef>
                <a:spcPts val="2133"/>
              </a:spcBef>
              <a:spcAft>
                <a:spcPts val="0"/>
              </a:spcAft>
              <a:buClr>
                <a:srgbClr val="000000"/>
              </a:buClr>
              <a:buSzPts val="1400"/>
              <a:buFont typeface="Roboto"/>
              <a:buChar char="■"/>
              <a:defRPr sz="1867" b="0" i="0" u="none" strike="noStrike" cap="none">
                <a:solidFill>
                  <a:srgbClr val="000000"/>
                </a:solidFill>
                <a:latin typeface="Roboto"/>
                <a:ea typeface="Roboto"/>
                <a:cs typeface="Roboto"/>
                <a:sym typeface="Roboto"/>
              </a:defRPr>
            </a:lvl6pPr>
            <a:lvl7pPr marL="4267093" marR="0" lvl="6" indent="-423323" algn="l" rtl="0">
              <a:lnSpc>
                <a:spcPct val="115000"/>
              </a:lnSpc>
              <a:spcBef>
                <a:spcPts val="2133"/>
              </a:spcBef>
              <a:spcAft>
                <a:spcPts val="0"/>
              </a:spcAft>
              <a:buClr>
                <a:srgbClr val="000000"/>
              </a:buClr>
              <a:buSzPts val="1400"/>
              <a:buFont typeface="Roboto"/>
              <a:buChar char="●"/>
              <a:defRPr sz="1867" b="0" i="0" u="none" strike="noStrike" cap="none">
                <a:solidFill>
                  <a:srgbClr val="000000"/>
                </a:solidFill>
                <a:latin typeface="Roboto"/>
                <a:ea typeface="Roboto"/>
                <a:cs typeface="Roboto"/>
                <a:sym typeface="Roboto"/>
              </a:defRPr>
            </a:lvl7pPr>
            <a:lvl8pPr marL="4876678" marR="0" lvl="7" indent="-423323" algn="l" rtl="0">
              <a:lnSpc>
                <a:spcPct val="115000"/>
              </a:lnSpc>
              <a:spcBef>
                <a:spcPts val="2133"/>
              </a:spcBef>
              <a:spcAft>
                <a:spcPts val="0"/>
              </a:spcAft>
              <a:buClr>
                <a:srgbClr val="000000"/>
              </a:buClr>
              <a:buSzPts val="1400"/>
              <a:buFont typeface="Roboto"/>
              <a:buChar char="○"/>
              <a:defRPr sz="1867" b="0" i="0" u="none" strike="noStrike" cap="none">
                <a:solidFill>
                  <a:srgbClr val="000000"/>
                </a:solidFill>
                <a:latin typeface="Roboto"/>
                <a:ea typeface="Roboto"/>
                <a:cs typeface="Roboto"/>
                <a:sym typeface="Roboto"/>
              </a:defRPr>
            </a:lvl8pPr>
            <a:lvl9pPr marL="5486263" marR="0" lvl="8" indent="-423323" algn="l" rtl="0">
              <a:lnSpc>
                <a:spcPct val="115000"/>
              </a:lnSpc>
              <a:spcBef>
                <a:spcPts val="2133"/>
              </a:spcBef>
              <a:spcAft>
                <a:spcPts val="2133"/>
              </a:spcAft>
              <a:buClr>
                <a:schemeClr val="lt2"/>
              </a:buClr>
              <a:buSzPts val="1400"/>
              <a:buFont typeface="Roboto"/>
              <a:buChar char="■"/>
              <a:defRPr sz="1867" b="0" i="0" u="none" strike="noStrike" cap="none">
                <a:solidFill>
                  <a:schemeClr val="lt2"/>
                </a:solidFill>
                <a:latin typeface="Roboto"/>
                <a:ea typeface="Roboto"/>
                <a:cs typeface="Roboto"/>
                <a:sym typeface="Roboto"/>
              </a:defRPr>
            </a:lvl9pPr>
          </a:lstStyle>
          <a:p>
            <a:pPr marL="118531" indent="0">
              <a:buFont typeface="Roboto"/>
              <a:buNone/>
            </a:pPr>
            <a:r>
              <a:rPr lang="en-US" sz="2000" b="1" kern="0" dirty="0"/>
              <a:t>4. </a:t>
            </a:r>
            <a:r>
              <a:rPr lang="en-US" sz="2000" b="1" kern="0" dirty="0" err="1"/>
              <a:t>Phân</a:t>
            </a:r>
            <a:r>
              <a:rPr lang="en-US" sz="2000" b="1" kern="0" dirty="0"/>
              <a:t> </a:t>
            </a:r>
            <a:r>
              <a:rPr lang="en-US" sz="2000" b="1" kern="0" dirty="0" err="1"/>
              <a:t>tích</a:t>
            </a:r>
            <a:r>
              <a:rPr lang="en-US" sz="2000" b="1" kern="0" dirty="0"/>
              <a:t> </a:t>
            </a:r>
            <a:r>
              <a:rPr lang="en-US" sz="2000" b="1" kern="0" dirty="0" err="1"/>
              <a:t>đa</a:t>
            </a:r>
            <a:r>
              <a:rPr lang="en-US" sz="2000" b="1" kern="0" dirty="0"/>
              <a:t> </a:t>
            </a:r>
            <a:r>
              <a:rPr lang="en-US" sz="2000" b="1" kern="0" dirty="0" err="1"/>
              <a:t>biến</a:t>
            </a:r>
            <a:r>
              <a:rPr lang="en-US" sz="2000" b="1" kern="0" dirty="0"/>
              <a:t> </a:t>
            </a:r>
            <a:r>
              <a:rPr lang="en-US" sz="2000" b="1" kern="0" dirty="0" err="1"/>
              <a:t>theo</a:t>
            </a:r>
            <a:r>
              <a:rPr lang="en-US" sz="2000" b="1" kern="0" dirty="0"/>
              <a:t> </a:t>
            </a:r>
            <a:r>
              <a:rPr lang="en-US" sz="2000" b="1" kern="0" dirty="0" err="1"/>
              <a:t>vị</a:t>
            </a:r>
            <a:r>
              <a:rPr lang="en-US" sz="2000" b="1" kern="0" dirty="0"/>
              <a:t> </a:t>
            </a:r>
            <a:r>
              <a:rPr lang="en-US" sz="2000" b="1" kern="0" dirty="0" err="1"/>
              <a:t>trí</a:t>
            </a:r>
            <a:r>
              <a:rPr lang="en-US" sz="2000" b="1" kern="0" dirty="0"/>
              <a:t> </a:t>
            </a:r>
            <a:r>
              <a:rPr lang="en-US" sz="2000" b="1" kern="0" dirty="0" err="1"/>
              <a:t>và</a:t>
            </a:r>
            <a:r>
              <a:rPr lang="en-US" sz="2000" b="1" kern="0" dirty="0"/>
              <a:t> </a:t>
            </a:r>
            <a:r>
              <a:rPr lang="en-US" sz="2000" b="1" kern="0" dirty="0" err="1"/>
              <a:t>đặc</a:t>
            </a:r>
            <a:r>
              <a:rPr lang="en-US" sz="2000" b="1" kern="0" dirty="0"/>
              <a:t> </a:t>
            </a:r>
            <a:r>
              <a:rPr lang="en-US" sz="2000" b="1" kern="0" dirty="0" err="1"/>
              <a:t>trưng</a:t>
            </a:r>
            <a:r>
              <a:rPr lang="en-US" sz="2000" b="1" kern="0" dirty="0"/>
              <a:t> </a:t>
            </a:r>
            <a:r>
              <a:rPr lang="en-US" sz="2000" b="1" kern="0" dirty="0" err="1"/>
              <a:t>vật</a:t>
            </a:r>
            <a:r>
              <a:rPr lang="en-US" sz="2000" b="1" kern="0" dirty="0"/>
              <a:t> </a:t>
            </a:r>
            <a:r>
              <a:rPr lang="en-US" sz="2000" b="1" kern="0" dirty="0" err="1"/>
              <a:t>lý</a:t>
            </a:r>
            <a:endParaRPr lang="en-US" sz="2000" b="1" kern="0" dirty="0"/>
          </a:p>
        </p:txBody>
      </p:sp>
      <p:pic>
        <p:nvPicPr>
          <p:cNvPr id="3078" name="Picture 6">
            <a:extLst>
              <a:ext uri="{FF2B5EF4-FFF2-40B4-BE49-F238E27FC236}">
                <a16:creationId xmlns:a16="http://schemas.microsoft.com/office/drawing/2014/main" id="{2FFD8A3E-1F5E-D955-1502-8D2EB29F108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37420" y="4139095"/>
            <a:ext cx="3676492" cy="2007641"/>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687C823C-D27E-00F5-C651-A8930144D7C7}"/>
              </a:ext>
            </a:extLst>
          </p:cNvPr>
          <p:cNvSpPr txBox="1"/>
          <p:nvPr/>
        </p:nvSpPr>
        <p:spPr>
          <a:xfrm>
            <a:off x="1246052" y="6058976"/>
            <a:ext cx="3818967" cy="307777"/>
          </a:xfrm>
          <a:prstGeom prst="rect">
            <a:avLst/>
          </a:prstGeom>
          <a:noFill/>
        </p:spPr>
        <p:txBody>
          <a:bodyPr wrap="square">
            <a:spAutoFit/>
          </a:bodyPr>
          <a:lstStyle/>
          <a:p>
            <a:r>
              <a:rPr lang="en-US" sz="1400" b="0" i="1" u="none" strike="noStrike" dirty="0" err="1">
                <a:solidFill>
                  <a:srgbClr val="000000"/>
                </a:solidFill>
                <a:effectLst/>
                <a:latin typeface="Times New Roman" panose="02020603050405020304" pitchFamily="18" charset="0"/>
              </a:rPr>
              <a:t>Hình</a:t>
            </a:r>
            <a:r>
              <a:rPr lang="en-US" sz="1400" b="0" i="1" u="none" strike="noStrike" dirty="0">
                <a:solidFill>
                  <a:srgbClr val="000000"/>
                </a:solidFill>
                <a:effectLst/>
                <a:latin typeface="Times New Roman" panose="02020603050405020304" pitchFamily="18" charset="0"/>
              </a:rPr>
              <a:t> </a:t>
            </a:r>
            <a:r>
              <a:rPr lang="en-US" sz="1400" i="1" dirty="0">
                <a:solidFill>
                  <a:srgbClr val="000000"/>
                </a:solidFill>
                <a:latin typeface="Times New Roman" panose="02020603050405020304" pitchFamily="18" charset="0"/>
              </a:rPr>
              <a:t>16</a:t>
            </a:r>
            <a:r>
              <a:rPr lang="en-US" sz="1400" b="0" i="1" u="none" strike="noStrike" dirty="0">
                <a:solidFill>
                  <a:srgbClr val="000000"/>
                </a:solidFill>
                <a:effectLst/>
                <a:latin typeface="Times New Roman" panose="02020603050405020304" pitchFamily="18" charset="0"/>
              </a:rPr>
              <a:t>: </a:t>
            </a:r>
            <a:r>
              <a:rPr lang="en-US" sz="1400" i="1" dirty="0" err="1">
                <a:solidFill>
                  <a:srgbClr val="000000"/>
                </a:solidFill>
                <a:latin typeface="Times New Roman" panose="02020603050405020304" pitchFamily="18" charset="0"/>
              </a:rPr>
              <a:t>Giá</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nhà</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theo</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Area_bin</a:t>
            </a:r>
            <a:endParaRPr lang="en-US" sz="1400" dirty="0"/>
          </a:p>
        </p:txBody>
      </p:sp>
      <p:pic>
        <p:nvPicPr>
          <p:cNvPr id="3082" name="Picture 10">
            <a:extLst>
              <a:ext uri="{FF2B5EF4-FFF2-40B4-BE49-F238E27FC236}">
                <a16:creationId xmlns:a16="http://schemas.microsoft.com/office/drawing/2014/main" id="{0028F97B-C296-1F0A-4780-68419178977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24181" y="4209756"/>
            <a:ext cx="3488180" cy="1958381"/>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66DCED3F-C463-AF62-9F98-0DEB8DFD7A9E}"/>
              </a:ext>
            </a:extLst>
          </p:cNvPr>
          <p:cNvSpPr txBox="1"/>
          <p:nvPr/>
        </p:nvSpPr>
        <p:spPr>
          <a:xfrm>
            <a:off x="7424643" y="6107836"/>
            <a:ext cx="3818967" cy="307777"/>
          </a:xfrm>
          <a:prstGeom prst="rect">
            <a:avLst/>
          </a:prstGeom>
          <a:noFill/>
        </p:spPr>
        <p:txBody>
          <a:bodyPr wrap="square">
            <a:spAutoFit/>
          </a:bodyPr>
          <a:lstStyle/>
          <a:p>
            <a:r>
              <a:rPr lang="en-US" sz="1400" b="0" i="1" u="none" strike="noStrike" dirty="0" err="1">
                <a:solidFill>
                  <a:srgbClr val="000000"/>
                </a:solidFill>
                <a:effectLst/>
                <a:latin typeface="Times New Roman" panose="02020603050405020304" pitchFamily="18" charset="0"/>
              </a:rPr>
              <a:t>Hình</a:t>
            </a:r>
            <a:r>
              <a:rPr lang="en-US" sz="1400" b="0" i="1" u="none" strike="noStrike" dirty="0">
                <a:solidFill>
                  <a:srgbClr val="000000"/>
                </a:solidFill>
                <a:effectLst/>
                <a:latin typeface="Times New Roman" panose="02020603050405020304" pitchFamily="18" charset="0"/>
              </a:rPr>
              <a:t> </a:t>
            </a:r>
            <a:r>
              <a:rPr lang="en-US" sz="1400" i="1" dirty="0">
                <a:solidFill>
                  <a:srgbClr val="000000"/>
                </a:solidFill>
                <a:latin typeface="Times New Roman" panose="02020603050405020304" pitchFamily="18" charset="0"/>
              </a:rPr>
              <a:t>17</a:t>
            </a:r>
            <a:r>
              <a:rPr lang="en-US" sz="1400" b="0" i="1" u="none" strike="noStrike" dirty="0">
                <a:solidFill>
                  <a:srgbClr val="000000"/>
                </a:solidFill>
                <a:effectLst/>
                <a:latin typeface="Times New Roman" panose="02020603050405020304" pitchFamily="18" charset="0"/>
              </a:rPr>
              <a:t>: </a:t>
            </a:r>
            <a:r>
              <a:rPr lang="en-US" sz="1400" i="1" dirty="0" err="1">
                <a:solidFill>
                  <a:srgbClr val="000000"/>
                </a:solidFill>
                <a:latin typeface="Times New Roman" panose="02020603050405020304" pitchFamily="18" charset="0"/>
              </a:rPr>
              <a:t>Giá</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nhà</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theo</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Frontage_bin</a:t>
            </a:r>
            <a:endParaRPr lang="en-US" sz="1400" dirty="0"/>
          </a:p>
        </p:txBody>
      </p:sp>
      <p:sp>
        <p:nvSpPr>
          <p:cNvPr id="3" name="TextBox 2">
            <a:extLst>
              <a:ext uri="{FF2B5EF4-FFF2-40B4-BE49-F238E27FC236}">
                <a16:creationId xmlns:a16="http://schemas.microsoft.com/office/drawing/2014/main" id="{1933028B-2358-53F5-6AC7-EB6441FAADF2}"/>
              </a:ext>
            </a:extLst>
          </p:cNvPr>
          <p:cNvSpPr txBox="1"/>
          <p:nvPr/>
        </p:nvSpPr>
        <p:spPr>
          <a:xfrm>
            <a:off x="457200" y="1523087"/>
            <a:ext cx="9702800" cy="369332"/>
          </a:xfrm>
          <a:prstGeom prst="rect">
            <a:avLst/>
          </a:prstGeom>
          <a:noFill/>
        </p:spPr>
        <p:txBody>
          <a:bodyPr wrap="square">
            <a:spAutoFit/>
          </a:bodyPr>
          <a:lstStyle/>
          <a:p>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Nhóm</a:t>
            </a:r>
            <a:r>
              <a:rPr lang="en-US" sz="1800" b="0" i="0" u="none" strike="noStrike" dirty="0">
                <a:solidFill>
                  <a:srgbClr val="000000"/>
                </a:solidFill>
                <a:effectLst/>
                <a:latin typeface="Times New Roman" panose="02020603050405020304" pitchFamily="18" charset="0"/>
              </a:rPr>
              <a:t> 20–40m² </a:t>
            </a:r>
            <a:r>
              <a:rPr lang="en-US" sz="1800" b="0" i="0" u="none" strike="noStrike" dirty="0" err="1">
                <a:solidFill>
                  <a:srgbClr val="000000"/>
                </a:solidFill>
                <a:effectLst/>
                <a:latin typeface="Times New Roman" panose="02020603050405020304" pitchFamily="18" charset="0"/>
              </a:rPr>
              <a:t>có</a:t>
            </a:r>
            <a:r>
              <a:rPr lang="en-US" sz="1800" b="0" i="0" u="none" strike="noStrike" dirty="0">
                <a:solidFill>
                  <a:srgbClr val="000000"/>
                </a:solidFill>
                <a:effectLst/>
                <a:latin typeface="Times New Roman" panose="02020603050405020304" pitchFamily="18" charset="0"/>
              </a:rPr>
              <a:t> median </a:t>
            </a:r>
            <a:r>
              <a:rPr lang="en-US" sz="1800" b="0" i="0" u="none" strike="noStrike" dirty="0" err="1">
                <a:solidFill>
                  <a:srgbClr val="000000"/>
                </a:solidFill>
                <a:effectLst/>
                <a:latin typeface="Times New Roman" panose="02020603050405020304" pitchFamily="18" charset="0"/>
              </a:rPr>
              <a:t>giá</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thấp</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nhất</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lên</a:t>
            </a:r>
            <a:r>
              <a:rPr lang="en-US" sz="1800" b="0" i="0" u="none" strike="noStrike" dirty="0">
                <a:solidFill>
                  <a:srgbClr val="000000"/>
                </a:solidFill>
                <a:effectLst/>
                <a:latin typeface="Times New Roman" panose="02020603050405020304" pitchFamily="18" charset="0"/>
              </a:rPr>
              <a:t> 40–60m² </a:t>
            </a:r>
            <a:r>
              <a:rPr lang="en-US" sz="1800" b="0" i="0" u="none" strike="noStrike" dirty="0" err="1">
                <a:solidFill>
                  <a:srgbClr val="000000"/>
                </a:solidFill>
                <a:effectLst/>
                <a:latin typeface="Times New Roman" panose="02020603050405020304" pitchFamily="18" charset="0"/>
              </a:rPr>
              <a:t>thì</a:t>
            </a:r>
            <a:r>
              <a:rPr lang="en-US" sz="1800" b="0" i="0" u="none" strike="noStrike" dirty="0">
                <a:solidFill>
                  <a:srgbClr val="000000"/>
                </a:solidFill>
                <a:effectLst/>
                <a:latin typeface="Times New Roman" panose="02020603050405020304" pitchFamily="18" charset="0"/>
              </a:rPr>
              <a:t> median </a:t>
            </a:r>
            <a:r>
              <a:rPr lang="en-US" sz="1800" b="0" i="0" u="none" strike="noStrike" dirty="0" err="1">
                <a:solidFill>
                  <a:srgbClr val="000000"/>
                </a:solidFill>
                <a:effectLst/>
                <a:latin typeface="Times New Roman" panose="02020603050405020304" pitchFamily="18" charset="0"/>
              </a:rPr>
              <a:t>tăng</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rõ</a:t>
            </a:r>
            <a:endParaRPr lang="en-US" dirty="0"/>
          </a:p>
        </p:txBody>
      </p:sp>
      <p:sp>
        <p:nvSpPr>
          <p:cNvPr id="5" name="TextBox 4">
            <a:extLst>
              <a:ext uri="{FF2B5EF4-FFF2-40B4-BE49-F238E27FC236}">
                <a16:creationId xmlns:a16="http://schemas.microsoft.com/office/drawing/2014/main" id="{EC2027DB-F2BC-36F5-C308-5EAA021A76C8}"/>
              </a:ext>
            </a:extLst>
          </p:cNvPr>
          <p:cNvSpPr txBox="1"/>
          <p:nvPr/>
        </p:nvSpPr>
        <p:spPr>
          <a:xfrm>
            <a:off x="457200" y="1892419"/>
            <a:ext cx="6096000" cy="369332"/>
          </a:xfrm>
          <a:prstGeom prst="rect">
            <a:avLst/>
          </a:prstGeom>
          <a:noFill/>
        </p:spPr>
        <p:txBody>
          <a:bodyPr wrap="square">
            <a:spAutoFit/>
          </a:bodyPr>
          <a:lstStyle/>
          <a:p>
            <a:r>
              <a:rPr lang="en-US" dirty="0">
                <a:solidFill>
                  <a:srgbClr val="000000"/>
                </a:solidFill>
                <a:latin typeface="Times New Roman" panose="02020603050405020304" pitchFamily="18" charset="0"/>
              </a:rPr>
              <a:t>        </a:t>
            </a:r>
            <a:r>
              <a:rPr lang="en-US" sz="1800" b="0" i="0" u="none" strike="noStrike" dirty="0">
                <a:solidFill>
                  <a:srgbClr val="000000"/>
                </a:solidFill>
                <a:effectLst/>
                <a:latin typeface="Times New Roman" panose="02020603050405020304" pitchFamily="18" charset="0"/>
              </a:rPr>
              <a:t>Median </a:t>
            </a:r>
            <a:r>
              <a:rPr lang="en-US" sz="1800" b="0" i="0" u="none" strike="noStrike" dirty="0" err="1">
                <a:solidFill>
                  <a:srgbClr val="000000"/>
                </a:solidFill>
                <a:effectLst/>
                <a:latin typeface="Times New Roman" panose="02020603050405020304" pitchFamily="18" charset="0"/>
              </a:rPr>
              <a:t>đạt</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mức</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cao</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nhất</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quanh</a:t>
            </a:r>
            <a:r>
              <a:rPr lang="en-US" sz="1800" b="0" i="0" u="none" strike="noStrike" dirty="0">
                <a:solidFill>
                  <a:srgbClr val="000000"/>
                </a:solidFill>
                <a:effectLst/>
                <a:latin typeface="Times New Roman" panose="02020603050405020304" pitchFamily="18" charset="0"/>
              </a:rPr>
              <a:t> 60–80m²</a:t>
            </a:r>
            <a:endParaRPr lang="en-US" dirty="0"/>
          </a:p>
        </p:txBody>
      </p:sp>
      <p:sp>
        <p:nvSpPr>
          <p:cNvPr id="11" name="TextBox 10">
            <a:extLst>
              <a:ext uri="{FF2B5EF4-FFF2-40B4-BE49-F238E27FC236}">
                <a16:creationId xmlns:a16="http://schemas.microsoft.com/office/drawing/2014/main" id="{97E32F45-70DE-10B5-6C28-3A39974BDA6A}"/>
              </a:ext>
            </a:extLst>
          </p:cNvPr>
          <p:cNvSpPr txBox="1"/>
          <p:nvPr/>
        </p:nvSpPr>
        <p:spPr>
          <a:xfrm>
            <a:off x="457200" y="2195076"/>
            <a:ext cx="9702800" cy="2308324"/>
          </a:xfrm>
          <a:prstGeom prst="rect">
            <a:avLst/>
          </a:prstGeom>
          <a:noFill/>
        </p:spPr>
        <p:txBody>
          <a:bodyPr wrap="square">
            <a:spAutoFit/>
          </a:bodyPr>
          <a:lstStyle/>
          <a:p>
            <a:pPr indent="457200" rtl="0">
              <a:buNone/>
            </a:pPr>
            <a:r>
              <a:rPr lang="vi-VN" sz="1800" b="0" i="0" u="none" strike="noStrike" dirty="0">
                <a:solidFill>
                  <a:srgbClr val="000000"/>
                </a:solidFill>
                <a:effectLst/>
                <a:latin typeface="Times New Roman" panose="02020603050405020304" pitchFamily="18" charset="0"/>
              </a:rPr>
              <a:t>Từ 2–4m → 4–6m → 6–8m → 8–12m → 12–20m: median giá tăng đều qua từng bậc. Điều này</a:t>
            </a:r>
            <a:r>
              <a:rPr lang="en-US" sz="1800" b="0" i="0" u="none" strike="noStrike" dirty="0">
                <a:solidFill>
                  <a:srgbClr val="000000"/>
                </a:solidFill>
                <a:effectLst/>
                <a:latin typeface="Times New Roman" panose="02020603050405020304" pitchFamily="18" charset="0"/>
              </a:rPr>
              <a:t> </a:t>
            </a:r>
            <a:r>
              <a:rPr lang="vi-VN" sz="1800" b="0" i="0" u="none" strike="noStrike" dirty="0">
                <a:solidFill>
                  <a:srgbClr val="000000"/>
                </a:solidFill>
                <a:effectLst/>
                <a:latin typeface="Times New Roman" panose="02020603050405020304" pitchFamily="18" charset="0"/>
              </a:rPr>
              <a:t>hợp lý vì mặt tiền rộng thường tăng giá trị sử dụng (thoáng, dễ bố trí công năng, phù hợp kinh doanh/để xe, tính “đẹp” của nhà phố).​</a:t>
            </a:r>
            <a:endParaRPr lang="vi-VN" b="0" dirty="0">
              <a:effectLst/>
            </a:endParaRPr>
          </a:p>
          <a:p>
            <a:pPr indent="457200" rtl="0">
              <a:buNone/>
            </a:pPr>
            <a:r>
              <a:rPr lang="vi-VN" sz="1800" b="0" i="0" u="none" strike="noStrike" dirty="0">
                <a:solidFill>
                  <a:srgbClr val="000000"/>
                </a:solidFill>
                <a:effectLst/>
                <a:latin typeface="Times New Roman" panose="02020603050405020304" pitchFamily="18" charset="0"/>
              </a:rPr>
              <a:t>Nhóm “lớn hơn 20m” giảm xuống so với 12–20m.</a:t>
            </a:r>
            <a:endParaRPr lang="vi-VN" b="0" dirty="0">
              <a:effectLst/>
            </a:endParaRPr>
          </a:p>
          <a:p>
            <a:pPr indent="457200" rtl="0">
              <a:buNone/>
            </a:pPr>
            <a:r>
              <a:rPr lang="vi-VN" sz="1800" b="0" i="0" u="none" strike="noStrike" dirty="0">
                <a:solidFill>
                  <a:srgbClr val="000000"/>
                </a:solidFill>
                <a:effectLst/>
                <a:latin typeface="Times New Roman" panose="02020603050405020304" pitchFamily="18" charset="0"/>
              </a:rPr>
              <a:t>Mặt tiền có tác động dương đến giá trong phần lớn các nhóm (đặc biệt từ 2–4m lên 12–20m), nhưng hiệu ứng bão hòa/đảo chiều ở nhóm &gt;20m cho thấy mặt tiền không phải yếu tố quyết định.</a:t>
            </a:r>
            <a:endParaRPr lang="vi-VN" b="0" dirty="0">
              <a:effectLst/>
            </a:endParaRPr>
          </a:p>
          <a:p>
            <a:pPr>
              <a:buNone/>
            </a:pPr>
            <a:br>
              <a:rPr lang="vi-VN" dirty="0"/>
            </a:br>
            <a:endParaRPr lang="en-US" dirty="0"/>
          </a:p>
        </p:txBody>
      </p:sp>
    </p:spTree>
    <p:extLst>
      <p:ext uri="{BB962C8B-B14F-4D97-AF65-F5344CB8AC3E}">
        <p14:creationId xmlns:p14="http://schemas.microsoft.com/office/powerpoint/2010/main" val="28778223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036F70-D8C2-6A36-ABEE-6C7DD63FBF55}"/>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FFB18EBC-E9BF-E0CC-B4A6-754DC605499A}"/>
              </a:ext>
            </a:extLst>
          </p:cNvPr>
          <p:cNvSpPr>
            <a:spLocks noGrp="1"/>
          </p:cNvSpPr>
          <p:nvPr>
            <p:ph type="title"/>
          </p:nvPr>
        </p:nvSpPr>
        <p:spPr>
          <a:xfrm>
            <a:off x="629200" y="77167"/>
            <a:ext cx="10962800" cy="894000"/>
          </a:xfrm>
        </p:spPr>
        <p:txBody>
          <a:bodyPr/>
          <a:lstStyle/>
          <a:p>
            <a:r>
              <a:rPr lang="en" sz="4800" b="1" dirty="0"/>
              <a:t>Phương pháp tiếp cận</a:t>
            </a:r>
            <a:endParaRPr lang="en-US" sz="4800" dirty="0"/>
          </a:p>
        </p:txBody>
      </p:sp>
      <p:sp>
        <p:nvSpPr>
          <p:cNvPr id="6" name="Text Placeholder 2">
            <a:extLst>
              <a:ext uri="{FF2B5EF4-FFF2-40B4-BE49-F238E27FC236}">
                <a16:creationId xmlns:a16="http://schemas.microsoft.com/office/drawing/2014/main" id="{B810D3DB-9028-8EB5-D101-BDBBC21A04E4}"/>
              </a:ext>
            </a:extLst>
          </p:cNvPr>
          <p:cNvSpPr txBox="1">
            <a:spLocks/>
          </p:cNvSpPr>
          <p:nvPr/>
        </p:nvSpPr>
        <p:spPr>
          <a:xfrm>
            <a:off x="0" y="971167"/>
            <a:ext cx="10962800" cy="55192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609585" marR="0" lvl="0" indent="-491054" algn="l" rtl="0">
              <a:lnSpc>
                <a:spcPct val="115000"/>
              </a:lnSpc>
              <a:spcBef>
                <a:spcPts val="0"/>
              </a:spcBef>
              <a:spcAft>
                <a:spcPts val="0"/>
              </a:spcAft>
              <a:buClr>
                <a:srgbClr val="000000"/>
              </a:buClr>
              <a:buSzPts val="2200"/>
              <a:buFont typeface="Roboto"/>
              <a:buChar char="●"/>
              <a:defRPr sz="2933" b="0" i="0" u="none" strike="noStrike" cap="none">
                <a:solidFill>
                  <a:srgbClr val="000000"/>
                </a:solidFill>
                <a:latin typeface="Roboto"/>
                <a:ea typeface="Roboto"/>
                <a:cs typeface="Roboto"/>
                <a:sym typeface="Roboto"/>
              </a:defRPr>
            </a:lvl1pPr>
            <a:lvl2pPr marL="1219170" marR="0" lvl="1" indent="-474121" algn="l" rtl="0">
              <a:lnSpc>
                <a:spcPct val="115000"/>
              </a:lnSpc>
              <a:spcBef>
                <a:spcPts val="2133"/>
              </a:spcBef>
              <a:spcAft>
                <a:spcPts val="0"/>
              </a:spcAft>
              <a:buClr>
                <a:srgbClr val="000000"/>
              </a:buClr>
              <a:buSzPts val="2000"/>
              <a:buFont typeface="Roboto"/>
              <a:buChar char="○"/>
              <a:defRPr sz="2667" b="0" i="0" u="none" strike="noStrike" cap="none">
                <a:solidFill>
                  <a:srgbClr val="000000"/>
                </a:solidFill>
                <a:latin typeface="Roboto"/>
                <a:ea typeface="Roboto"/>
                <a:cs typeface="Roboto"/>
                <a:sym typeface="Roboto"/>
              </a:defRPr>
            </a:lvl2pPr>
            <a:lvl3pPr marL="1828754" marR="0" lvl="2" indent="-457189" algn="l" rtl="0">
              <a:lnSpc>
                <a:spcPct val="115000"/>
              </a:lnSpc>
              <a:spcBef>
                <a:spcPts val="2133"/>
              </a:spcBef>
              <a:spcAft>
                <a:spcPts val="0"/>
              </a:spcAft>
              <a:buClr>
                <a:srgbClr val="000000"/>
              </a:buClr>
              <a:buSzPts val="1800"/>
              <a:buFont typeface="Roboto"/>
              <a:buChar char="■"/>
              <a:defRPr sz="2400" b="0" i="0" u="none" strike="noStrike" cap="none">
                <a:solidFill>
                  <a:srgbClr val="000000"/>
                </a:solidFill>
                <a:latin typeface="Roboto"/>
                <a:ea typeface="Roboto"/>
                <a:cs typeface="Roboto"/>
                <a:sym typeface="Roboto"/>
              </a:defRPr>
            </a:lvl3pPr>
            <a:lvl4pPr marL="2438339" marR="0" lvl="3" indent="-440256" algn="l" rtl="0">
              <a:lnSpc>
                <a:spcPct val="115000"/>
              </a:lnSpc>
              <a:spcBef>
                <a:spcPts val="2133"/>
              </a:spcBef>
              <a:spcAft>
                <a:spcPts val="0"/>
              </a:spcAft>
              <a:buClr>
                <a:srgbClr val="000000"/>
              </a:buClr>
              <a:buSzPts val="1600"/>
              <a:buFont typeface="Roboto"/>
              <a:buChar char="●"/>
              <a:defRPr sz="2133" b="0" i="0" u="none" strike="noStrike" cap="none">
                <a:solidFill>
                  <a:srgbClr val="000000"/>
                </a:solidFill>
                <a:latin typeface="Roboto"/>
                <a:ea typeface="Roboto"/>
                <a:cs typeface="Roboto"/>
                <a:sym typeface="Roboto"/>
              </a:defRPr>
            </a:lvl4pPr>
            <a:lvl5pPr marL="3047924" marR="0" lvl="4" indent="-423323" algn="l" rtl="0">
              <a:lnSpc>
                <a:spcPct val="115000"/>
              </a:lnSpc>
              <a:spcBef>
                <a:spcPts val="2133"/>
              </a:spcBef>
              <a:spcAft>
                <a:spcPts val="0"/>
              </a:spcAft>
              <a:buClr>
                <a:srgbClr val="000000"/>
              </a:buClr>
              <a:buSzPts val="1400"/>
              <a:buFont typeface="Roboto"/>
              <a:buChar char="○"/>
              <a:defRPr sz="1867" b="0" i="0" u="none" strike="noStrike" cap="none">
                <a:solidFill>
                  <a:srgbClr val="000000"/>
                </a:solidFill>
                <a:latin typeface="Roboto"/>
                <a:ea typeface="Roboto"/>
                <a:cs typeface="Roboto"/>
                <a:sym typeface="Roboto"/>
              </a:defRPr>
            </a:lvl5pPr>
            <a:lvl6pPr marL="3657509" marR="0" lvl="5" indent="-423323" algn="l" rtl="0">
              <a:lnSpc>
                <a:spcPct val="115000"/>
              </a:lnSpc>
              <a:spcBef>
                <a:spcPts val="2133"/>
              </a:spcBef>
              <a:spcAft>
                <a:spcPts val="0"/>
              </a:spcAft>
              <a:buClr>
                <a:srgbClr val="000000"/>
              </a:buClr>
              <a:buSzPts val="1400"/>
              <a:buFont typeface="Roboto"/>
              <a:buChar char="■"/>
              <a:defRPr sz="1867" b="0" i="0" u="none" strike="noStrike" cap="none">
                <a:solidFill>
                  <a:srgbClr val="000000"/>
                </a:solidFill>
                <a:latin typeface="Roboto"/>
                <a:ea typeface="Roboto"/>
                <a:cs typeface="Roboto"/>
                <a:sym typeface="Roboto"/>
              </a:defRPr>
            </a:lvl6pPr>
            <a:lvl7pPr marL="4267093" marR="0" lvl="6" indent="-423323" algn="l" rtl="0">
              <a:lnSpc>
                <a:spcPct val="115000"/>
              </a:lnSpc>
              <a:spcBef>
                <a:spcPts val="2133"/>
              </a:spcBef>
              <a:spcAft>
                <a:spcPts val="0"/>
              </a:spcAft>
              <a:buClr>
                <a:srgbClr val="000000"/>
              </a:buClr>
              <a:buSzPts val="1400"/>
              <a:buFont typeface="Roboto"/>
              <a:buChar char="●"/>
              <a:defRPr sz="1867" b="0" i="0" u="none" strike="noStrike" cap="none">
                <a:solidFill>
                  <a:srgbClr val="000000"/>
                </a:solidFill>
                <a:latin typeface="Roboto"/>
                <a:ea typeface="Roboto"/>
                <a:cs typeface="Roboto"/>
                <a:sym typeface="Roboto"/>
              </a:defRPr>
            </a:lvl7pPr>
            <a:lvl8pPr marL="4876678" marR="0" lvl="7" indent="-423323" algn="l" rtl="0">
              <a:lnSpc>
                <a:spcPct val="115000"/>
              </a:lnSpc>
              <a:spcBef>
                <a:spcPts val="2133"/>
              </a:spcBef>
              <a:spcAft>
                <a:spcPts val="0"/>
              </a:spcAft>
              <a:buClr>
                <a:srgbClr val="000000"/>
              </a:buClr>
              <a:buSzPts val="1400"/>
              <a:buFont typeface="Roboto"/>
              <a:buChar char="○"/>
              <a:defRPr sz="1867" b="0" i="0" u="none" strike="noStrike" cap="none">
                <a:solidFill>
                  <a:srgbClr val="000000"/>
                </a:solidFill>
                <a:latin typeface="Roboto"/>
                <a:ea typeface="Roboto"/>
                <a:cs typeface="Roboto"/>
                <a:sym typeface="Roboto"/>
              </a:defRPr>
            </a:lvl8pPr>
            <a:lvl9pPr marL="5486263" marR="0" lvl="8" indent="-423323" algn="l" rtl="0">
              <a:lnSpc>
                <a:spcPct val="115000"/>
              </a:lnSpc>
              <a:spcBef>
                <a:spcPts val="2133"/>
              </a:spcBef>
              <a:spcAft>
                <a:spcPts val="2133"/>
              </a:spcAft>
              <a:buClr>
                <a:schemeClr val="lt2"/>
              </a:buClr>
              <a:buSzPts val="1400"/>
              <a:buFont typeface="Roboto"/>
              <a:buChar char="■"/>
              <a:defRPr sz="1867" b="0" i="0" u="none" strike="noStrike" cap="none">
                <a:solidFill>
                  <a:schemeClr val="lt2"/>
                </a:solidFill>
                <a:latin typeface="Roboto"/>
                <a:ea typeface="Roboto"/>
                <a:cs typeface="Roboto"/>
                <a:sym typeface="Roboto"/>
              </a:defRPr>
            </a:lvl9pPr>
          </a:lstStyle>
          <a:p>
            <a:pPr marL="118531" indent="0">
              <a:buFont typeface="Roboto"/>
              <a:buNone/>
            </a:pPr>
            <a:r>
              <a:rPr lang="en-US" sz="2000" b="1" kern="0" dirty="0"/>
              <a:t>4. </a:t>
            </a:r>
            <a:r>
              <a:rPr lang="en-US" sz="2000" b="1" kern="0" dirty="0" err="1"/>
              <a:t>Phân</a:t>
            </a:r>
            <a:r>
              <a:rPr lang="en-US" sz="2000" b="1" kern="0" dirty="0"/>
              <a:t> </a:t>
            </a:r>
            <a:r>
              <a:rPr lang="en-US" sz="2000" b="1" kern="0" dirty="0" err="1"/>
              <a:t>tích</a:t>
            </a:r>
            <a:r>
              <a:rPr lang="en-US" sz="2000" b="1" kern="0" dirty="0"/>
              <a:t> </a:t>
            </a:r>
            <a:r>
              <a:rPr lang="en-US" sz="2000" b="1" kern="0" dirty="0" err="1"/>
              <a:t>đa</a:t>
            </a:r>
            <a:r>
              <a:rPr lang="en-US" sz="2000" b="1" kern="0" dirty="0"/>
              <a:t> </a:t>
            </a:r>
            <a:r>
              <a:rPr lang="en-US" sz="2000" b="1" kern="0" dirty="0" err="1"/>
              <a:t>biến</a:t>
            </a:r>
            <a:r>
              <a:rPr lang="en-US" sz="2000" b="1" kern="0" dirty="0"/>
              <a:t> </a:t>
            </a:r>
            <a:r>
              <a:rPr lang="en-US" sz="2000" b="1" kern="0" dirty="0" err="1"/>
              <a:t>theo</a:t>
            </a:r>
            <a:r>
              <a:rPr lang="en-US" sz="2000" b="1" kern="0" dirty="0"/>
              <a:t> </a:t>
            </a:r>
            <a:r>
              <a:rPr lang="en-US" sz="2000" b="1" kern="0" dirty="0" err="1"/>
              <a:t>vị</a:t>
            </a:r>
            <a:r>
              <a:rPr lang="en-US" sz="2000" b="1" kern="0" dirty="0"/>
              <a:t> </a:t>
            </a:r>
            <a:r>
              <a:rPr lang="en-US" sz="2000" b="1" kern="0" dirty="0" err="1"/>
              <a:t>trí</a:t>
            </a:r>
            <a:r>
              <a:rPr lang="en-US" sz="2000" b="1" kern="0" dirty="0"/>
              <a:t> </a:t>
            </a:r>
            <a:r>
              <a:rPr lang="en-US" sz="2000" b="1" kern="0" dirty="0" err="1"/>
              <a:t>và</a:t>
            </a:r>
            <a:r>
              <a:rPr lang="en-US" sz="2000" b="1" kern="0" dirty="0"/>
              <a:t> </a:t>
            </a:r>
            <a:r>
              <a:rPr lang="en-US" sz="2000" b="1" kern="0" dirty="0" err="1"/>
              <a:t>khu</a:t>
            </a:r>
            <a:r>
              <a:rPr lang="en-US" sz="2000" b="1" kern="0" dirty="0"/>
              <a:t> </a:t>
            </a:r>
            <a:r>
              <a:rPr lang="en-US" sz="2000" b="1" kern="0" dirty="0" err="1"/>
              <a:t>vực</a:t>
            </a:r>
            <a:endParaRPr lang="en-US" sz="2000" b="1" kern="0" dirty="0"/>
          </a:p>
        </p:txBody>
      </p:sp>
      <p:sp>
        <p:nvSpPr>
          <p:cNvPr id="8" name="TextBox 7">
            <a:extLst>
              <a:ext uri="{FF2B5EF4-FFF2-40B4-BE49-F238E27FC236}">
                <a16:creationId xmlns:a16="http://schemas.microsoft.com/office/drawing/2014/main" id="{7C6CDF4C-CA29-0A80-CD6D-1A897AFFE892}"/>
              </a:ext>
            </a:extLst>
          </p:cNvPr>
          <p:cNvSpPr txBox="1"/>
          <p:nvPr/>
        </p:nvSpPr>
        <p:spPr>
          <a:xfrm>
            <a:off x="993924" y="3831318"/>
            <a:ext cx="3163483" cy="307777"/>
          </a:xfrm>
          <a:prstGeom prst="rect">
            <a:avLst/>
          </a:prstGeom>
          <a:noFill/>
        </p:spPr>
        <p:txBody>
          <a:bodyPr wrap="square">
            <a:spAutoFit/>
          </a:bodyPr>
          <a:lstStyle/>
          <a:p>
            <a:r>
              <a:rPr lang="en-US" sz="1400" b="0" i="1" u="none" strike="noStrike" dirty="0" err="1">
                <a:solidFill>
                  <a:srgbClr val="000000"/>
                </a:solidFill>
                <a:effectLst/>
                <a:latin typeface="Times New Roman" panose="02020603050405020304" pitchFamily="18" charset="0"/>
              </a:rPr>
              <a:t>Hình</a:t>
            </a:r>
            <a:r>
              <a:rPr lang="en-US" sz="1400" b="0" i="1" u="none" strike="noStrike" dirty="0">
                <a:solidFill>
                  <a:srgbClr val="000000"/>
                </a:solidFill>
                <a:effectLst/>
                <a:latin typeface="Times New Roman" panose="02020603050405020304" pitchFamily="18" charset="0"/>
              </a:rPr>
              <a:t> </a:t>
            </a:r>
            <a:r>
              <a:rPr lang="en-US" sz="1400" i="1" dirty="0">
                <a:solidFill>
                  <a:srgbClr val="000000"/>
                </a:solidFill>
                <a:latin typeface="Times New Roman" panose="02020603050405020304" pitchFamily="18" charset="0"/>
              </a:rPr>
              <a:t>18</a:t>
            </a:r>
            <a:r>
              <a:rPr lang="en-US" sz="1400" b="0" i="1" u="none" strike="noStrike" dirty="0">
                <a:solidFill>
                  <a:srgbClr val="000000"/>
                </a:solidFill>
                <a:effectLst/>
                <a:latin typeface="Times New Roman" panose="02020603050405020304" pitchFamily="18" charset="0"/>
              </a:rPr>
              <a:t>: </a:t>
            </a:r>
            <a:r>
              <a:rPr lang="en-US" sz="1400" i="1" dirty="0" err="1">
                <a:solidFill>
                  <a:srgbClr val="000000"/>
                </a:solidFill>
                <a:latin typeface="Times New Roman" panose="02020603050405020304" pitchFamily="18" charset="0"/>
              </a:rPr>
              <a:t>Giá</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nhà</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theo</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Access_road_bin</a:t>
            </a:r>
            <a:endParaRPr lang="en-US" sz="1400" dirty="0"/>
          </a:p>
        </p:txBody>
      </p:sp>
      <p:sp>
        <p:nvSpPr>
          <p:cNvPr id="9" name="TextBox 8">
            <a:extLst>
              <a:ext uri="{FF2B5EF4-FFF2-40B4-BE49-F238E27FC236}">
                <a16:creationId xmlns:a16="http://schemas.microsoft.com/office/drawing/2014/main" id="{AC776EE9-D230-4015-3280-DBA38C8880AB}"/>
              </a:ext>
            </a:extLst>
          </p:cNvPr>
          <p:cNvSpPr txBox="1"/>
          <p:nvPr/>
        </p:nvSpPr>
        <p:spPr>
          <a:xfrm>
            <a:off x="7143833" y="3784245"/>
            <a:ext cx="3818967" cy="307777"/>
          </a:xfrm>
          <a:prstGeom prst="rect">
            <a:avLst/>
          </a:prstGeom>
          <a:noFill/>
        </p:spPr>
        <p:txBody>
          <a:bodyPr wrap="square">
            <a:spAutoFit/>
          </a:bodyPr>
          <a:lstStyle/>
          <a:p>
            <a:r>
              <a:rPr lang="en-US" sz="1400" b="0" i="1" u="none" strike="noStrike" dirty="0" err="1">
                <a:solidFill>
                  <a:srgbClr val="000000"/>
                </a:solidFill>
                <a:effectLst/>
                <a:latin typeface="Times New Roman" panose="02020603050405020304" pitchFamily="18" charset="0"/>
              </a:rPr>
              <a:t>Hình</a:t>
            </a:r>
            <a:r>
              <a:rPr lang="en-US" sz="1400" b="0" i="1" u="none" strike="noStrike" dirty="0">
                <a:solidFill>
                  <a:srgbClr val="000000"/>
                </a:solidFill>
                <a:effectLst/>
                <a:latin typeface="Times New Roman" panose="02020603050405020304" pitchFamily="18" charset="0"/>
              </a:rPr>
              <a:t> </a:t>
            </a:r>
            <a:r>
              <a:rPr lang="en-US" sz="1400" i="1" dirty="0">
                <a:solidFill>
                  <a:srgbClr val="000000"/>
                </a:solidFill>
                <a:latin typeface="Times New Roman" panose="02020603050405020304" pitchFamily="18" charset="0"/>
              </a:rPr>
              <a:t>19</a:t>
            </a:r>
            <a:r>
              <a:rPr lang="en-US" sz="1400" b="0" i="1" u="none" strike="noStrike" dirty="0">
                <a:solidFill>
                  <a:srgbClr val="000000"/>
                </a:solidFill>
                <a:effectLst/>
                <a:latin typeface="Times New Roman" panose="02020603050405020304" pitchFamily="18" charset="0"/>
              </a:rPr>
              <a:t>: </a:t>
            </a:r>
            <a:r>
              <a:rPr lang="en-US" sz="1400" i="1" dirty="0" err="1">
                <a:solidFill>
                  <a:srgbClr val="000000"/>
                </a:solidFill>
                <a:latin typeface="Times New Roman" panose="02020603050405020304" pitchFamily="18" charset="0"/>
              </a:rPr>
              <a:t>Giá</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nhà</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theo</a:t>
            </a:r>
            <a:r>
              <a:rPr lang="en-US" sz="1400" i="1" dirty="0">
                <a:solidFill>
                  <a:srgbClr val="000000"/>
                </a:solidFill>
                <a:latin typeface="Times New Roman" panose="02020603050405020304" pitchFamily="18" charset="0"/>
              </a:rPr>
              <a:t> Floors</a:t>
            </a:r>
            <a:endParaRPr lang="en-US" sz="1400" dirty="0"/>
          </a:p>
        </p:txBody>
      </p:sp>
      <p:sp>
        <p:nvSpPr>
          <p:cNvPr id="12" name="TextBox 11">
            <a:extLst>
              <a:ext uri="{FF2B5EF4-FFF2-40B4-BE49-F238E27FC236}">
                <a16:creationId xmlns:a16="http://schemas.microsoft.com/office/drawing/2014/main" id="{D80038DA-942E-A383-C99F-CBC6A5DFD4A7}"/>
              </a:ext>
            </a:extLst>
          </p:cNvPr>
          <p:cNvSpPr txBox="1"/>
          <p:nvPr/>
        </p:nvSpPr>
        <p:spPr>
          <a:xfrm>
            <a:off x="1246052" y="6058976"/>
            <a:ext cx="3818967" cy="307777"/>
          </a:xfrm>
          <a:prstGeom prst="rect">
            <a:avLst/>
          </a:prstGeom>
          <a:noFill/>
        </p:spPr>
        <p:txBody>
          <a:bodyPr wrap="square">
            <a:spAutoFit/>
          </a:bodyPr>
          <a:lstStyle/>
          <a:p>
            <a:r>
              <a:rPr lang="en-US" sz="1400" b="0" i="1" u="none" strike="noStrike" dirty="0" err="1">
                <a:solidFill>
                  <a:srgbClr val="000000"/>
                </a:solidFill>
                <a:effectLst/>
                <a:latin typeface="Times New Roman" panose="02020603050405020304" pitchFamily="18" charset="0"/>
              </a:rPr>
              <a:t>Hình</a:t>
            </a:r>
            <a:r>
              <a:rPr lang="en-US" sz="1400" b="0" i="1" u="none" strike="noStrike" dirty="0">
                <a:solidFill>
                  <a:srgbClr val="000000"/>
                </a:solidFill>
                <a:effectLst/>
                <a:latin typeface="Times New Roman" panose="02020603050405020304" pitchFamily="18" charset="0"/>
              </a:rPr>
              <a:t> 20: </a:t>
            </a:r>
            <a:r>
              <a:rPr lang="en-US" sz="1400" i="1" dirty="0" err="1">
                <a:solidFill>
                  <a:srgbClr val="000000"/>
                </a:solidFill>
                <a:latin typeface="Times New Roman" panose="02020603050405020304" pitchFamily="18" charset="0"/>
              </a:rPr>
              <a:t>Giá</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nhà</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theo</a:t>
            </a:r>
            <a:r>
              <a:rPr lang="en-US" sz="1400" i="1" dirty="0">
                <a:solidFill>
                  <a:srgbClr val="000000"/>
                </a:solidFill>
                <a:latin typeface="Times New Roman" panose="02020603050405020304" pitchFamily="18" charset="0"/>
              </a:rPr>
              <a:t> Bathrooms</a:t>
            </a:r>
            <a:endParaRPr lang="en-US" sz="1400" dirty="0"/>
          </a:p>
        </p:txBody>
      </p:sp>
      <p:sp>
        <p:nvSpPr>
          <p:cNvPr id="13" name="TextBox 12">
            <a:extLst>
              <a:ext uri="{FF2B5EF4-FFF2-40B4-BE49-F238E27FC236}">
                <a16:creationId xmlns:a16="http://schemas.microsoft.com/office/drawing/2014/main" id="{C38F49C2-5171-04F4-BA24-BE6CA6A83203}"/>
              </a:ext>
            </a:extLst>
          </p:cNvPr>
          <p:cNvSpPr txBox="1"/>
          <p:nvPr/>
        </p:nvSpPr>
        <p:spPr>
          <a:xfrm>
            <a:off x="7099266" y="6112429"/>
            <a:ext cx="3818967" cy="307777"/>
          </a:xfrm>
          <a:prstGeom prst="rect">
            <a:avLst/>
          </a:prstGeom>
          <a:noFill/>
        </p:spPr>
        <p:txBody>
          <a:bodyPr wrap="square">
            <a:spAutoFit/>
          </a:bodyPr>
          <a:lstStyle/>
          <a:p>
            <a:r>
              <a:rPr lang="en-US" sz="1400" b="0" i="1" u="none" strike="noStrike" dirty="0" err="1">
                <a:solidFill>
                  <a:srgbClr val="000000"/>
                </a:solidFill>
                <a:effectLst/>
                <a:latin typeface="Times New Roman" panose="02020603050405020304" pitchFamily="18" charset="0"/>
              </a:rPr>
              <a:t>Hình</a:t>
            </a:r>
            <a:r>
              <a:rPr lang="en-US" sz="1400" b="0" i="1" u="none" strike="noStrike" dirty="0">
                <a:solidFill>
                  <a:srgbClr val="000000"/>
                </a:solidFill>
                <a:effectLst/>
                <a:latin typeface="Times New Roman" panose="02020603050405020304" pitchFamily="18" charset="0"/>
              </a:rPr>
              <a:t> 21: </a:t>
            </a:r>
            <a:r>
              <a:rPr lang="en-US" sz="1400" i="1" dirty="0" err="1">
                <a:solidFill>
                  <a:srgbClr val="000000"/>
                </a:solidFill>
                <a:latin typeface="Times New Roman" panose="02020603050405020304" pitchFamily="18" charset="0"/>
              </a:rPr>
              <a:t>Giá</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nhà</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theo</a:t>
            </a:r>
            <a:r>
              <a:rPr lang="en-US" sz="1400" i="1" dirty="0">
                <a:solidFill>
                  <a:srgbClr val="000000"/>
                </a:solidFill>
                <a:latin typeface="Times New Roman" panose="02020603050405020304" pitchFamily="18" charset="0"/>
              </a:rPr>
              <a:t> Bedrooms</a:t>
            </a:r>
            <a:endParaRPr lang="en-US" sz="1400" dirty="0"/>
          </a:p>
        </p:txBody>
      </p:sp>
      <p:pic>
        <p:nvPicPr>
          <p:cNvPr id="4098" name="Picture 2">
            <a:extLst>
              <a:ext uri="{FF2B5EF4-FFF2-40B4-BE49-F238E27FC236}">
                <a16:creationId xmlns:a16="http://schemas.microsoft.com/office/drawing/2014/main" id="{CB82969B-FD0A-FCB2-1DEC-371C81B86AD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5131" y="1553864"/>
            <a:ext cx="3768781" cy="2160939"/>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CE27FC9C-1246-86AC-E0E4-C7E4CBDA9F1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67522" y="1682014"/>
            <a:ext cx="3818967" cy="2144096"/>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a:extLst>
              <a:ext uri="{FF2B5EF4-FFF2-40B4-BE49-F238E27FC236}">
                <a16:creationId xmlns:a16="http://schemas.microsoft.com/office/drawing/2014/main" id="{E188A860-81EC-C3B2-CBDE-8D407924FEE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9396" y="4139095"/>
            <a:ext cx="3512537" cy="1990038"/>
          </a:xfrm>
          <a:prstGeom prst="rect">
            <a:avLst/>
          </a:prstGeom>
          <a:noFill/>
          <a:extLst>
            <a:ext uri="{909E8E84-426E-40DD-AFC4-6F175D3DCCD1}">
              <a14:hiddenFill xmlns:a14="http://schemas.microsoft.com/office/drawing/2010/main">
                <a:solidFill>
                  <a:srgbClr val="FFFFFF"/>
                </a:solidFill>
              </a14:hiddenFill>
            </a:ext>
          </a:extLst>
        </p:spPr>
      </p:pic>
      <p:pic>
        <p:nvPicPr>
          <p:cNvPr id="4106" name="Picture 10">
            <a:extLst>
              <a:ext uri="{FF2B5EF4-FFF2-40B4-BE49-F238E27FC236}">
                <a16:creationId xmlns:a16="http://schemas.microsoft.com/office/drawing/2014/main" id="{A6078F1E-F9B2-99CA-2402-6E5FA104280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366180" y="4123856"/>
            <a:ext cx="3621650" cy="20703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48994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B2101-A3BB-00DD-CEBF-A5D390BEFD75}"/>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C22819E5-CC43-616A-38FC-B5D155EADE06}"/>
              </a:ext>
            </a:extLst>
          </p:cNvPr>
          <p:cNvSpPr>
            <a:spLocks noGrp="1"/>
          </p:cNvSpPr>
          <p:nvPr>
            <p:ph type="title"/>
          </p:nvPr>
        </p:nvSpPr>
        <p:spPr>
          <a:xfrm>
            <a:off x="629200" y="77167"/>
            <a:ext cx="10962800" cy="894000"/>
          </a:xfrm>
        </p:spPr>
        <p:txBody>
          <a:bodyPr/>
          <a:lstStyle/>
          <a:p>
            <a:r>
              <a:rPr lang="en" sz="4800" b="1" dirty="0"/>
              <a:t>Phương pháp tiếp cận</a:t>
            </a:r>
            <a:endParaRPr lang="en-US" sz="4800" b="1" dirty="0"/>
          </a:p>
        </p:txBody>
      </p:sp>
      <p:sp>
        <p:nvSpPr>
          <p:cNvPr id="12" name="Text Placeholder 2">
            <a:extLst>
              <a:ext uri="{FF2B5EF4-FFF2-40B4-BE49-F238E27FC236}">
                <a16:creationId xmlns:a16="http://schemas.microsoft.com/office/drawing/2014/main" id="{39712398-0E0F-52C3-E710-7A753B9752D5}"/>
              </a:ext>
            </a:extLst>
          </p:cNvPr>
          <p:cNvSpPr txBox="1">
            <a:spLocks/>
          </p:cNvSpPr>
          <p:nvPr/>
        </p:nvSpPr>
        <p:spPr>
          <a:xfrm>
            <a:off x="0" y="971167"/>
            <a:ext cx="10962800" cy="55192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609585" marR="0" lvl="0" indent="-491054" algn="l" rtl="0">
              <a:lnSpc>
                <a:spcPct val="115000"/>
              </a:lnSpc>
              <a:spcBef>
                <a:spcPts val="0"/>
              </a:spcBef>
              <a:spcAft>
                <a:spcPts val="0"/>
              </a:spcAft>
              <a:buClr>
                <a:srgbClr val="000000"/>
              </a:buClr>
              <a:buSzPts val="2200"/>
              <a:buFont typeface="Roboto"/>
              <a:buChar char="●"/>
              <a:defRPr sz="2933" b="0" i="0" u="none" strike="noStrike" cap="none">
                <a:solidFill>
                  <a:srgbClr val="000000"/>
                </a:solidFill>
                <a:latin typeface="Roboto"/>
                <a:ea typeface="Roboto"/>
                <a:cs typeface="Roboto"/>
                <a:sym typeface="Roboto"/>
              </a:defRPr>
            </a:lvl1pPr>
            <a:lvl2pPr marL="1219170" marR="0" lvl="1" indent="-474121" algn="l" rtl="0">
              <a:lnSpc>
                <a:spcPct val="115000"/>
              </a:lnSpc>
              <a:spcBef>
                <a:spcPts val="2133"/>
              </a:spcBef>
              <a:spcAft>
                <a:spcPts val="0"/>
              </a:spcAft>
              <a:buClr>
                <a:srgbClr val="000000"/>
              </a:buClr>
              <a:buSzPts val="2000"/>
              <a:buFont typeface="Roboto"/>
              <a:buChar char="○"/>
              <a:defRPr sz="2667" b="0" i="0" u="none" strike="noStrike" cap="none">
                <a:solidFill>
                  <a:srgbClr val="000000"/>
                </a:solidFill>
                <a:latin typeface="Roboto"/>
                <a:ea typeface="Roboto"/>
                <a:cs typeface="Roboto"/>
                <a:sym typeface="Roboto"/>
              </a:defRPr>
            </a:lvl2pPr>
            <a:lvl3pPr marL="1828754" marR="0" lvl="2" indent="-457189" algn="l" rtl="0">
              <a:lnSpc>
                <a:spcPct val="115000"/>
              </a:lnSpc>
              <a:spcBef>
                <a:spcPts val="2133"/>
              </a:spcBef>
              <a:spcAft>
                <a:spcPts val="0"/>
              </a:spcAft>
              <a:buClr>
                <a:srgbClr val="000000"/>
              </a:buClr>
              <a:buSzPts val="1800"/>
              <a:buFont typeface="Roboto"/>
              <a:buChar char="■"/>
              <a:defRPr sz="2400" b="0" i="0" u="none" strike="noStrike" cap="none">
                <a:solidFill>
                  <a:srgbClr val="000000"/>
                </a:solidFill>
                <a:latin typeface="Roboto"/>
                <a:ea typeface="Roboto"/>
                <a:cs typeface="Roboto"/>
                <a:sym typeface="Roboto"/>
              </a:defRPr>
            </a:lvl3pPr>
            <a:lvl4pPr marL="2438339" marR="0" lvl="3" indent="-440256" algn="l" rtl="0">
              <a:lnSpc>
                <a:spcPct val="115000"/>
              </a:lnSpc>
              <a:spcBef>
                <a:spcPts val="2133"/>
              </a:spcBef>
              <a:spcAft>
                <a:spcPts val="0"/>
              </a:spcAft>
              <a:buClr>
                <a:srgbClr val="000000"/>
              </a:buClr>
              <a:buSzPts val="1600"/>
              <a:buFont typeface="Roboto"/>
              <a:buChar char="●"/>
              <a:defRPr sz="2133" b="0" i="0" u="none" strike="noStrike" cap="none">
                <a:solidFill>
                  <a:srgbClr val="000000"/>
                </a:solidFill>
                <a:latin typeface="Roboto"/>
                <a:ea typeface="Roboto"/>
                <a:cs typeface="Roboto"/>
                <a:sym typeface="Roboto"/>
              </a:defRPr>
            </a:lvl4pPr>
            <a:lvl5pPr marL="3047924" marR="0" lvl="4" indent="-423323" algn="l" rtl="0">
              <a:lnSpc>
                <a:spcPct val="115000"/>
              </a:lnSpc>
              <a:spcBef>
                <a:spcPts val="2133"/>
              </a:spcBef>
              <a:spcAft>
                <a:spcPts val="0"/>
              </a:spcAft>
              <a:buClr>
                <a:srgbClr val="000000"/>
              </a:buClr>
              <a:buSzPts val="1400"/>
              <a:buFont typeface="Roboto"/>
              <a:buChar char="○"/>
              <a:defRPr sz="1867" b="0" i="0" u="none" strike="noStrike" cap="none">
                <a:solidFill>
                  <a:srgbClr val="000000"/>
                </a:solidFill>
                <a:latin typeface="Roboto"/>
                <a:ea typeface="Roboto"/>
                <a:cs typeface="Roboto"/>
                <a:sym typeface="Roboto"/>
              </a:defRPr>
            </a:lvl5pPr>
            <a:lvl6pPr marL="3657509" marR="0" lvl="5" indent="-423323" algn="l" rtl="0">
              <a:lnSpc>
                <a:spcPct val="115000"/>
              </a:lnSpc>
              <a:spcBef>
                <a:spcPts val="2133"/>
              </a:spcBef>
              <a:spcAft>
                <a:spcPts val="0"/>
              </a:spcAft>
              <a:buClr>
                <a:srgbClr val="000000"/>
              </a:buClr>
              <a:buSzPts val="1400"/>
              <a:buFont typeface="Roboto"/>
              <a:buChar char="■"/>
              <a:defRPr sz="1867" b="0" i="0" u="none" strike="noStrike" cap="none">
                <a:solidFill>
                  <a:srgbClr val="000000"/>
                </a:solidFill>
                <a:latin typeface="Roboto"/>
                <a:ea typeface="Roboto"/>
                <a:cs typeface="Roboto"/>
                <a:sym typeface="Roboto"/>
              </a:defRPr>
            </a:lvl6pPr>
            <a:lvl7pPr marL="4267093" marR="0" lvl="6" indent="-423323" algn="l" rtl="0">
              <a:lnSpc>
                <a:spcPct val="115000"/>
              </a:lnSpc>
              <a:spcBef>
                <a:spcPts val="2133"/>
              </a:spcBef>
              <a:spcAft>
                <a:spcPts val="0"/>
              </a:spcAft>
              <a:buClr>
                <a:srgbClr val="000000"/>
              </a:buClr>
              <a:buSzPts val="1400"/>
              <a:buFont typeface="Roboto"/>
              <a:buChar char="●"/>
              <a:defRPr sz="1867" b="0" i="0" u="none" strike="noStrike" cap="none">
                <a:solidFill>
                  <a:srgbClr val="000000"/>
                </a:solidFill>
                <a:latin typeface="Roboto"/>
                <a:ea typeface="Roboto"/>
                <a:cs typeface="Roboto"/>
                <a:sym typeface="Roboto"/>
              </a:defRPr>
            </a:lvl7pPr>
            <a:lvl8pPr marL="4876678" marR="0" lvl="7" indent="-423323" algn="l" rtl="0">
              <a:lnSpc>
                <a:spcPct val="115000"/>
              </a:lnSpc>
              <a:spcBef>
                <a:spcPts val="2133"/>
              </a:spcBef>
              <a:spcAft>
                <a:spcPts val="0"/>
              </a:spcAft>
              <a:buClr>
                <a:srgbClr val="000000"/>
              </a:buClr>
              <a:buSzPts val="1400"/>
              <a:buFont typeface="Roboto"/>
              <a:buChar char="○"/>
              <a:defRPr sz="1867" b="0" i="0" u="none" strike="noStrike" cap="none">
                <a:solidFill>
                  <a:srgbClr val="000000"/>
                </a:solidFill>
                <a:latin typeface="Roboto"/>
                <a:ea typeface="Roboto"/>
                <a:cs typeface="Roboto"/>
                <a:sym typeface="Roboto"/>
              </a:defRPr>
            </a:lvl8pPr>
            <a:lvl9pPr marL="5486263" marR="0" lvl="8" indent="-423323" algn="l" rtl="0">
              <a:lnSpc>
                <a:spcPct val="115000"/>
              </a:lnSpc>
              <a:spcBef>
                <a:spcPts val="2133"/>
              </a:spcBef>
              <a:spcAft>
                <a:spcPts val="2133"/>
              </a:spcAft>
              <a:buClr>
                <a:schemeClr val="lt2"/>
              </a:buClr>
              <a:buSzPts val="1400"/>
              <a:buFont typeface="Roboto"/>
              <a:buChar char="■"/>
              <a:defRPr sz="1867" b="0" i="0" u="none" strike="noStrike" cap="none">
                <a:solidFill>
                  <a:schemeClr val="lt2"/>
                </a:solidFill>
                <a:latin typeface="Roboto"/>
                <a:ea typeface="Roboto"/>
                <a:cs typeface="Roboto"/>
                <a:sym typeface="Roboto"/>
              </a:defRPr>
            </a:lvl9pPr>
          </a:lstStyle>
          <a:p>
            <a:pPr marL="118531" indent="0">
              <a:buFont typeface="Roboto"/>
              <a:buNone/>
            </a:pPr>
            <a:r>
              <a:rPr lang="en-US" sz="2000" b="1" kern="0" dirty="0"/>
              <a:t>5. </a:t>
            </a:r>
            <a:r>
              <a:rPr lang="en-US" sz="2000" b="1" kern="0" dirty="0" err="1"/>
              <a:t>Phân</a:t>
            </a:r>
            <a:r>
              <a:rPr lang="en-US" sz="2000" b="1" kern="0" dirty="0"/>
              <a:t> </a:t>
            </a:r>
            <a:r>
              <a:rPr lang="en-US" sz="2000" b="1" kern="0" dirty="0" err="1"/>
              <a:t>tích</a:t>
            </a:r>
            <a:r>
              <a:rPr lang="en-US" sz="2000" b="1" kern="0" dirty="0"/>
              <a:t> </a:t>
            </a:r>
            <a:r>
              <a:rPr lang="en-US" sz="2000" b="1" kern="0" dirty="0" err="1"/>
              <a:t>đa</a:t>
            </a:r>
            <a:r>
              <a:rPr lang="en-US" sz="2000" b="1" kern="0" dirty="0"/>
              <a:t> </a:t>
            </a:r>
            <a:r>
              <a:rPr lang="en-US" sz="2000" b="1" kern="0" dirty="0" err="1"/>
              <a:t>biến</a:t>
            </a:r>
            <a:r>
              <a:rPr lang="en-US" sz="2000" b="1" kern="0" dirty="0"/>
              <a:t> </a:t>
            </a:r>
            <a:r>
              <a:rPr lang="en-US" sz="2000" b="1" kern="0" dirty="0" err="1"/>
              <a:t>theo</a:t>
            </a:r>
            <a:r>
              <a:rPr lang="en-US" sz="2000" b="1" kern="0" dirty="0"/>
              <a:t> </a:t>
            </a:r>
            <a:r>
              <a:rPr lang="en-US" sz="2000" b="1" kern="0" dirty="0" err="1"/>
              <a:t>pháp</a:t>
            </a:r>
            <a:r>
              <a:rPr lang="en-US" sz="2000" b="1" kern="0" dirty="0"/>
              <a:t> </a:t>
            </a:r>
            <a:r>
              <a:rPr lang="en-US" sz="2000" b="1" kern="0" dirty="0" err="1"/>
              <a:t>lý</a:t>
            </a:r>
            <a:r>
              <a:rPr lang="en-US" sz="2000" b="1" kern="0" dirty="0"/>
              <a:t> </a:t>
            </a:r>
            <a:r>
              <a:rPr lang="en-US" sz="2000" b="1" kern="0" dirty="0" err="1"/>
              <a:t>và</a:t>
            </a:r>
            <a:r>
              <a:rPr lang="en-US" sz="2000" b="1" kern="0" dirty="0"/>
              <a:t> </a:t>
            </a:r>
            <a:r>
              <a:rPr lang="en-US" sz="2000" b="1" kern="0" dirty="0" err="1"/>
              <a:t>nội</a:t>
            </a:r>
            <a:r>
              <a:rPr lang="en-US" sz="2000" b="1" kern="0" dirty="0"/>
              <a:t> </a:t>
            </a:r>
            <a:r>
              <a:rPr lang="en-US" sz="2000" b="1" kern="0" dirty="0" err="1"/>
              <a:t>thất</a:t>
            </a:r>
            <a:endParaRPr lang="en-US" sz="2000" b="1" kern="0" dirty="0"/>
          </a:p>
        </p:txBody>
      </p:sp>
      <p:sp>
        <p:nvSpPr>
          <p:cNvPr id="9" name="TextBox 8">
            <a:extLst>
              <a:ext uri="{FF2B5EF4-FFF2-40B4-BE49-F238E27FC236}">
                <a16:creationId xmlns:a16="http://schemas.microsoft.com/office/drawing/2014/main" id="{DD2EFB18-58E0-2E40-27F8-7C254BB3402A}"/>
              </a:ext>
            </a:extLst>
          </p:cNvPr>
          <p:cNvSpPr txBox="1"/>
          <p:nvPr/>
        </p:nvSpPr>
        <p:spPr>
          <a:xfrm>
            <a:off x="917027" y="3808799"/>
            <a:ext cx="4564373" cy="646331"/>
          </a:xfrm>
          <a:prstGeom prst="rect">
            <a:avLst/>
          </a:prstGeom>
          <a:noFill/>
        </p:spPr>
        <p:txBody>
          <a:bodyPr wrap="square">
            <a:spAutoFit/>
          </a:bodyPr>
          <a:lstStyle/>
          <a:p>
            <a:pPr algn="ctr"/>
            <a:r>
              <a:rPr lang="en-US" sz="1200" b="0" i="1" u="none" strike="noStrike" dirty="0" err="1">
                <a:solidFill>
                  <a:srgbClr val="000000"/>
                </a:solidFill>
                <a:effectLst/>
                <a:latin typeface="+mj-lt"/>
              </a:rPr>
              <a:t>Hình</a:t>
            </a:r>
            <a:r>
              <a:rPr lang="en-US" sz="1200" b="0" i="1" u="none" strike="noStrike" dirty="0">
                <a:solidFill>
                  <a:srgbClr val="000000"/>
                </a:solidFill>
                <a:effectLst/>
                <a:latin typeface="+mj-lt"/>
              </a:rPr>
              <a:t> 22: </a:t>
            </a:r>
            <a:r>
              <a:rPr lang="en-US" sz="1200" i="1" dirty="0" err="1">
                <a:solidFill>
                  <a:srgbClr val="000000"/>
                </a:solidFill>
                <a:latin typeface="+mj-lt"/>
              </a:rPr>
              <a:t>Giá</a:t>
            </a:r>
            <a:r>
              <a:rPr lang="en-US" sz="1200" i="1" dirty="0">
                <a:solidFill>
                  <a:srgbClr val="000000"/>
                </a:solidFill>
                <a:latin typeface="+mj-lt"/>
              </a:rPr>
              <a:t> </a:t>
            </a:r>
            <a:r>
              <a:rPr lang="en-US" sz="1200" i="1" dirty="0" err="1">
                <a:solidFill>
                  <a:srgbClr val="000000"/>
                </a:solidFill>
                <a:latin typeface="+mj-lt"/>
              </a:rPr>
              <a:t>nhà</a:t>
            </a:r>
            <a:r>
              <a:rPr lang="en-US" sz="1200" i="1" dirty="0">
                <a:solidFill>
                  <a:srgbClr val="000000"/>
                </a:solidFill>
                <a:latin typeface="+mj-lt"/>
              </a:rPr>
              <a:t> </a:t>
            </a:r>
            <a:r>
              <a:rPr lang="en-US" sz="1200" i="1" dirty="0" err="1">
                <a:solidFill>
                  <a:srgbClr val="000000"/>
                </a:solidFill>
                <a:latin typeface="+mj-lt"/>
              </a:rPr>
              <a:t>trung</a:t>
            </a:r>
            <a:r>
              <a:rPr lang="en-US" sz="1200" i="1" dirty="0">
                <a:solidFill>
                  <a:srgbClr val="000000"/>
                </a:solidFill>
                <a:latin typeface="+mj-lt"/>
              </a:rPr>
              <a:t> </a:t>
            </a:r>
            <a:r>
              <a:rPr lang="en-US" sz="1200" i="1" dirty="0" err="1">
                <a:solidFill>
                  <a:srgbClr val="000000"/>
                </a:solidFill>
                <a:latin typeface="+mj-lt"/>
              </a:rPr>
              <a:t>vị</a:t>
            </a:r>
            <a:r>
              <a:rPr lang="en-US" sz="1200" i="1" dirty="0">
                <a:solidFill>
                  <a:srgbClr val="000000"/>
                </a:solidFill>
                <a:latin typeface="+mj-lt"/>
              </a:rPr>
              <a:t> </a:t>
            </a:r>
            <a:r>
              <a:rPr lang="en-US" sz="1200" i="1" dirty="0" err="1">
                <a:solidFill>
                  <a:srgbClr val="000000"/>
                </a:solidFill>
                <a:latin typeface="+mj-lt"/>
              </a:rPr>
              <a:t>theo</a:t>
            </a:r>
            <a:r>
              <a:rPr lang="en-US" sz="1200" i="1" dirty="0">
                <a:solidFill>
                  <a:srgbClr val="000000"/>
                </a:solidFill>
                <a:latin typeface="+mj-lt"/>
              </a:rPr>
              <a:t> City </a:t>
            </a:r>
            <a:r>
              <a:rPr lang="en-US" sz="1200" i="1" dirty="0" err="1">
                <a:solidFill>
                  <a:srgbClr val="000000"/>
                </a:solidFill>
                <a:latin typeface="+mj-lt"/>
              </a:rPr>
              <a:t>và</a:t>
            </a:r>
            <a:r>
              <a:rPr lang="en-US" sz="1200" i="1" dirty="0">
                <a:solidFill>
                  <a:srgbClr val="000000"/>
                </a:solidFill>
                <a:latin typeface="+mj-lt"/>
              </a:rPr>
              <a:t> </a:t>
            </a:r>
            <a:r>
              <a:rPr lang="en-US" sz="1200" i="1" dirty="0" err="1">
                <a:solidFill>
                  <a:srgbClr val="000000"/>
                </a:solidFill>
                <a:latin typeface="+mj-lt"/>
              </a:rPr>
              <a:t>nhóm</a:t>
            </a:r>
            <a:r>
              <a:rPr lang="en-US" sz="1200" i="1" dirty="0">
                <a:solidFill>
                  <a:srgbClr val="000000"/>
                </a:solidFill>
                <a:latin typeface="+mj-lt"/>
              </a:rPr>
              <a:t> </a:t>
            </a:r>
            <a:r>
              <a:rPr lang="en-US" sz="1200" i="1" dirty="0" err="1">
                <a:solidFill>
                  <a:srgbClr val="000000"/>
                </a:solidFill>
                <a:latin typeface="+mj-lt"/>
              </a:rPr>
              <a:t>diện</a:t>
            </a:r>
            <a:r>
              <a:rPr lang="en-US" sz="1200" i="1" dirty="0">
                <a:solidFill>
                  <a:srgbClr val="000000"/>
                </a:solidFill>
                <a:latin typeface="+mj-lt"/>
              </a:rPr>
              <a:t> </a:t>
            </a:r>
            <a:r>
              <a:rPr lang="en-US" sz="1200" i="1" dirty="0" err="1">
                <a:solidFill>
                  <a:srgbClr val="000000"/>
                </a:solidFill>
                <a:latin typeface="+mj-lt"/>
              </a:rPr>
              <a:t>tích</a:t>
            </a:r>
            <a:r>
              <a:rPr lang="en-US" sz="1200" i="1" dirty="0">
                <a:solidFill>
                  <a:srgbClr val="000000"/>
                </a:solidFill>
                <a:latin typeface="+mj-lt"/>
              </a:rPr>
              <a:t> (</a:t>
            </a:r>
            <a:r>
              <a:rPr lang="en-US" sz="1200" i="1" dirty="0" err="1">
                <a:solidFill>
                  <a:srgbClr val="000000"/>
                </a:solidFill>
                <a:latin typeface="+mj-lt"/>
              </a:rPr>
              <a:t>Area_bin</a:t>
            </a:r>
            <a:r>
              <a:rPr lang="en-US" sz="1200" i="1" dirty="0">
                <a:solidFill>
                  <a:srgbClr val="000000"/>
                </a:solidFill>
                <a:latin typeface="+mj-lt"/>
              </a:rPr>
              <a:t>).</a:t>
            </a:r>
            <a:endParaRPr lang="en-US" sz="1200" dirty="0">
              <a:solidFill>
                <a:srgbClr val="000000"/>
              </a:solidFill>
              <a:latin typeface="+mj-lt"/>
            </a:endParaRPr>
          </a:p>
          <a:p>
            <a:pPr algn="ctr"/>
            <a:br>
              <a:rPr lang="en-US" sz="1200" dirty="0">
                <a:solidFill>
                  <a:srgbClr val="000000"/>
                </a:solidFill>
                <a:latin typeface="+mj-lt"/>
              </a:rPr>
            </a:br>
            <a:endParaRPr lang="en-US" sz="1200" dirty="0">
              <a:solidFill>
                <a:srgbClr val="000000"/>
              </a:solidFill>
              <a:latin typeface="+mj-lt"/>
            </a:endParaRPr>
          </a:p>
        </p:txBody>
      </p:sp>
      <p:sp>
        <p:nvSpPr>
          <p:cNvPr id="10" name="TextBox 9">
            <a:extLst>
              <a:ext uri="{FF2B5EF4-FFF2-40B4-BE49-F238E27FC236}">
                <a16:creationId xmlns:a16="http://schemas.microsoft.com/office/drawing/2014/main" id="{DE6E031B-C308-9AC9-E6E6-3E1E8E9E6639}"/>
              </a:ext>
            </a:extLst>
          </p:cNvPr>
          <p:cNvSpPr txBox="1"/>
          <p:nvPr/>
        </p:nvSpPr>
        <p:spPr>
          <a:xfrm>
            <a:off x="223144" y="6155598"/>
            <a:ext cx="5999586" cy="646331"/>
          </a:xfrm>
          <a:prstGeom prst="rect">
            <a:avLst/>
          </a:prstGeom>
          <a:noFill/>
        </p:spPr>
        <p:txBody>
          <a:bodyPr wrap="square">
            <a:spAutoFit/>
          </a:bodyPr>
          <a:lstStyle/>
          <a:p>
            <a:pPr algn="ctr"/>
            <a:r>
              <a:rPr lang="en-US" sz="1200" b="0" i="1" u="none" strike="noStrike" dirty="0" err="1">
                <a:solidFill>
                  <a:srgbClr val="000000"/>
                </a:solidFill>
                <a:effectLst/>
                <a:latin typeface="+mj-lt"/>
              </a:rPr>
              <a:t>Hình</a:t>
            </a:r>
            <a:r>
              <a:rPr lang="en-US" sz="1200" b="0" i="1" u="none" strike="noStrike" dirty="0">
                <a:solidFill>
                  <a:srgbClr val="000000"/>
                </a:solidFill>
                <a:effectLst/>
                <a:latin typeface="+mj-lt"/>
              </a:rPr>
              <a:t> 2</a:t>
            </a:r>
            <a:r>
              <a:rPr lang="en-US" sz="1200" i="1" dirty="0">
                <a:solidFill>
                  <a:srgbClr val="000000"/>
                </a:solidFill>
                <a:latin typeface="+mj-lt"/>
              </a:rPr>
              <a:t>4</a:t>
            </a:r>
            <a:r>
              <a:rPr lang="en-US" sz="1200" b="0" i="1" u="none" strike="noStrike" dirty="0">
                <a:solidFill>
                  <a:srgbClr val="000000"/>
                </a:solidFill>
                <a:effectLst/>
                <a:latin typeface="+mj-lt"/>
              </a:rPr>
              <a:t>:</a:t>
            </a:r>
            <a:r>
              <a:rPr lang="vi-VN" sz="1200" i="1" dirty="0">
                <a:solidFill>
                  <a:srgbClr val="000000"/>
                </a:solidFill>
                <a:latin typeface="+mj-lt"/>
              </a:rPr>
              <a:t>Giá nhà trung vị theo City và nhóm bề rộng đường trước nhà (Access_Road_bin)</a:t>
            </a:r>
            <a:endParaRPr lang="vi-VN" sz="1200" dirty="0">
              <a:solidFill>
                <a:srgbClr val="000000"/>
              </a:solidFill>
              <a:latin typeface="+mj-lt"/>
            </a:endParaRPr>
          </a:p>
          <a:p>
            <a:pPr algn="ctr"/>
            <a:br>
              <a:rPr lang="vi-VN" sz="1200" dirty="0">
                <a:solidFill>
                  <a:srgbClr val="000000"/>
                </a:solidFill>
                <a:latin typeface="+mj-lt"/>
              </a:rPr>
            </a:br>
            <a:endParaRPr lang="en-US" sz="1200" dirty="0">
              <a:solidFill>
                <a:srgbClr val="000000"/>
              </a:solidFill>
              <a:latin typeface="+mj-lt"/>
            </a:endParaRPr>
          </a:p>
        </p:txBody>
      </p:sp>
      <p:sp>
        <p:nvSpPr>
          <p:cNvPr id="18" name="TextBox 17">
            <a:extLst>
              <a:ext uri="{FF2B5EF4-FFF2-40B4-BE49-F238E27FC236}">
                <a16:creationId xmlns:a16="http://schemas.microsoft.com/office/drawing/2014/main" id="{7274C0E0-DB72-D911-3A61-6D471DEF24B0}"/>
              </a:ext>
            </a:extLst>
          </p:cNvPr>
          <p:cNvSpPr txBox="1"/>
          <p:nvPr/>
        </p:nvSpPr>
        <p:spPr>
          <a:xfrm>
            <a:off x="6520825" y="3639521"/>
            <a:ext cx="5235070" cy="646331"/>
          </a:xfrm>
          <a:prstGeom prst="rect">
            <a:avLst/>
          </a:prstGeom>
          <a:noFill/>
        </p:spPr>
        <p:txBody>
          <a:bodyPr wrap="square">
            <a:spAutoFit/>
          </a:bodyPr>
          <a:lstStyle/>
          <a:p>
            <a:pPr algn="ctr"/>
            <a:r>
              <a:rPr lang="en-US" sz="1200" b="0" i="1" u="none" strike="noStrike" dirty="0" err="1">
                <a:solidFill>
                  <a:srgbClr val="000000"/>
                </a:solidFill>
                <a:effectLst/>
                <a:latin typeface="+mj-lt"/>
              </a:rPr>
              <a:t>Hình</a:t>
            </a:r>
            <a:r>
              <a:rPr lang="en-US" sz="1200" b="0" i="1" u="none" strike="noStrike" dirty="0">
                <a:solidFill>
                  <a:srgbClr val="000000"/>
                </a:solidFill>
                <a:effectLst/>
                <a:latin typeface="+mj-lt"/>
              </a:rPr>
              <a:t> 23:</a:t>
            </a:r>
            <a:r>
              <a:rPr lang="en-US" sz="1200" i="1" dirty="0">
                <a:solidFill>
                  <a:srgbClr val="000000"/>
                </a:solidFill>
                <a:latin typeface="+mj-lt"/>
              </a:rPr>
              <a:t>Giá </a:t>
            </a:r>
            <a:r>
              <a:rPr lang="en-US" sz="1200" i="1" dirty="0" err="1">
                <a:solidFill>
                  <a:srgbClr val="000000"/>
                </a:solidFill>
                <a:latin typeface="+mj-lt"/>
              </a:rPr>
              <a:t>nhà</a:t>
            </a:r>
            <a:r>
              <a:rPr lang="en-US" sz="1200" i="1" dirty="0">
                <a:solidFill>
                  <a:srgbClr val="000000"/>
                </a:solidFill>
                <a:latin typeface="+mj-lt"/>
              </a:rPr>
              <a:t> </a:t>
            </a:r>
            <a:r>
              <a:rPr lang="en-US" sz="1200" i="1" dirty="0" err="1">
                <a:solidFill>
                  <a:srgbClr val="000000"/>
                </a:solidFill>
                <a:latin typeface="+mj-lt"/>
              </a:rPr>
              <a:t>trung</a:t>
            </a:r>
            <a:r>
              <a:rPr lang="en-US" sz="1200" i="1" dirty="0">
                <a:solidFill>
                  <a:srgbClr val="000000"/>
                </a:solidFill>
                <a:latin typeface="+mj-lt"/>
              </a:rPr>
              <a:t> </a:t>
            </a:r>
            <a:r>
              <a:rPr lang="en-US" sz="1200" i="1" dirty="0" err="1">
                <a:solidFill>
                  <a:srgbClr val="000000"/>
                </a:solidFill>
                <a:latin typeface="+mj-lt"/>
              </a:rPr>
              <a:t>vị</a:t>
            </a:r>
            <a:r>
              <a:rPr lang="en-US" sz="1200" i="1" dirty="0">
                <a:solidFill>
                  <a:srgbClr val="000000"/>
                </a:solidFill>
                <a:latin typeface="+mj-lt"/>
              </a:rPr>
              <a:t> </a:t>
            </a:r>
            <a:r>
              <a:rPr lang="en-US" sz="1200" i="1" dirty="0" err="1">
                <a:solidFill>
                  <a:srgbClr val="000000"/>
                </a:solidFill>
                <a:latin typeface="+mj-lt"/>
              </a:rPr>
              <a:t>theo</a:t>
            </a:r>
            <a:r>
              <a:rPr lang="en-US" sz="1200" i="1" dirty="0">
                <a:solidFill>
                  <a:srgbClr val="000000"/>
                </a:solidFill>
                <a:latin typeface="+mj-lt"/>
              </a:rPr>
              <a:t> City </a:t>
            </a:r>
            <a:r>
              <a:rPr lang="en-US" sz="1200" i="1" dirty="0" err="1">
                <a:solidFill>
                  <a:srgbClr val="000000"/>
                </a:solidFill>
                <a:latin typeface="+mj-lt"/>
              </a:rPr>
              <a:t>và</a:t>
            </a:r>
            <a:r>
              <a:rPr lang="en-US" sz="1200" i="1" dirty="0">
                <a:solidFill>
                  <a:srgbClr val="000000"/>
                </a:solidFill>
                <a:latin typeface="+mj-lt"/>
              </a:rPr>
              <a:t> </a:t>
            </a:r>
            <a:r>
              <a:rPr lang="en-US" sz="1200" i="1" dirty="0" err="1">
                <a:solidFill>
                  <a:srgbClr val="000000"/>
                </a:solidFill>
                <a:latin typeface="+mj-lt"/>
              </a:rPr>
              <a:t>nhóm</a:t>
            </a:r>
            <a:r>
              <a:rPr lang="en-US" sz="1200" i="1" dirty="0">
                <a:solidFill>
                  <a:srgbClr val="000000"/>
                </a:solidFill>
                <a:latin typeface="+mj-lt"/>
              </a:rPr>
              <a:t> </a:t>
            </a:r>
            <a:r>
              <a:rPr lang="en-US" sz="1200" i="1" dirty="0" err="1">
                <a:solidFill>
                  <a:srgbClr val="000000"/>
                </a:solidFill>
                <a:latin typeface="+mj-lt"/>
              </a:rPr>
              <a:t>mặt</a:t>
            </a:r>
            <a:r>
              <a:rPr lang="en-US" sz="1200" i="1" dirty="0">
                <a:solidFill>
                  <a:srgbClr val="000000"/>
                </a:solidFill>
                <a:latin typeface="+mj-lt"/>
              </a:rPr>
              <a:t> </a:t>
            </a:r>
            <a:r>
              <a:rPr lang="en-US" sz="1200" i="1" dirty="0" err="1">
                <a:solidFill>
                  <a:srgbClr val="000000"/>
                </a:solidFill>
                <a:latin typeface="+mj-lt"/>
              </a:rPr>
              <a:t>tiền</a:t>
            </a:r>
            <a:r>
              <a:rPr lang="en-US" sz="1200" i="1" dirty="0">
                <a:solidFill>
                  <a:srgbClr val="000000"/>
                </a:solidFill>
                <a:latin typeface="+mj-lt"/>
              </a:rPr>
              <a:t> (</a:t>
            </a:r>
            <a:r>
              <a:rPr lang="en-US" sz="1200" i="1" dirty="0" err="1">
                <a:solidFill>
                  <a:srgbClr val="000000"/>
                </a:solidFill>
                <a:latin typeface="+mj-lt"/>
              </a:rPr>
              <a:t>Frontage_bin</a:t>
            </a:r>
            <a:r>
              <a:rPr lang="en-US" sz="1200" i="1" dirty="0">
                <a:solidFill>
                  <a:srgbClr val="000000"/>
                </a:solidFill>
                <a:latin typeface="+mj-lt"/>
              </a:rPr>
              <a:t>)</a:t>
            </a:r>
            <a:endParaRPr lang="en-US" sz="1200" dirty="0">
              <a:solidFill>
                <a:srgbClr val="000000"/>
              </a:solidFill>
              <a:latin typeface="+mj-lt"/>
            </a:endParaRPr>
          </a:p>
          <a:p>
            <a:pPr algn="ctr"/>
            <a:br>
              <a:rPr lang="en-US" sz="1200" dirty="0">
                <a:solidFill>
                  <a:srgbClr val="000000"/>
                </a:solidFill>
                <a:latin typeface="+mj-lt"/>
              </a:rPr>
            </a:br>
            <a:endParaRPr lang="en-US" sz="1200" dirty="0">
              <a:solidFill>
                <a:srgbClr val="000000"/>
              </a:solidFill>
              <a:latin typeface="+mj-lt"/>
            </a:endParaRPr>
          </a:p>
        </p:txBody>
      </p:sp>
      <p:pic>
        <p:nvPicPr>
          <p:cNvPr id="1026" name="Picture 2">
            <a:extLst>
              <a:ext uri="{FF2B5EF4-FFF2-40B4-BE49-F238E27FC236}">
                <a16:creationId xmlns:a16="http://schemas.microsoft.com/office/drawing/2014/main" id="{F14760FB-1C6F-8AAE-A62B-D5F3CCD1F71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64059" y="3962687"/>
            <a:ext cx="2811350" cy="245153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6C863855-7B8F-0087-5CFE-0293879B9B5E}"/>
              </a:ext>
            </a:extLst>
          </p:cNvPr>
          <p:cNvSpPr txBox="1"/>
          <p:nvPr/>
        </p:nvSpPr>
        <p:spPr>
          <a:xfrm>
            <a:off x="9775409" y="5581693"/>
            <a:ext cx="2088641" cy="954107"/>
          </a:xfrm>
          <a:prstGeom prst="rect">
            <a:avLst/>
          </a:prstGeom>
          <a:noFill/>
        </p:spPr>
        <p:txBody>
          <a:bodyPr wrap="square">
            <a:spAutoFit/>
          </a:bodyPr>
          <a:lstStyle/>
          <a:p>
            <a:pPr indent="457200" rtl="0">
              <a:buNone/>
            </a:pPr>
            <a:r>
              <a:rPr lang="vi-VN" sz="1400" b="0" i="1" u="none" strike="noStrike" dirty="0">
                <a:solidFill>
                  <a:srgbClr val="000000"/>
                </a:solidFill>
                <a:effectLst/>
                <a:latin typeface="Times New Roman" panose="02020603050405020304" pitchFamily="18" charset="0"/>
              </a:rPr>
              <a:t>Hình 2</a:t>
            </a:r>
            <a:r>
              <a:rPr lang="en-US" sz="1400" i="1" dirty="0">
                <a:solidFill>
                  <a:srgbClr val="000000"/>
                </a:solidFill>
                <a:latin typeface="Times New Roman" panose="02020603050405020304" pitchFamily="18" charset="0"/>
              </a:rPr>
              <a:t>5</a:t>
            </a:r>
            <a:r>
              <a:rPr lang="vi-VN" sz="1400" b="0" i="1" u="none" strike="noStrike" dirty="0">
                <a:solidFill>
                  <a:srgbClr val="000000"/>
                </a:solidFill>
                <a:effectLst/>
                <a:latin typeface="Times New Roman" panose="02020603050405020304" pitchFamily="18" charset="0"/>
              </a:rPr>
              <a:t> Heatmap tương quan giữa đặc điểm vật lý và giá nhà</a:t>
            </a:r>
            <a:r>
              <a:rPr lang="en-US" sz="1400" i="1" dirty="0">
                <a:solidFill>
                  <a:srgbClr val="000000"/>
                </a:solidFill>
                <a:latin typeface="Times New Roman" panose="02020603050405020304" pitchFamily="18" charset="0"/>
              </a:rPr>
              <a:t>.</a:t>
            </a:r>
            <a:br>
              <a:rPr lang="vi-VN" sz="1400" dirty="0"/>
            </a:br>
            <a:endParaRPr lang="en-US" sz="1400" dirty="0"/>
          </a:p>
        </p:txBody>
      </p:sp>
      <p:pic>
        <p:nvPicPr>
          <p:cNvPr id="3074" name="Picture 2">
            <a:extLst>
              <a:ext uri="{FF2B5EF4-FFF2-40B4-BE49-F238E27FC236}">
                <a16:creationId xmlns:a16="http://schemas.microsoft.com/office/drawing/2014/main" id="{5019BECE-EE5C-7E0C-2709-753D0014124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01607" y="1490758"/>
            <a:ext cx="3995212" cy="2318041"/>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E27CC203-3E38-2CD7-59DD-B0FA1722C0F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628980" y="1035206"/>
            <a:ext cx="4266344" cy="2650084"/>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a:extLst>
              <a:ext uri="{FF2B5EF4-FFF2-40B4-BE49-F238E27FC236}">
                <a16:creationId xmlns:a16="http://schemas.microsoft.com/office/drawing/2014/main" id="{D60536CA-A94E-7A55-0015-5BDD57EABF41}"/>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201607" y="4170662"/>
            <a:ext cx="3891503" cy="20355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17824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629200" y="77167"/>
            <a:ext cx="10962800" cy="894000"/>
          </a:xfrm>
        </p:spPr>
        <p:txBody>
          <a:bodyPr/>
          <a:lstStyle/>
          <a:p>
            <a:r>
              <a:rPr lang="en" sz="4800" b="1" dirty="0"/>
              <a:t>Phương pháp tiếp cận</a:t>
            </a:r>
            <a:endParaRPr lang="en-US" sz="4800" b="1" dirty="0"/>
          </a:p>
        </p:txBody>
      </p:sp>
      <p:sp>
        <p:nvSpPr>
          <p:cNvPr id="12" name="Text Placeholder 2"/>
          <p:cNvSpPr txBox="1">
            <a:spLocks/>
          </p:cNvSpPr>
          <p:nvPr/>
        </p:nvSpPr>
        <p:spPr>
          <a:xfrm>
            <a:off x="0" y="971167"/>
            <a:ext cx="10962800" cy="55192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609585" marR="0" lvl="0" indent="-491054" algn="l" rtl="0">
              <a:lnSpc>
                <a:spcPct val="115000"/>
              </a:lnSpc>
              <a:spcBef>
                <a:spcPts val="0"/>
              </a:spcBef>
              <a:spcAft>
                <a:spcPts val="0"/>
              </a:spcAft>
              <a:buClr>
                <a:srgbClr val="000000"/>
              </a:buClr>
              <a:buSzPts val="2200"/>
              <a:buFont typeface="Roboto"/>
              <a:buChar char="●"/>
              <a:defRPr sz="2933" b="0" i="0" u="none" strike="noStrike" cap="none">
                <a:solidFill>
                  <a:srgbClr val="000000"/>
                </a:solidFill>
                <a:latin typeface="Roboto"/>
                <a:ea typeface="Roboto"/>
                <a:cs typeface="Roboto"/>
                <a:sym typeface="Roboto"/>
              </a:defRPr>
            </a:lvl1pPr>
            <a:lvl2pPr marL="1219170" marR="0" lvl="1" indent="-474121" algn="l" rtl="0">
              <a:lnSpc>
                <a:spcPct val="115000"/>
              </a:lnSpc>
              <a:spcBef>
                <a:spcPts val="2133"/>
              </a:spcBef>
              <a:spcAft>
                <a:spcPts val="0"/>
              </a:spcAft>
              <a:buClr>
                <a:srgbClr val="000000"/>
              </a:buClr>
              <a:buSzPts val="2000"/>
              <a:buFont typeface="Roboto"/>
              <a:buChar char="○"/>
              <a:defRPr sz="2667" b="0" i="0" u="none" strike="noStrike" cap="none">
                <a:solidFill>
                  <a:srgbClr val="000000"/>
                </a:solidFill>
                <a:latin typeface="Roboto"/>
                <a:ea typeface="Roboto"/>
                <a:cs typeface="Roboto"/>
                <a:sym typeface="Roboto"/>
              </a:defRPr>
            </a:lvl2pPr>
            <a:lvl3pPr marL="1828754" marR="0" lvl="2" indent="-457189" algn="l" rtl="0">
              <a:lnSpc>
                <a:spcPct val="115000"/>
              </a:lnSpc>
              <a:spcBef>
                <a:spcPts val="2133"/>
              </a:spcBef>
              <a:spcAft>
                <a:spcPts val="0"/>
              </a:spcAft>
              <a:buClr>
                <a:srgbClr val="000000"/>
              </a:buClr>
              <a:buSzPts val="1800"/>
              <a:buFont typeface="Roboto"/>
              <a:buChar char="■"/>
              <a:defRPr sz="2400" b="0" i="0" u="none" strike="noStrike" cap="none">
                <a:solidFill>
                  <a:srgbClr val="000000"/>
                </a:solidFill>
                <a:latin typeface="Roboto"/>
                <a:ea typeface="Roboto"/>
                <a:cs typeface="Roboto"/>
                <a:sym typeface="Roboto"/>
              </a:defRPr>
            </a:lvl3pPr>
            <a:lvl4pPr marL="2438339" marR="0" lvl="3" indent="-440256" algn="l" rtl="0">
              <a:lnSpc>
                <a:spcPct val="115000"/>
              </a:lnSpc>
              <a:spcBef>
                <a:spcPts val="2133"/>
              </a:spcBef>
              <a:spcAft>
                <a:spcPts val="0"/>
              </a:spcAft>
              <a:buClr>
                <a:srgbClr val="000000"/>
              </a:buClr>
              <a:buSzPts val="1600"/>
              <a:buFont typeface="Roboto"/>
              <a:buChar char="●"/>
              <a:defRPr sz="2133" b="0" i="0" u="none" strike="noStrike" cap="none">
                <a:solidFill>
                  <a:srgbClr val="000000"/>
                </a:solidFill>
                <a:latin typeface="Roboto"/>
                <a:ea typeface="Roboto"/>
                <a:cs typeface="Roboto"/>
                <a:sym typeface="Roboto"/>
              </a:defRPr>
            </a:lvl4pPr>
            <a:lvl5pPr marL="3047924" marR="0" lvl="4" indent="-423323" algn="l" rtl="0">
              <a:lnSpc>
                <a:spcPct val="115000"/>
              </a:lnSpc>
              <a:spcBef>
                <a:spcPts val="2133"/>
              </a:spcBef>
              <a:spcAft>
                <a:spcPts val="0"/>
              </a:spcAft>
              <a:buClr>
                <a:srgbClr val="000000"/>
              </a:buClr>
              <a:buSzPts val="1400"/>
              <a:buFont typeface="Roboto"/>
              <a:buChar char="○"/>
              <a:defRPr sz="1867" b="0" i="0" u="none" strike="noStrike" cap="none">
                <a:solidFill>
                  <a:srgbClr val="000000"/>
                </a:solidFill>
                <a:latin typeface="Roboto"/>
                <a:ea typeface="Roboto"/>
                <a:cs typeface="Roboto"/>
                <a:sym typeface="Roboto"/>
              </a:defRPr>
            </a:lvl5pPr>
            <a:lvl6pPr marL="3657509" marR="0" lvl="5" indent="-423323" algn="l" rtl="0">
              <a:lnSpc>
                <a:spcPct val="115000"/>
              </a:lnSpc>
              <a:spcBef>
                <a:spcPts val="2133"/>
              </a:spcBef>
              <a:spcAft>
                <a:spcPts val="0"/>
              </a:spcAft>
              <a:buClr>
                <a:srgbClr val="000000"/>
              </a:buClr>
              <a:buSzPts val="1400"/>
              <a:buFont typeface="Roboto"/>
              <a:buChar char="■"/>
              <a:defRPr sz="1867" b="0" i="0" u="none" strike="noStrike" cap="none">
                <a:solidFill>
                  <a:srgbClr val="000000"/>
                </a:solidFill>
                <a:latin typeface="Roboto"/>
                <a:ea typeface="Roboto"/>
                <a:cs typeface="Roboto"/>
                <a:sym typeface="Roboto"/>
              </a:defRPr>
            </a:lvl6pPr>
            <a:lvl7pPr marL="4267093" marR="0" lvl="6" indent="-423323" algn="l" rtl="0">
              <a:lnSpc>
                <a:spcPct val="115000"/>
              </a:lnSpc>
              <a:spcBef>
                <a:spcPts val="2133"/>
              </a:spcBef>
              <a:spcAft>
                <a:spcPts val="0"/>
              </a:spcAft>
              <a:buClr>
                <a:srgbClr val="000000"/>
              </a:buClr>
              <a:buSzPts val="1400"/>
              <a:buFont typeface="Roboto"/>
              <a:buChar char="●"/>
              <a:defRPr sz="1867" b="0" i="0" u="none" strike="noStrike" cap="none">
                <a:solidFill>
                  <a:srgbClr val="000000"/>
                </a:solidFill>
                <a:latin typeface="Roboto"/>
                <a:ea typeface="Roboto"/>
                <a:cs typeface="Roboto"/>
                <a:sym typeface="Roboto"/>
              </a:defRPr>
            </a:lvl7pPr>
            <a:lvl8pPr marL="4876678" marR="0" lvl="7" indent="-423323" algn="l" rtl="0">
              <a:lnSpc>
                <a:spcPct val="115000"/>
              </a:lnSpc>
              <a:spcBef>
                <a:spcPts val="2133"/>
              </a:spcBef>
              <a:spcAft>
                <a:spcPts val="0"/>
              </a:spcAft>
              <a:buClr>
                <a:srgbClr val="000000"/>
              </a:buClr>
              <a:buSzPts val="1400"/>
              <a:buFont typeface="Roboto"/>
              <a:buChar char="○"/>
              <a:defRPr sz="1867" b="0" i="0" u="none" strike="noStrike" cap="none">
                <a:solidFill>
                  <a:srgbClr val="000000"/>
                </a:solidFill>
                <a:latin typeface="Roboto"/>
                <a:ea typeface="Roboto"/>
                <a:cs typeface="Roboto"/>
                <a:sym typeface="Roboto"/>
              </a:defRPr>
            </a:lvl8pPr>
            <a:lvl9pPr marL="5486263" marR="0" lvl="8" indent="-423323" algn="l" rtl="0">
              <a:lnSpc>
                <a:spcPct val="115000"/>
              </a:lnSpc>
              <a:spcBef>
                <a:spcPts val="2133"/>
              </a:spcBef>
              <a:spcAft>
                <a:spcPts val="2133"/>
              </a:spcAft>
              <a:buClr>
                <a:schemeClr val="lt2"/>
              </a:buClr>
              <a:buSzPts val="1400"/>
              <a:buFont typeface="Roboto"/>
              <a:buChar char="■"/>
              <a:defRPr sz="1867" b="0" i="0" u="none" strike="noStrike" cap="none">
                <a:solidFill>
                  <a:schemeClr val="lt2"/>
                </a:solidFill>
                <a:latin typeface="Roboto"/>
                <a:ea typeface="Roboto"/>
                <a:cs typeface="Roboto"/>
                <a:sym typeface="Roboto"/>
              </a:defRPr>
            </a:lvl9pPr>
          </a:lstStyle>
          <a:p>
            <a:pPr marL="118531" indent="0">
              <a:buFont typeface="Roboto"/>
              <a:buNone/>
            </a:pPr>
            <a:r>
              <a:rPr lang="en-US" sz="2000" b="1" kern="0" dirty="0"/>
              <a:t>5. </a:t>
            </a:r>
            <a:r>
              <a:rPr lang="en-US" sz="2000" b="1" kern="0" dirty="0" err="1"/>
              <a:t>Phân</a:t>
            </a:r>
            <a:r>
              <a:rPr lang="en-US" sz="2000" b="1" kern="0" dirty="0"/>
              <a:t> </a:t>
            </a:r>
            <a:r>
              <a:rPr lang="en-US" sz="2000" b="1" kern="0" dirty="0" err="1"/>
              <a:t>tích</a:t>
            </a:r>
            <a:r>
              <a:rPr lang="en-US" sz="2000" b="1" kern="0" dirty="0"/>
              <a:t> </a:t>
            </a:r>
            <a:r>
              <a:rPr lang="en-US" sz="2000" b="1" kern="0" dirty="0" err="1"/>
              <a:t>đa</a:t>
            </a:r>
            <a:r>
              <a:rPr lang="en-US" sz="2000" b="1" kern="0" dirty="0"/>
              <a:t> </a:t>
            </a:r>
            <a:r>
              <a:rPr lang="en-US" sz="2000" b="1" kern="0" dirty="0" err="1"/>
              <a:t>biến</a:t>
            </a:r>
            <a:r>
              <a:rPr lang="en-US" sz="2000" b="1" kern="0" dirty="0"/>
              <a:t> </a:t>
            </a:r>
            <a:r>
              <a:rPr lang="en-US" sz="2000" b="1" kern="0" dirty="0" err="1"/>
              <a:t>theo</a:t>
            </a:r>
            <a:r>
              <a:rPr lang="en-US" sz="2000" b="1" kern="0" dirty="0"/>
              <a:t> </a:t>
            </a:r>
            <a:r>
              <a:rPr lang="en-US" sz="2000" b="1" kern="0" dirty="0" err="1"/>
              <a:t>pháp</a:t>
            </a:r>
            <a:r>
              <a:rPr lang="en-US" sz="2000" b="1" kern="0" dirty="0"/>
              <a:t> </a:t>
            </a:r>
            <a:r>
              <a:rPr lang="en-US" sz="2000" b="1" kern="0" dirty="0" err="1"/>
              <a:t>lý</a:t>
            </a:r>
            <a:r>
              <a:rPr lang="en-US" sz="2000" b="1" kern="0" dirty="0"/>
              <a:t> </a:t>
            </a:r>
            <a:r>
              <a:rPr lang="en-US" sz="2000" b="1" kern="0" dirty="0" err="1"/>
              <a:t>và</a:t>
            </a:r>
            <a:r>
              <a:rPr lang="en-US" sz="2000" b="1" kern="0" dirty="0"/>
              <a:t> </a:t>
            </a:r>
            <a:r>
              <a:rPr lang="en-US" sz="2000" b="1" kern="0" dirty="0" err="1"/>
              <a:t>nội</a:t>
            </a:r>
            <a:r>
              <a:rPr lang="en-US" sz="2000" b="1" kern="0" dirty="0"/>
              <a:t> </a:t>
            </a:r>
            <a:r>
              <a:rPr lang="en-US" sz="2000" b="1" kern="0" dirty="0" err="1"/>
              <a:t>thất</a:t>
            </a:r>
            <a:endParaRPr lang="en-US" sz="2000" b="1" kern="0" dirty="0"/>
          </a:p>
        </p:txBody>
      </p:sp>
      <p:pic>
        <p:nvPicPr>
          <p:cNvPr id="5130" name="Picture 10">
            <a:extLst>
              <a:ext uri="{FF2B5EF4-FFF2-40B4-BE49-F238E27FC236}">
                <a16:creationId xmlns:a16="http://schemas.microsoft.com/office/drawing/2014/main" id="{BD0E41BB-8B76-820E-4248-5B557BDFB09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6769" y="1435971"/>
            <a:ext cx="5581650" cy="2428875"/>
          </a:xfrm>
          <a:prstGeom prst="rect">
            <a:avLst/>
          </a:prstGeom>
          <a:noFill/>
          <a:extLst>
            <a:ext uri="{909E8E84-426E-40DD-AFC4-6F175D3DCCD1}">
              <a14:hiddenFill xmlns:a14="http://schemas.microsoft.com/office/drawing/2010/main">
                <a:solidFill>
                  <a:srgbClr val="FFFFFF"/>
                </a:solidFill>
              </a14:hiddenFill>
            </a:ext>
          </a:extLst>
        </p:spPr>
      </p:pic>
      <p:pic>
        <p:nvPicPr>
          <p:cNvPr id="5132" name="Picture 12">
            <a:extLst>
              <a:ext uri="{FF2B5EF4-FFF2-40B4-BE49-F238E27FC236}">
                <a16:creationId xmlns:a16="http://schemas.microsoft.com/office/drawing/2014/main" id="{7BA93380-9847-1CE9-D61D-0355C1BD52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4059" y="1063006"/>
            <a:ext cx="3417106" cy="2536589"/>
          </a:xfrm>
          <a:prstGeom prst="rect">
            <a:avLst/>
          </a:prstGeom>
          <a:noFill/>
          <a:extLst>
            <a:ext uri="{909E8E84-426E-40DD-AFC4-6F175D3DCCD1}">
              <a14:hiddenFill xmlns:a14="http://schemas.microsoft.com/office/drawing/2010/main">
                <a:solidFill>
                  <a:srgbClr val="FFFFFF"/>
                </a:solidFill>
              </a14:hiddenFill>
            </a:ext>
          </a:extLst>
        </p:spPr>
      </p:pic>
      <p:pic>
        <p:nvPicPr>
          <p:cNvPr id="5134" name="Picture 14">
            <a:extLst>
              <a:ext uri="{FF2B5EF4-FFF2-40B4-BE49-F238E27FC236}">
                <a16:creationId xmlns:a16="http://schemas.microsoft.com/office/drawing/2014/main" id="{1743B5AA-9138-8E83-78B7-5458C3B1F2D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813813" y="4151515"/>
            <a:ext cx="4564373" cy="2015807"/>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B4E1AAAE-D273-639D-86C4-4696949B533B}"/>
              </a:ext>
            </a:extLst>
          </p:cNvPr>
          <p:cNvSpPr txBox="1"/>
          <p:nvPr/>
        </p:nvSpPr>
        <p:spPr>
          <a:xfrm>
            <a:off x="998648" y="3843738"/>
            <a:ext cx="4564373" cy="307777"/>
          </a:xfrm>
          <a:prstGeom prst="rect">
            <a:avLst/>
          </a:prstGeom>
          <a:noFill/>
        </p:spPr>
        <p:txBody>
          <a:bodyPr wrap="square">
            <a:spAutoFit/>
          </a:bodyPr>
          <a:lstStyle/>
          <a:p>
            <a:r>
              <a:rPr lang="en-US" sz="1400" b="0" i="1" u="none" strike="noStrike" dirty="0" err="1">
                <a:solidFill>
                  <a:srgbClr val="000000"/>
                </a:solidFill>
                <a:effectLst/>
                <a:latin typeface="Times New Roman" panose="02020603050405020304" pitchFamily="18" charset="0"/>
              </a:rPr>
              <a:t>Hình</a:t>
            </a:r>
            <a:r>
              <a:rPr lang="en-US" sz="1400" b="0" i="1" u="none" strike="noStrike" dirty="0">
                <a:solidFill>
                  <a:srgbClr val="000000"/>
                </a:solidFill>
                <a:effectLst/>
                <a:latin typeface="Times New Roman" panose="02020603050405020304" pitchFamily="18" charset="0"/>
              </a:rPr>
              <a:t> 26: Boxplot </a:t>
            </a:r>
            <a:r>
              <a:rPr lang="en-US" sz="1400" i="1" dirty="0" err="1">
                <a:solidFill>
                  <a:srgbClr val="000000"/>
                </a:solidFill>
                <a:latin typeface="Times New Roman" panose="02020603050405020304" pitchFamily="18" charset="0"/>
              </a:rPr>
              <a:t>ảnh</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hưởng</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nội</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thất</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và</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pháp</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lý</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đến</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giá</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nhà</a:t>
            </a:r>
            <a:endParaRPr lang="en-US" sz="1400" dirty="0"/>
          </a:p>
        </p:txBody>
      </p:sp>
      <p:sp>
        <p:nvSpPr>
          <p:cNvPr id="10" name="TextBox 9">
            <a:extLst>
              <a:ext uri="{FF2B5EF4-FFF2-40B4-BE49-F238E27FC236}">
                <a16:creationId xmlns:a16="http://schemas.microsoft.com/office/drawing/2014/main" id="{43102AF5-F8F0-A417-2D15-9DCA217029F0}"/>
              </a:ext>
            </a:extLst>
          </p:cNvPr>
          <p:cNvSpPr txBox="1"/>
          <p:nvPr/>
        </p:nvSpPr>
        <p:spPr>
          <a:xfrm>
            <a:off x="3910292" y="6119624"/>
            <a:ext cx="4645993" cy="307777"/>
          </a:xfrm>
          <a:prstGeom prst="rect">
            <a:avLst/>
          </a:prstGeom>
          <a:noFill/>
        </p:spPr>
        <p:txBody>
          <a:bodyPr wrap="square">
            <a:spAutoFit/>
          </a:bodyPr>
          <a:lstStyle/>
          <a:p>
            <a:r>
              <a:rPr lang="en-US" sz="1400" b="0" i="1" u="none" strike="noStrike" dirty="0" err="1">
                <a:solidFill>
                  <a:srgbClr val="000000"/>
                </a:solidFill>
                <a:effectLst/>
                <a:latin typeface="Times New Roman" panose="02020603050405020304" pitchFamily="18" charset="0"/>
              </a:rPr>
              <a:t>Hình</a:t>
            </a:r>
            <a:r>
              <a:rPr lang="en-US" sz="1400" b="0" i="1" u="none" strike="noStrike" dirty="0">
                <a:solidFill>
                  <a:srgbClr val="000000"/>
                </a:solidFill>
                <a:effectLst/>
                <a:latin typeface="Times New Roman" panose="02020603050405020304" pitchFamily="18" charset="0"/>
              </a:rPr>
              <a:t> 28:</a:t>
            </a:r>
            <a:r>
              <a:rPr lang="en-US" sz="1400" i="1" dirty="0">
                <a:solidFill>
                  <a:srgbClr val="000000"/>
                </a:solidFill>
                <a:latin typeface="Times New Roman" panose="02020603050405020304" pitchFamily="18" charset="0"/>
              </a:rPr>
              <a:t>Giá </a:t>
            </a:r>
            <a:r>
              <a:rPr lang="en-US" sz="1400" i="1" dirty="0" err="1">
                <a:solidFill>
                  <a:srgbClr val="000000"/>
                </a:solidFill>
                <a:latin typeface="Times New Roman" panose="02020603050405020304" pitchFamily="18" charset="0"/>
              </a:rPr>
              <a:t>trị</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trung</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vị</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theo</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thành</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phố</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và</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mức</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độ</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nội</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thất</a:t>
            </a:r>
            <a:endParaRPr lang="en-US" sz="1400" dirty="0"/>
          </a:p>
        </p:txBody>
      </p:sp>
      <p:sp>
        <p:nvSpPr>
          <p:cNvPr id="18" name="TextBox 17">
            <a:extLst>
              <a:ext uri="{FF2B5EF4-FFF2-40B4-BE49-F238E27FC236}">
                <a16:creationId xmlns:a16="http://schemas.microsoft.com/office/drawing/2014/main" id="{C7C25D58-3ABF-5E03-17A5-8B51AC9B9736}"/>
              </a:ext>
            </a:extLst>
          </p:cNvPr>
          <p:cNvSpPr txBox="1"/>
          <p:nvPr/>
        </p:nvSpPr>
        <p:spPr>
          <a:xfrm>
            <a:off x="6628980" y="3599595"/>
            <a:ext cx="4645993" cy="307777"/>
          </a:xfrm>
          <a:prstGeom prst="rect">
            <a:avLst/>
          </a:prstGeom>
          <a:noFill/>
        </p:spPr>
        <p:txBody>
          <a:bodyPr wrap="square">
            <a:spAutoFit/>
          </a:bodyPr>
          <a:lstStyle/>
          <a:p>
            <a:r>
              <a:rPr lang="en-US" sz="1400" b="0" i="1" u="none" strike="noStrike" dirty="0" err="1">
                <a:solidFill>
                  <a:srgbClr val="000000"/>
                </a:solidFill>
                <a:effectLst/>
                <a:latin typeface="Times New Roman" panose="02020603050405020304" pitchFamily="18" charset="0"/>
              </a:rPr>
              <a:t>Hình</a:t>
            </a:r>
            <a:r>
              <a:rPr lang="en-US" sz="1400" b="0" i="1" u="none" strike="noStrike" dirty="0">
                <a:solidFill>
                  <a:srgbClr val="000000"/>
                </a:solidFill>
                <a:effectLst/>
                <a:latin typeface="Times New Roman" panose="02020603050405020304" pitchFamily="18" charset="0"/>
              </a:rPr>
              <a:t> 27:</a:t>
            </a:r>
            <a:r>
              <a:rPr lang="en-US" sz="1400" i="1" dirty="0">
                <a:solidFill>
                  <a:srgbClr val="000000"/>
                </a:solidFill>
                <a:latin typeface="Times New Roman" panose="02020603050405020304" pitchFamily="18" charset="0"/>
              </a:rPr>
              <a:t>So </a:t>
            </a:r>
            <a:r>
              <a:rPr lang="en-US" sz="1400" i="1" dirty="0" err="1">
                <a:solidFill>
                  <a:srgbClr val="000000"/>
                </a:solidFill>
                <a:latin typeface="Times New Roman" panose="02020603050405020304" pitchFamily="18" charset="0"/>
              </a:rPr>
              <a:t>sánh</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giá</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trung</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vị</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dựa</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trên</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pháp</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lý</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và</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nội</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thất</a:t>
            </a:r>
            <a:endParaRPr lang="en-US" sz="1400" dirty="0"/>
          </a:p>
        </p:txBody>
      </p:sp>
    </p:spTree>
    <p:extLst>
      <p:ext uri="{BB962C8B-B14F-4D97-AF65-F5344CB8AC3E}">
        <p14:creationId xmlns:p14="http://schemas.microsoft.com/office/powerpoint/2010/main" val="33100978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26630-8E81-D291-6062-41A38D15D233}"/>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A0E01780-E7FF-7C63-9605-30BFBFC07DE3}"/>
              </a:ext>
            </a:extLst>
          </p:cNvPr>
          <p:cNvSpPr>
            <a:spLocks noGrp="1"/>
          </p:cNvSpPr>
          <p:nvPr>
            <p:ph type="title"/>
          </p:nvPr>
        </p:nvSpPr>
        <p:spPr>
          <a:xfrm>
            <a:off x="629200" y="77167"/>
            <a:ext cx="10962800" cy="894000"/>
          </a:xfrm>
        </p:spPr>
        <p:txBody>
          <a:bodyPr/>
          <a:lstStyle/>
          <a:p>
            <a:r>
              <a:rPr lang="en" sz="4800" b="1" dirty="0"/>
              <a:t>Phương pháp tiếp cận</a:t>
            </a:r>
            <a:endParaRPr lang="en-US" sz="4800" b="1" dirty="0"/>
          </a:p>
        </p:txBody>
      </p:sp>
      <p:sp>
        <p:nvSpPr>
          <p:cNvPr id="12" name="Text Placeholder 2">
            <a:extLst>
              <a:ext uri="{FF2B5EF4-FFF2-40B4-BE49-F238E27FC236}">
                <a16:creationId xmlns:a16="http://schemas.microsoft.com/office/drawing/2014/main" id="{7A38E5FD-8803-B4B8-DC42-1BD7AA60C44E}"/>
              </a:ext>
            </a:extLst>
          </p:cNvPr>
          <p:cNvSpPr txBox="1">
            <a:spLocks/>
          </p:cNvSpPr>
          <p:nvPr/>
        </p:nvSpPr>
        <p:spPr>
          <a:xfrm>
            <a:off x="0" y="971167"/>
            <a:ext cx="10962800" cy="55192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609585" marR="0" lvl="0" indent="-491054" algn="l" rtl="0">
              <a:lnSpc>
                <a:spcPct val="115000"/>
              </a:lnSpc>
              <a:spcBef>
                <a:spcPts val="0"/>
              </a:spcBef>
              <a:spcAft>
                <a:spcPts val="0"/>
              </a:spcAft>
              <a:buClr>
                <a:srgbClr val="000000"/>
              </a:buClr>
              <a:buSzPts val="2200"/>
              <a:buFont typeface="Roboto"/>
              <a:buChar char="●"/>
              <a:defRPr sz="2933" b="0" i="0" u="none" strike="noStrike" cap="none">
                <a:solidFill>
                  <a:srgbClr val="000000"/>
                </a:solidFill>
                <a:latin typeface="Roboto"/>
                <a:ea typeface="Roboto"/>
                <a:cs typeface="Roboto"/>
                <a:sym typeface="Roboto"/>
              </a:defRPr>
            </a:lvl1pPr>
            <a:lvl2pPr marL="1219170" marR="0" lvl="1" indent="-474121" algn="l" rtl="0">
              <a:lnSpc>
                <a:spcPct val="115000"/>
              </a:lnSpc>
              <a:spcBef>
                <a:spcPts val="2133"/>
              </a:spcBef>
              <a:spcAft>
                <a:spcPts val="0"/>
              </a:spcAft>
              <a:buClr>
                <a:srgbClr val="000000"/>
              </a:buClr>
              <a:buSzPts val="2000"/>
              <a:buFont typeface="Roboto"/>
              <a:buChar char="○"/>
              <a:defRPr sz="2667" b="0" i="0" u="none" strike="noStrike" cap="none">
                <a:solidFill>
                  <a:srgbClr val="000000"/>
                </a:solidFill>
                <a:latin typeface="Roboto"/>
                <a:ea typeface="Roboto"/>
                <a:cs typeface="Roboto"/>
                <a:sym typeface="Roboto"/>
              </a:defRPr>
            </a:lvl2pPr>
            <a:lvl3pPr marL="1828754" marR="0" lvl="2" indent="-457189" algn="l" rtl="0">
              <a:lnSpc>
                <a:spcPct val="115000"/>
              </a:lnSpc>
              <a:spcBef>
                <a:spcPts val="2133"/>
              </a:spcBef>
              <a:spcAft>
                <a:spcPts val="0"/>
              </a:spcAft>
              <a:buClr>
                <a:srgbClr val="000000"/>
              </a:buClr>
              <a:buSzPts val="1800"/>
              <a:buFont typeface="Roboto"/>
              <a:buChar char="■"/>
              <a:defRPr sz="2400" b="0" i="0" u="none" strike="noStrike" cap="none">
                <a:solidFill>
                  <a:srgbClr val="000000"/>
                </a:solidFill>
                <a:latin typeface="Roboto"/>
                <a:ea typeface="Roboto"/>
                <a:cs typeface="Roboto"/>
                <a:sym typeface="Roboto"/>
              </a:defRPr>
            </a:lvl3pPr>
            <a:lvl4pPr marL="2438339" marR="0" lvl="3" indent="-440256" algn="l" rtl="0">
              <a:lnSpc>
                <a:spcPct val="115000"/>
              </a:lnSpc>
              <a:spcBef>
                <a:spcPts val="2133"/>
              </a:spcBef>
              <a:spcAft>
                <a:spcPts val="0"/>
              </a:spcAft>
              <a:buClr>
                <a:srgbClr val="000000"/>
              </a:buClr>
              <a:buSzPts val="1600"/>
              <a:buFont typeface="Roboto"/>
              <a:buChar char="●"/>
              <a:defRPr sz="2133" b="0" i="0" u="none" strike="noStrike" cap="none">
                <a:solidFill>
                  <a:srgbClr val="000000"/>
                </a:solidFill>
                <a:latin typeface="Roboto"/>
                <a:ea typeface="Roboto"/>
                <a:cs typeface="Roboto"/>
                <a:sym typeface="Roboto"/>
              </a:defRPr>
            </a:lvl4pPr>
            <a:lvl5pPr marL="3047924" marR="0" lvl="4" indent="-423323" algn="l" rtl="0">
              <a:lnSpc>
                <a:spcPct val="115000"/>
              </a:lnSpc>
              <a:spcBef>
                <a:spcPts val="2133"/>
              </a:spcBef>
              <a:spcAft>
                <a:spcPts val="0"/>
              </a:spcAft>
              <a:buClr>
                <a:srgbClr val="000000"/>
              </a:buClr>
              <a:buSzPts val="1400"/>
              <a:buFont typeface="Roboto"/>
              <a:buChar char="○"/>
              <a:defRPr sz="1867" b="0" i="0" u="none" strike="noStrike" cap="none">
                <a:solidFill>
                  <a:srgbClr val="000000"/>
                </a:solidFill>
                <a:latin typeface="Roboto"/>
                <a:ea typeface="Roboto"/>
                <a:cs typeface="Roboto"/>
                <a:sym typeface="Roboto"/>
              </a:defRPr>
            </a:lvl5pPr>
            <a:lvl6pPr marL="3657509" marR="0" lvl="5" indent="-423323" algn="l" rtl="0">
              <a:lnSpc>
                <a:spcPct val="115000"/>
              </a:lnSpc>
              <a:spcBef>
                <a:spcPts val="2133"/>
              </a:spcBef>
              <a:spcAft>
                <a:spcPts val="0"/>
              </a:spcAft>
              <a:buClr>
                <a:srgbClr val="000000"/>
              </a:buClr>
              <a:buSzPts val="1400"/>
              <a:buFont typeface="Roboto"/>
              <a:buChar char="■"/>
              <a:defRPr sz="1867" b="0" i="0" u="none" strike="noStrike" cap="none">
                <a:solidFill>
                  <a:srgbClr val="000000"/>
                </a:solidFill>
                <a:latin typeface="Roboto"/>
                <a:ea typeface="Roboto"/>
                <a:cs typeface="Roboto"/>
                <a:sym typeface="Roboto"/>
              </a:defRPr>
            </a:lvl6pPr>
            <a:lvl7pPr marL="4267093" marR="0" lvl="6" indent="-423323" algn="l" rtl="0">
              <a:lnSpc>
                <a:spcPct val="115000"/>
              </a:lnSpc>
              <a:spcBef>
                <a:spcPts val="2133"/>
              </a:spcBef>
              <a:spcAft>
                <a:spcPts val="0"/>
              </a:spcAft>
              <a:buClr>
                <a:srgbClr val="000000"/>
              </a:buClr>
              <a:buSzPts val="1400"/>
              <a:buFont typeface="Roboto"/>
              <a:buChar char="●"/>
              <a:defRPr sz="1867" b="0" i="0" u="none" strike="noStrike" cap="none">
                <a:solidFill>
                  <a:srgbClr val="000000"/>
                </a:solidFill>
                <a:latin typeface="Roboto"/>
                <a:ea typeface="Roboto"/>
                <a:cs typeface="Roboto"/>
                <a:sym typeface="Roboto"/>
              </a:defRPr>
            </a:lvl7pPr>
            <a:lvl8pPr marL="4876678" marR="0" lvl="7" indent="-423323" algn="l" rtl="0">
              <a:lnSpc>
                <a:spcPct val="115000"/>
              </a:lnSpc>
              <a:spcBef>
                <a:spcPts val="2133"/>
              </a:spcBef>
              <a:spcAft>
                <a:spcPts val="0"/>
              </a:spcAft>
              <a:buClr>
                <a:srgbClr val="000000"/>
              </a:buClr>
              <a:buSzPts val="1400"/>
              <a:buFont typeface="Roboto"/>
              <a:buChar char="○"/>
              <a:defRPr sz="1867" b="0" i="0" u="none" strike="noStrike" cap="none">
                <a:solidFill>
                  <a:srgbClr val="000000"/>
                </a:solidFill>
                <a:latin typeface="Roboto"/>
                <a:ea typeface="Roboto"/>
                <a:cs typeface="Roboto"/>
                <a:sym typeface="Roboto"/>
              </a:defRPr>
            </a:lvl8pPr>
            <a:lvl9pPr marL="5486263" marR="0" lvl="8" indent="-423323" algn="l" rtl="0">
              <a:lnSpc>
                <a:spcPct val="115000"/>
              </a:lnSpc>
              <a:spcBef>
                <a:spcPts val="2133"/>
              </a:spcBef>
              <a:spcAft>
                <a:spcPts val="2133"/>
              </a:spcAft>
              <a:buClr>
                <a:schemeClr val="lt2"/>
              </a:buClr>
              <a:buSzPts val="1400"/>
              <a:buFont typeface="Roboto"/>
              <a:buChar char="■"/>
              <a:defRPr sz="1867" b="0" i="0" u="none" strike="noStrike" cap="none">
                <a:solidFill>
                  <a:schemeClr val="lt2"/>
                </a:solidFill>
                <a:latin typeface="Roboto"/>
                <a:ea typeface="Roboto"/>
                <a:cs typeface="Roboto"/>
                <a:sym typeface="Roboto"/>
              </a:defRPr>
            </a:lvl9pPr>
          </a:lstStyle>
          <a:p>
            <a:pPr marL="118531" indent="0">
              <a:buFont typeface="Roboto"/>
              <a:buNone/>
            </a:pPr>
            <a:r>
              <a:rPr lang="en-US" sz="2000" b="1" kern="0" dirty="0"/>
              <a:t>6. </a:t>
            </a:r>
            <a:r>
              <a:rPr lang="en-US" sz="2000" b="1" kern="0" dirty="0" err="1"/>
              <a:t>Xây</a:t>
            </a:r>
            <a:r>
              <a:rPr lang="en-US" sz="2000" b="1" kern="0" dirty="0"/>
              <a:t> </a:t>
            </a:r>
            <a:r>
              <a:rPr lang="en-US" sz="2000" b="1" kern="0" dirty="0" err="1"/>
              <a:t>dựng</a:t>
            </a:r>
            <a:r>
              <a:rPr lang="en-US" sz="2000" b="1" kern="0" dirty="0"/>
              <a:t> </a:t>
            </a:r>
            <a:r>
              <a:rPr lang="en-US" sz="2000" b="1" kern="0" dirty="0" err="1"/>
              <a:t>phân</a:t>
            </a:r>
            <a:r>
              <a:rPr lang="en-US" sz="2000" b="1" kern="0" dirty="0"/>
              <a:t> </a:t>
            </a:r>
            <a:r>
              <a:rPr lang="en-US" sz="2000" b="1" kern="0" dirty="0" err="1"/>
              <a:t>cụm</a:t>
            </a:r>
            <a:endParaRPr lang="en-US" sz="2000" b="1" kern="0" dirty="0"/>
          </a:p>
        </p:txBody>
      </p:sp>
      <p:sp>
        <p:nvSpPr>
          <p:cNvPr id="3" name="TextBox 2">
            <a:extLst>
              <a:ext uri="{FF2B5EF4-FFF2-40B4-BE49-F238E27FC236}">
                <a16:creationId xmlns:a16="http://schemas.microsoft.com/office/drawing/2014/main" id="{F514A766-EBEE-0E29-749B-4FE2F4C414B4}"/>
              </a:ext>
            </a:extLst>
          </p:cNvPr>
          <p:cNvSpPr txBox="1"/>
          <p:nvPr/>
        </p:nvSpPr>
        <p:spPr>
          <a:xfrm>
            <a:off x="182680" y="1523087"/>
            <a:ext cx="11094720" cy="1231106"/>
          </a:xfrm>
          <a:prstGeom prst="rect">
            <a:avLst/>
          </a:prstGeom>
          <a:noFill/>
        </p:spPr>
        <p:txBody>
          <a:bodyPr wrap="square">
            <a:spAutoFit/>
          </a:bodyPr>
          <a:lstStyle/>
          <a:p>
            <a:pPr indent="457200" rtl="0">
              <a:spcBef>
                <a:spcPts val="1200"/>
              </a:spcBef>
              <a:spcAft>
                <a:spcPts val="1200"/>
              </a:spcAft>
              <a:buNone/>
            </a:pPr>
            <a:r>
              <a:rPr lang="vi-VN" sz="1800" b="0" i="0" u="none" strike="noStrike" dirty="0">
                <a:solidFill>
                  <a:srgbClr val="000000"/>
                </a:solidFill>
                <a:effectLst/>
                <a:latin typeface="Times New Roman" panose="02020603050405020304" pitchFamily="18" charset="0"/>
              </a:rPr>
              <a:t>Các biến đầu vào bao gồm các đặc điểm vật lý của bất động sản:</a:t>
            </a:r>
            <a:r>
              <a:rPr lang="en-US" dirty="0"/>
              <a:t> </a:t>
            </a:r>
            <a:r>
              <a:rPr lang="vi-VN" sz="1800" b="0" i="0" u="none" strike="noStrike" dirty="0">
                <a:solidFill>
                  <a:srgbClr val="000000"/>
                </a:solidFill>
                <a:effectLst/>
                <a:latin typeface="Times New Roman" panose="02020603050405020304" pitchFamily="18" charset="0"/>
              </a:rPr>
              <a:t>Area (Diện tích)</a:t>
            </a:r>
            <a:r>
              <a:rPr lang="en-US" sz="1800" b="0" i="0" u="none" strike="noStrike" dirty="0">
                <a:solidFill>
                  <a:srgbClr val="000000"/>
                </a:solidFill>
                <a:effectLst/>
                <a:latin typeface="Times New Roman" panose="02020603050405020304" pitchFamily="18" charset="0"/>
              </a:rPr>
              <a:t>, </a:t>
            </a:r>
            <a:r>
              <a:rPr lang="vi-VN" sz="1800" b="0" i="0" u="none" strike="noStrike" dirty="0">
                <a:solidFill>
                  <a:srgbClr val="000000"/>
                </a:solidFill>
                <a:effectLst/>
                <a:latin typeface="Times New Roman" panose="02020603050405020304" pitchFamily="18" charset="0"/>
              </a:rPr>
              <a:t>Frontage (Mặt tiền)</a:t>
            </a:r>
            <a:r>
              <a:rPr lang="en-US" sz="1800" b="0" i="0" u="none" strike="noStrike" dirty="0">
                <a:solidFill>
                  <a:srgbClr val="000000"/>
                </a:solidFill>
                <a:effectLst/>
                <a:latin typeface="Times New Roman" panose="02020603050405020304" pitchFamily="18" charset="0"/>
              </a:rPr>
              <a:t>, </a:t>
            </a:r>
            <a:r>
              <a:rPr lang="vi-VN" sz="1800" b="0" i="0" u="none" strike="noStrike" dirty="0">
                <a:solidFill>
                  <a:srgbClr val="000000"/>
                </a:solidFill>
                <a:effectLst/>
                <a:latin typeface="Times New Roman" panose="02020603050405020304" pitchFamily="18" charset="0"/>
              </a:rPr>
              <a:t>Access Road (Độ rộng đường vào)</a:t>
            </a:r>
            <a:r>
              <a:rPr lang="en-US" sz="1800" b="0" i="0" u="none" strike="noStrike" dirty="0">
                <a:solidFill>
                  <a:srgbClr val="000000"/>
                </a:solidFill>
                <a:effectLst/>
                <a:latin typeface="Times New Roman" panose="02020603050405020304" pitchFamily="18" charset="0"/>
              </a:rPr>
              <a:t>, </a:t>
            </a:r>
            <a:r>
              <a:rPr lang="vi-VN" sz="1800" b="0" i="0" u="none" strike="noStrike" dirty="0">
                <a:solidFill>
                  <a:srgbClr val="000000"/>
                </a:solidFill>
                <a:effectLst/>
                <a:latin typeface="Times New Roman" panose="02020603050405020304" pitchFamily="18" charset="0"/>
              </a:rPr>
              <a:t>Floors (Số tầng)</a:t>
            </a:r>
            <a:r>
              <a:rPr lang="en-US" sz="1800" b="0" i="0" u="none" strike="noStrike" dirty="0">
                <a:solidFill>
                  <a:srgbClr val="000000"/>
                </a:solidFill>
                <a:effectLst/>
                <a:latin typeface="Times New Roman" panose="02020603050405020304" pitchFamily="18" charset="0"/>
              </a:rPr>
              <a:t>, </a:t>
            </a:r>
            <a:r>
              <a:rPr lang="vi-VN" sz="1800" b="0" i="0" u="none" strike="noStrike" dirty="0">
                <a:solidFill>
                  <a:srgbClr val="000000"/>
                </a:solidFill>
                <a:effectLst/>
                <a:latin typeface="Times New Roman" panose="02020603050405020304" pitchFamily="18" charset="0"/>
              </a:rPr>
              <a:t>Bedrooms (Số phòng ngủ)</a:t>
            </a:r>
            <a:r>
              <a:rPr lang="en-US" sz="1800" b="0" i="0" u="none" strike="noStrike" dirty="0">
                <a:solidFill>
                  <a:srgbClr val="000000"/>
                </a:solidFill>
                <a:effectLst/>
                <a:latin typeface="Times New Roman" panose="02020603050405020304" pitchFamily="18" charset="0"/>
              </a:rPr>
              <a:t>, </a:t>
            </a:r>
            <a:r>
              <a:rPr lang="vi-VN" sz="1800" b="0" i="0" u="none" strike="noStrike" dirty="0">
                <a:solidFill>
                  <a:srgbClr val="000000"/>
                </a:solidFill>
                <a:effectLst/>
                <a:latin typeface="Times New Roman" panose="02020603050405020304" pitchFamily="18" charset="0"/>
              </a:rPr>
              <a:t>Bathrooms (Số phòng tắm)</a:t>
            </a:r>
            <a:r>
              <a:rPr lang="en-US" sz="1800" b="0" i="0" u="none" strike="noStrike" dirty="0">
                <a:solidFill>
                  <a:srgbClr val="000000"/>
                </a:solidFill>
                <a:effectLst/>
                <a:latin typeface="Times New Roman" panose="02020603050405020304" pitchFamily="18" charset="0"/>
              </a:rPr>
              <a:t>.</a:t>
            </a:r>
          </a:p>
          <a:p>
            <a:pPr indent="457200" rtl="0">
              <a:spcBef>
                <a:spcPts val="1200"/>
              </a:spcBef>
              <a:spcAft>
                <a:spcPts val="1200"/>
              </a:spcAft>
              <a:buNone/>
            </a:pPr>
            <a:r>
              <a:rPr lang="en-US" dirty="0" err="1">
                <a:solidFill>
                  <a:srgbClr val="000000"/>
                </a:solidFill>
                <a:latin typeface="Times New Roman" panose="02020603050405020304" pitchFamily="18" charset="0"/>
              </a:rPr>
              <a:t>Số</a:t>
            </a:r>
            <a:r>
              <a:rPr lang="en-US" dirty="0">
                <a:solidFill>
                  <a:srgbClr val="000000"/>
                </a:solidFill>
                <a:latin typeface="Times New Roman" panose="02020603050405020304" pitchFamily="18" charset="0"/>
              </a:rPr>
              <a:t> </a:t>
            </a:r>
            <a:r>
              <a:rPr lang="en-US" dirty="0" err="1">
                <a:solidFill>
                  <a:srgbClr val="000000"/>
                </a:solidFill>
                <a:latin typeface="Times New Roman" panose="02020603050405020304" pitchFamily="18" charset="0"/>
              </a:rPr>
              <a:t>cụm</a:t>
            </a:r>
            <a:r>
              <a:rPr lang="en-US" dirty="0">
                <a:solidFill>
                  <a:srgbClr val="000000"/>
                </a:solidFill>
                <a:latin typeface="Times New Roman" panose="02020603050405020304" pitchFamily="18" charset="0"/>
              </a:rPr>
              <a:t> </a:t>
            </a:r>
            <a:r>
              <a:rPr lang="en-US" dirty="0" err="1">
                <a:solidFill>
                  <a:srgbClr val="000000"/>
                </a:solidFill>
                <a:latin typeface="Times New Roman" panose="02020603050405020304" pitchFamily="18" charset="0"/>
              </a:rPr>
              <a:t>tối</a:t>
            </a:r>
            <a:r>
              <a:rPr lang="en-US" dirty="0">
                <a:solidFill>
                  <a:srgbClr val="000000"/>
                </a:solidFill>
                <a:latin typeface="Times New Roman" panose="02020603050405020304" pitchFamily="18" charset="0"/>
              </a:rPr>
              <a:t> </a:t>
            </a:r>
            <a:r>
              <a:rPr lang="en-US" dirty="0" err="1">
                <a:solidFill>
                  <a:srgbClr val="000000"/>
                </a:solidFill>
                <a:latin typeface="Times New Roman" panose="02020603050405020304" pitchFamily="18" charset="0"/>
              </a:rPr>
              <a:t>ưu</a:t>
            </a:r>
            <a:r>
              <a:rPr lang="en-US" dirty="0">
                <a:solidFill>
                  <a:srgbClr val="000000"/>
                </a:solidFill>
                <a:latin typeface="Times New Roman" panose="02020603050405020304" pitchFamily="18" charset="0"/>
              </a:rPr>
              <a:t> </a:t>
            </a:r>
            <a:r>
              <a:rPr lang="en-US" dirty="0" err="1">
                <a:solidFill>
                  <a:srgbClr val="000000"/>
                </a:solidFill>
                <a:latin typeface="Times New Roman" panose="02020603050405020304" pitchFamily="18" charset="0"/>
              </a:rPr>
              <a:t>là</a:t>
            </a:r>
            <a:r>
              <a:rPr lang="en-US" dirty="0">
                <a:solidFill>
                  <a:srgbClr val="000000"/>
                </a:solidFill>
                <a:latin typeface="Times New Roman" panose="02020603050405020304" pitchFamily="18" charset="0"/>
              </a:rPr>
              <a:t> K=3</a:t>
            </a:r>
            <a:endParaRPr lang="vi-VN" b="0" dirty="0">
              <a:effectLst/>
            </a:endParaRPr>
          </a:p>
        </p:txBody>
      </p:sp>
      <p:pic>
        <p:nvPicPr>
          <p:cNvPr id="6146" name="Picture 2">
            <a:extLst>
              <a:ext uri="{FF2B5EF4-FFF2-40B4-BE49-F238E27FC236}">
                <a16:creationId xmlns:a16="http://schemas.microsoft.com/office/drawing/2014/main" id="{792D799C-73C2-4C6B-4A9C-0BB80A163E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4175" y="2754194"/>
            <a:ext cx="4660465" cy="3403890"/>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a:extLst>
              <a:ext uri="{FF2B5EF4-FFF2-40B4-BE49-F238E27FC236}">
                <a16:creationId xmlns:a16="http://schemas.microsoft.com/office/drawing/2014/main" id="{7DDAD6F9-7589-2489-DB40-A56755B5A4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73521" y="2835473"/>
            <a:ext cx="4267200" cy="322588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18ECBC4-6429-F2AF-A068-CC7456CAD380}"/>
              </a:ext>
            </a:extLst>
          </p:cNvPr>
          <p:cNvSpPr txBox="1"/>
          <p:nvPr/>
        </p:nvSpPr>
        <p:spPr>
          <a:xfrm>
            <a:off x="3773003" y="6097840"/>
            <a:ext cx="5056037" cy="307777"/>
          </a:xfrm>
          <a:prstGeom prst="rect">
            <a:avLst/>
          </a:prstGeom>
          <a:noFill/>
        </p:spPr>
        <p:txBody>
          <a:bodyPr wrap="square">
            <a:spAutoFit/>
          </a:bodyPr>
          <a:lstStyle/>
          <a:p>
            <a:r>
              <a:rPr lang="en-US" sz="1400" b="0" i="1" u="none" strike="noStrike" dirty="0" err="1">
                <a:solidFill>
                  <a:srgbClr val="000000"/>
                </a:solidFill>
                <a:effectLst/>
                <a:latin typeface="Times New Roman" panose="02020603050405020304" pitchFamily="18" charset="0"/>
              </a:rPr>
              <a:t>Hình</a:t>
            </a:r>
            <a:r>
              <a:rPr lang="en-US" sz="1400" b="0" i="1" u="none" strike="noStrike" dirty="0">
                <a:solidFill>
                  <a:srgbClr val="000000"/>
                </a:solidFill>
                <a:effectLst/>
                <a:latin typeface="Times New Roman" panose="02020603050405020304" pitchFamily="18" charset="0"/>
              </a:rPr>
              <a:t> 29: Elbow </a:t>
            </a:r>
            <a:r>
              <a:rPr lang="en-US" sz="1400" b="0" i="1" u="none" strike="noStrike" dirty="0" err="1">
                <a:solidFill>
                  <a:srgbClr val="000000"/>
                </a:solidFill>
                <a:effectLst/>
                <a:latin typeface="Times New Roman" panose="02020603050405020304" pitchFamily="18" charset="0"/>
              </a:rPr>
              <a:t>và</a:t>
            </a:r>
            <a:r>
              <a:rPr lang="en-US" sz="1400" b="0" i="1" u="none" strike="noStrike" dirty="0">
                <a:solidFill>
                  <a:srgbClr val="000000"/>
                </a:solidFill>
                <a:effectLst/>
                <a:latin typeface="Times New Roman" panose="02020603050405020304" pitchFamily="18" charset="0"/>
              </a:rPr>
              <a:t> Silhouette </a:t>
            </a:r>
            <a:r>
              <a:rPr lang="en-US" sz="1400" b="0" i="1" u="none" strike="noStrike" dirty="0" err="1">
                <a:solidFill>
                  <a:srgbClr val="000000"/>
                </a:solidFill>
                <a:effectLst/>
                <a:latin typeface="Times New Roman" panose="02020603050405020304" pitchFamily="18" charset="0"/>
              </a:rPr>
              <a:t>xác</a:t>
            </a:r>
            <a:r>
              <a:rPr lang="en-US" sz="1400" b="0" i="1" u="none" strike="noStrike" dirty="0">
                <a:solidFill>
                  <a:srgbClr val="000000"/>
                </a:solidFill>
                <a:effectLst/>
                <a:latin typeface="Times New Roman" panose="02020603050405020304" pitchFamily="18" charset="0"/>
              </a:rPr>
              <a:t> </a:t>
            </a:r>
            <a:r>
              <a:rPr lang="en-US" sz="1400" b="0" i="1" u="none" strike="noStrike" dirty="0" err="1">
                <a:solidFill>
                  <a:srgbClr val="000000"/>
                </a:solidFill>
                <a:effectLst/>
                <a:latin typeface="Times New Roman" panose="02020603050405020304" pitchFamily="18" charset="0"/>
              </a:rPr>
              <a:t>định</a:t>
            </a:r>
            <a:r>
              <a:rPr lang="en-US" sz="1400" b="0" i="1" u="none" strike="noStrike" dirty="0">
                <a:solidFill>
                  <a:srgbClr val="000000"/>
                </a:solidFill>
                <a:effectLst/>
                <a:latin typeface="Times New Roman" panose="02020603050405020304" pitchFamily="18" charset="0"/>
              </a:rPr>
              <a:t> </a:t>
            </a:r>
            <a:r>
              <a:rPr lang="en-US" sz="1400" b="0" i="1" u="none" strike="noStrike" dirty="0" err="1">
                <a:solidFill>
                  <a:srgbClr val="000000"/>
                </a:solidFill>
                <a:effectLst/>
                <a:latin typeface="Times New Roman" panose="02020603050405020304" pitchFamily="18" charset="0"/>
              </a:rPr>
              <a:t>số</a:t>
            </a:r>
            <a:r>
              <a:rPr lang="en-US" sz="1400" b="0" i="1" u="none" strike="noStrike" dirty="0">
                <a:solidFill>
                  <a:srgbClr val="000000"/>
                </a:solidFill>
                <a:effectLst/>
                <a:latin typeface="Times New Roman" panose="02020603050405020304" pitchFamily="18" charset="0"/>
              </a:rPr>
              <a:t> </a:t>
            </a:r>
            <a:r>
              <a:rPr lang="en-US" sz="1400" b="0" i="1" u="none" strike="noStrike" dirty="0" err="1">
                <a:solidFill>
                  <a:srgbClr val="000000"/>
                </a:solidFill>
                <a:effectLst/>
                <a:latin typeface="Times New Roman" panose="02020603050405020304" pitchFamily="18" charset="0"/>
              </a:rPr>
              <a:t>cụm</a:t>
            </a:r>
            <a:r>
              <a:rPr lang="en-US" sz="1400" b="0" i="1" u="none" strike="noStrike" dirty="0">
                <a:solidFill>
                  <a:srgbClr val="000000"/>
                </a:solidFill>
                <a:effectLst/>
                <a:latin typeface="Times New Roman" panose="02020603050405020304" pitchFamily="18" charset="0"/>
              </a:rPr>
              <a:t> </a:t>
            </a:r>
            <a:r>
              <a:rPr lang="en-US" sz="1400" b="0" i="1" u="none" strike="noStrike" dirty="0" err="1">
                <a:solidFill>
                  <a:srgbClr val="000000"/>
                </a:solidFill>
                <a:effectLst/>
                <a:latin typeface="Times New Roman" panose="02020603050405020304" pitchFamily="18" charset="0"/>
              </a:rPr>
              <a:t>tối</a:t>
            </a:r>
            <a:r>
              <a:rPr lang="en-US" sz="1400" b="0" i="1" u="none" strike="noStrike" dirty="0">
                <a:solidFill>
                  <a:srgbClr val="000000"/>
                </a:solidFill>
                <a:effectLst/>
                <a:latin typeface="Times New Roman" panose="02020603050405020304" pitchFamily="18" charset="0"/>
              </a:rPr>
              <a:t> </a:t>
            </a:r>
            <a:r>
              <a:rPr lang="en-US" sz="1400" b="0" i="1" u="none" strike="noStrike" dirty="0" err="1">
                <a:solidFill>
                  <a:srgbClr val="000000"/>
                </a:solidFill>
                <a:effectLst/>
                <a:latin typeface="Times New Roman" panose="02020603050405020304" pitchFamily="18" charset="0"/>
              </a:rPr>
              <a:t>ưu</a:t>
            </a:r>
            <a:r>
              <a:rPr lang="en-US" sz="1400" b="0" i="1" u="none" strike="noStrike" dirty="0">
                <a:solidFill>
                  <a:srgbClr val="000000"/>
                </a:solidFill>
                <a:effectLst/>
                <a:latin typeface="Times New Roman" panose="02020603050405020304" pitchFamily="18" charset="0"/>
              </a:rPr>
              <a:t> </a:t>
            </a:r>
            <a:r>
              <a:rPr lang="en-US" sz="1400" b="0" i="1" u="none" strike="noStrike" dirty="0" err="1">
                <a:solidFill>
                  <a:srgbClr val="000000"/>
                </a:solidFill>
                <a:effectLst/>
                <a:latin typeface="Times New Roman" panose="02020603050405020304" pitchFamily="18" charset="0"/>
              </a:rPr>
              <a:t>cho</a:t>
            </a:r>
            <a:r>
              <a:rPr lang="en-US" sz="1400" b="0" i="1" u="none" strike="noStrike" dirty="0">
                <a:solidFill>
                  <a:srgbClr val="000000"/>
                </a:solidFill>
                <a:effectLst/>
                <a:latin typeface="Times New Roman" panose="02020603050405020304" pitchFamily="18" charset="0"/>
              </a:rPr>
              <a:t> K-means</a:t>
            </a:r>
            <a:endParaRPr lang="en-US" sz="1400" dirty="0"/>
          </a:p>
        </p:txBody>
      </p:sp>
    </p:spTree>
    <p:extLst>
      <p:ext uri="{BB962C8B-B14F-4D97-AF65-F5344CB8AC3E}">
        <p14:creationId xmlns:p14="http://schemas.microsoft.com/office/powerpoint/2010/main" val="39175280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3F956B-E132-D823-6A31-1ACACFE1D534}"/>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EBF2A16D-705E-318F-A04A-0DDC93A677D2}"/>
              </a:ext>
            </a:extLst>
          </p:cNvPr>
          <p:cNvSpPr>
            <a:spLocks noGrp="1"/>
          </p:cNvSpPr>
          <p:nvPr>
            <p:ph type="title"/>
          </p:nvPr>
        </p:nvSpPr>
        <p:spPr>
          <a:xfrm>
            <a:off x="629200" y="77167"/>
            <a:ext cx="10962800" cy="894000"/>
          </a:xfrm>
        </p:spPr>
        <p:txBody>
          <a:bodyPr/>
          <a:lstStyle/>
          <a:p>
            <a:r>
              <a:rPr lang="en" sz="4800" b="1" dirty="0"/>
              <a:t>Phương pháp tiếp cận</a:t>
            </a:r>
            <a:endParaRPr lang="en-US" sz="4800" b="1" dirty="0"/>
          </a:p>
        </p:txBody>
      </p:sp>
      <p:sp>
        <p:nvSpPr>
          <p:cNvPr id="12" name="Text Placeholder 2">
            <a:extLst>
              <a:ext uri="{FF2B5EF4-FFF2-40B4-BE49-F238E27FC236}">
                <a16:creationId xmlns:a16="http://schemas.microsoft.com/office/drawing/2014/main" id="{196D30BD-DACE-E1A8-3355-5002B9D083CA}"/>
              </a:ext>
            </a:extLst>
          </p:cNvPr>
          <p:cNvSpPr txBox="1">
            <a:spLocks/>
          </p:cNvSpPr>
          <p:nvPr/>
        </p:nvSpPr>
        <p:spPr>
          <a:xfrm>
            <a:off x="0" y="971167"/>
            <a:ext cx="10962800" cy="55192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609585" marR="0" lvl="0" indent="-491054" algn="l" rtl="0">
              <a:lnSpc>
                <a:spcPct val="115000"/>
              </a:lnSpc>
              <a:spcBef>
                <a:spcPts val="0"/>
              </a:spcBef>
              <a:spcAft>
                <a:spcPts val="0"/>
              </a:spcAft>
              <a:buClr>
                <a:srgbClr val="000000"/>
              </a:buClr>
              <a:buSzPts val="2200"/>
              <a:buFont typeface="Roboto"/>
              <a:buChar char="●"/>
              <a:defRPr sz="2933" b="0" i="0" u="none" strike="noStrike" cap="none">
                <a:solidFill>
                  <a:srgbClr val="000000"/>
                </a:solidFill>
                <a:latin typeface="Roboto"/>
                <a:ea typeface="Roboto"/>
                <a:cs typeface="Roboto"/>
                <a:sym typeface="Roboto"/>
              </a:defRPr>
            </a:lvl1pPr>
            <a:lvl2pPr marL="1219170" marR="0" lvl="1" indent="-474121" algn="l" rtl="0">
              <a:lnSpc>
                <a:spcPct val="115000"/>
              </a:lnSpc>
              <a:spcBef>
                <a:spcPts val="2133"/>
              </a:spcBef>
              <a:spcAft>
                <a:spcPts val="0"/>
              </a:spcAft>
              <a:buClr>
                <a:srgbClr val="000000"/>
              </a:buClr>
              <a:buSzPts val="2000"/>
              <a:buFont typeface="Roboto"/>
              <a:buChar char="○"/>
              <a:defRPr sz="2667" b="0" i="0" u="none" strike="noStrike" cap="none">
                <a:solidFill>
                  <a:srgbClr val="000000"/>
                </a:solidFill>
                <a:latin typeface="Roboto"/>
                <a:ea typeface="Roboto"/>
                <a:cs typeface="Roboto"/>
                <a:sym typeface="Roboto"/>
              </a:defRPr>
            </a:lvl2pPr>
            <a:lvl3pPr marL="1828754" marR="0" lvl="2" indent="-457189" algn="l" rtl="0">
              <a:lnSpc>
                <a:spcPct val="115000"/>
              </a:lnSpc>
              <a:spcBef>
                <a:spcPts val="2133"/>
              </a:spcBef>
              <a:spcAft>
                <a:spcPts val="0"/>
              </a:spcAft>
              <a:buClr>
                <a:srgbClr val="000000"/>
              </a:buClr>
              <a:buSzPts val="1800"/>
              <a:buFont typeface="Roboto"/>
              <a:buChar char="■"/>
              <a:defRPr sz="2400" b="0" i="0" u="none" strike="noStrike" cap="none">
                <a:solidFill>
                  <a:srgbClr val="000000"/>
                </a:solidFill>
                <a:latin typeface="Roboto"/>
                <a:ea typeface="Roboto"/>
                <a:cs typeface="Roboto"/>
                <a:sym typeface="Roboto"/>
              </a:defRPr>
            </a:lvl3pPr>
            <a:lvl4pPr marL="2438339" marR="0" lvl="3" indent="-440256" algn="l" rtl="0">
              <a:lnSpc>
                <a:spcPct val="115000"/>
              </a:lnSpc>
              <a:spcBef>
                <a:spcPts val="2133"/>
              </a:spcBef>
              <a:spcAft>
                <a:spcPts val="0"/>
              </a:spcAft>
              <a:buClr>
                <a:srgbClr val="000000"/>
              </a:buClr>
              <a:buSzPts val="1600"/>
              <a:buFont typeface="Roboto"/>
              <a:buChar char="●"/>
              <a:defRPr sz="2133" b="0" i="0" u="none" strike="noStrike" cap="none">
                <a:solidFill>
                  <a:srgbClr val="000000"/>
                </a:solidFill>
                <a:latin typeface="Roboto"/>
                <a:ea typeface="Roboto"/>
                <a:cs typeface="Roboto"/>
                <a:sym typeface="Roboto"/>
              </a:defRPr>
            </a:lvl4pPr>
            <a:lvl5pPr marL="3047924" marR="0" lvl="4" indent="-423323" algn="l" rtl="0">
              <a:lnSpc>
                <a:spcPct val="115000"/>
              </a:lnSpc>
              <a:spcBef>
                <a:spcPts val="2133"/>
              </a:spcBef>
              <a:spcAft>
                <a:spcPts val="0"/>
              </a:spcAft>
              <a:buClr>
                <a:srgbClr val="000000"/>
              </a:buClr>
              <a:buSzPts val="1400"/>
              <a:buFont typeface="Roboto"/>
              <a:buChar char="○"/>
              <a:defRPr sz="1867" b="0" i="0" u="none" strike="noStrike" cap="none">
                <a:solidFill>
                  <a:srgbClr val="000000"/>
                </a:solidFill>
                <a:latin typeface="Roboto"/>
                <a:ea typeface="Roboto"/>
                <a:cs typeface="Roboto"/>
                <a:sym typeface="Roboto"/>
              </a:defRPr>
            </a:lvl5pPr>
            <a:lvl6pPr marL="3657509" marR="0" lvl="5" indent="-423323" algn="l" rtl="0">
              <a:lnSpc>
                <a:spcPct val="115000"/>
              </a:lnSpc>
              <a:spcBef>
                <a:spcPts val="2133"/>
              </a:spcBef>
              <a:spcAft>
                <a:spcPts val="0"/>
              </a:spcAft>
              <a:buClr>
                <a:srgbClr val="000000"/>
              </a:buClr>
              <a:buSzPts val="1400"/>
              <a:buFont typeface="Roboto"/>
              <a:buChar char="■"/>
              <a:defRPr sz="1867" b="0" i="0" u="none" strike="noStrike" cap="none">
                <a:solidFill>
                  <a:srgbClr val="000000"/>
                </a:solidFill>
                <a:latin typeface="Roboto"/>
                <a:ea typeface="Roboto"/>
                <a:cs typeface="Roboto"/>
                <a:sym typeface="Roboto"/>
              </a:defRPr>
            </a:lvl6pPr>
            <a:lvl7pPr marL="4267093" marR="0" lvl="6" indent="-423323" algn="l" rtl="0">
              <a:lnSpc>
                <a:spcPct val="115000"/>
              </a:lnSpc>
              <a:spcBef>
                <a:spcPts val="2133"/>
              </a:spcBef>
              <a:spcAft>
                <a:spcPts val="0"/>
              </a:spcAft>
              <a:buClr>
                <a:srgbClr val="000000"/>
              </a:buClr>
              <a:buSzPts val="1400"/>
              <a:buFont typeface="Roboto"/>
              <a:buChar char="●"/>
              <a:defRPr sz="1867" b="0" i="0" u="none" strike="noStrike" cap="none">
                <a:solidFill>
                  <a:srgbClr val="000000"/>
                </a:solidFill>
                <a:latin typeface="Roboto"/>
                <a:ea typeface="Roboto"/>
                <a:cs typeface="Roboto"/>
                <a:sym typeface="Roboto"/>
              </a:defRPr>
            </a:lvl7pPr>
            <a:lvl8pPr marL="4876678" marR="0" lvl="7" indent="-423323" algn="l" rtl="0">
              <a:lnSpc>
                <a:spcPct val="115000"/>
              </a:lnSpc>
              <a:spcBef>
                <a:spcPts val="2133"/>
              </a:spcBef>
              <a:spcAft>
                <a:spcPts val="0"/>
              </a:spcAft>
              <a:buClr>
                <a:srgbClr val="000000"/>
              </a:buClr>
              <a:buSzPts val="1400"/>
              <a:buFont typeface="Roboto"/>
              <a:buChar char="○"/>
              <a:defRPr sz="1867" b="0" i="0" u="none" strike="noStrike" cap="none">
                <a:solidFill>
                  <a:srgbClr val="000000"/>
                </a:solidFill>
                <a:latin typeface="Roboto"/>
                <a:ea typeface="Roboto"/>
                <a:cs typeface="Roboto"/>
                <a:sym typeface="Roboto"/>
              </a:defRPr>
            </a:lvl8pPr>
            <a:lvl9pPr marL="5486263" marR="0" lvl="8" indent="-423323" algn="l" rtl="0">
              <a:lnSpc>
                <a:spcPct val="115000"/>
              </a:lnSpc>
              <a:spcBef>
                <a:spcPts val="2133"/>
              </a:spcBef>
              <a:spcAft>
                <a:spcPts val="2133"/>
              </a:spcAft>
              <a:buClr>
                <a:schemeClr val="lt2"/>
              </a:buClr>
              <a:buSzPts val="1400"/>
              <a:buFont typeface="Roboto"/>
              <a:buChar char="■"/>
              <a:defRPr sz="1867" b="0" i="0" u="none" strike="noStrike" cap="none">
                <a:solidFill>
                  <a:schemeClr val="lt2"/>
                </a:solidFill>
                <a:latin typeface="Roboto"/>
                <a:ea typeface="Roboto"/>
                <a:cs typeface="Roboto"/>
                <a:sym typeface="Roboto"/>
              </a:defRPr>
            </a:lvl9pPr>
          </a:lstStyle>
          <a:p>
            <a:pPr marL="118531" indent="0">
              <a:buFont typeface="Roboto"/>
              <a:buNone/>
            </a:pPr>
            <a:r>
              <a:rPr lang="en-US" sz="2000" b="1" kern="0" dirty="0"/>
              <a:t>6. </a:t>
            </a:r>
            <a:r>
              <a:rPr lang="en-US" sz="2000" b="1" kern="0" dirty="0" err="1"/>
              <a:t>Xây</a:t>
            </a:r>
            <a:r>
              <a:rPr lang="en-US" sz="2000" b="1" kern="0" dirty="0"/>
              <a:t> </a:t>
            </a:r>
            <a:r>
              <a:rPr lang="en-US" sz="2000" b="1" kern="0" dirty="0" err="1"/>
              <a:t>dựng</a:t>
            </a:r>
            <a:r>
              <a:rPr lang="en-US" sz="2000" b="1" kern="0" dirty="0"/>
              <a:t> </a:t>
            </a:r>
            <a:r>
              <a:rPr lang="en-US" sz="2000" b="1" kern="0" dirty="0" err="1"/>
              <a:t>phân</a:t>
            </a:r>
            <a:r>
              <a:rPr lang="en-US" sz="2000" b="1" kern="0" dirty="0"/>
              <a:t> </a:t>
            </a:r>
            <a:r>
              <a:rPr lang="en-US" sz="2000" b="1" kern="0" dirty="0" err="1"/>
              <a:t>cụm</a:t>
            </a:r>
            <a:endParaRPr lang="en-US" sz="2000" b="1" kern="0" dirty="0"/>
          </a:p>
        </p:txBody>
      </p:sp>
      <p:sp>
        <p:nvSpPr>
          <p:cNvPr id="10" name="TextBox 9">
            <a:extLst>
              <a:ext uri="{FF2B5EF4-FFF2-40B4-BE49-F238E27FC236}">
                <a16:creationId xmlns:a16="http://schemas.microsoft.com/office/drawing/2014/main" id="{2690165B-7E60-CB79-18AC-80DC7AE8EF6B}"/>
              </a:ext>
            </a:extLst>
          </p:cNvPr>
          <p:cNvSpPr txBox="1"/>
          <p:nvPr/>
        </p:nvSpPr>
        <p:spPr>
          <a:xfrm>
            <a:off x="4031200" y="7287908"/>
            <a:ext cx="2661271" cy="307777"/>
          </a:xfrm>
          <a:prstGeom prst="rect">
            <a:avLst/>
          </a:prstGeom>
          <a:noFill/>
        </p:spPr>
        <p:txBody>
          <a:bodyPr wrap="square">
            <a:spAutoFit/>
          </a:bodyPr>
          <a:lstStyle/>
          <a:p>
            <a:r>
              <a:rPr lang="en-US" sz="1400" b="0" i="1" u="none" strike="noStrike" dirty="0" err="1">
                <a:solidFill>
                  <a:srgbClr val="000000"/>
                </a:solidFill>
                <a:effectLst/>
                <a:latin typeface="Times New Roman" panose="02020603050405020304" pitchFamily="18" charset="0"/>
              </a:rPr>
              <a:t>Hình</a:t>
            </a:r>
            <a:r>
              <a:rPr lang="en-US" sz="1400" b="0" i="1" u="none" strike="noStrike" dirty="0">
                <a:solidFill>
                  <a:srgbClr val="000000"/>
                </a:solidFill>
                <a:effectLst/>
                <a:latin typeface="Times New Roman" panose="02020603050405020304" pitchFamily="18" charset="0"/>
              </a:rPr>
              <a:t> 26: </a:t>
            </a:r>
            <a:r>
              <a:rPr lang="en-US" sz="1400" b="0" i="1" u="none" strike="noStrike" dirty="0" err="1">
                <a:solidFill>
                  <a:srgbClr val="000000"/>
                </a:solidFill>
                <a:effectLst/>
                <a:latin typeface="Times New Roman" panose="02020603050405020304" pitchFamily="18" charset="0"/>
              </a:rPr>
              <a:t>Kết</a:t>
            </a:r>
            <a:r>
              <a:rPr lang="en-US" sz="1400" b="0" i="1" u="none" strike="noStrike" dirty="0">
                <a:solidFill>
                  <a:srgbClr val="000000"/>
                </a:solidFill>
                <a:effectLst/>
                <a:latin typeface="Times New Roman" panose="02020603050405020304" pitchFamily="18" charset="0"/>
              </a:rPr>
              <a:t> </a:t>
            </a:r>
            <a:r>
              <a:rPr lang="en-US" sz="1400" b="0" i="1" u="none" strike="noStrike" dirty="0" err="1">
                <a:solidFill>
                  <a:srgbClr val="000000"/>
                </a:solidFill>
                <a:effectLst/>
                <a:latin typeface="Times New Roman" panose="02020603050405020304" pitchFamily="18" charset="0"/>
              </a:rPr>
              <a:t>qu</a:t>
            </a:r>
            <a:r>
              <a:rPr lang="en-US" sz="1400" i="1" dirty="0" err="1">
                <a:solidFill>
                  <a:srgbClr val="000000"/>
                </a:solidFill>
                <a:latin typeface="Times New Roman" panose="02020603050405020304" pitchFamily="18" charset="0"/>
              </a:rPr>
              <a:t>ả</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phân</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cụm</a:t>
            </a:r>
            <a:endParaRPr lang="en-US" sz="1400" dirty="0"/>
          </a:p>
        </p:txBody>
      </p:sp>
      <p:pic>
        <p:nvPicPr>
          <p:cNvPr id="7170" name="Picture 2">
            <a:extLst>
              <a:ext uri="{FF2B5EF4-FFF2-40B4-BE49-F238E27FC236}">
                <a16:creationId xmlns:a16="http://schemas.microsoft.com/office/drawing/2014/main" id="{AF13EC46-C66C-9F89-CA94-90C0013839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849" y="1457708"/>
            <a:ext cx="5581650" cy="442912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A table with text on it&#10;&#10;AI-generated content may be incorrect.">
            <a:extLst>
              <a:ext uri="{FF2B5EF4-FFF2-40B4-BE49-F238E27FC236}">
                <a16:creationId xmlns:a16="http://schemas.microsoft.com/office/drawing/2014/main" id="{8A711958-E546-C657-9AC9-9816AF499BBA}"/>
              </a:ext>
            </a:extLst>
          </p:cNvPr>
          <p:cNvPicPr>
            <a:picLocks noChangeAspect="1"/>
          </p:cNvPicPr>
          <p:nvPr/>
        </p:nvPicPr>
        <p:blipFill>
          <a:blip r:embed="rId3"/>
          <a:stretch>
            <a:fillRect/>
          </a:stretch>
        </p:blipFill>
        <p:spPr>
          <a:xfrm>
            <a:off x="6352502" y="2557008"/>
            <a:ext cx="4610625" cy="1257443"/>
          </a:xfrm>
          <a:prstGeom prst="rect">
            <a:avLst/>
          </a:prstGeom>
        </p:spPr>
      </p:pic>
      <p:sp>
        <p:nvSpPr>
          <p:cNvPr id="7" name="TextBox 6">
            <a:extLst>
              <a:ext uri="{FF2B5EF4-FFF2-40B4-BE49-F238E27FC236}">
                <a16:creationId xmlns:a16="http://schemas.microsoft.com/office/drawing/2014/main" id="{1BC776AE-3BD7-B472-22D2-E101D014B0E9}"/>
              </a:ext>
            </a:extLst>
          </p:cNvPr>
          <p:cNvSpPr txBox="1"/>
          <p:nvPr/>
        </p:nvSpPr>
        <p:spPr>
          <a:xfrm>
            <a:off x="6352502" y="1989072"/>
            <a:ext cx="6096000" cy="276999"/>
          </a:xfrm>
          <a:prstGeom prst="rect">
            <a:avLst/>
          </a:prstGeom>
          <a:noFill/>
        </p:spPr>
        <p:txBody>
          <a:bodyPr wrap="square">
            <a:spAutoFit/>
          </a:bodyPr>
          <a:lstStyle/>
          <a:p>
            <a:r>
              <a:rPr lang="en-US" sz="1200" b="0" i="0" u="none" strike="noStrike" dirty="0" err="1">
                <a:solidFill>
                  <a:srgbClr val="000000"/>
                </a:solidFill>
                <a:effectLst/>
                <a:latin typeface="Times New Roman" panose="02020603050405020304" pitchFamily="18" charset="0"/>
              </a:rPr>
              <a:t>Cụm</a:t>
            </a:r>
            <a:r>
              <a:rPr lang="en-US" sz="1200" b="0" i="0" u="none" strike="noStrike" dirty="0">
                <a:solidFill>
                  <a:srgbClr val="000000"/>
                </a:solidFill>
                <a:effectLst/>
                <a:latin typeface="Times New Roman" panose="02020603050405020304" pitchFamily="18" charset="0"/>
              </a:rPr>
              <a:t> 1 – </a:t>
            </a:r>
            <a:r>
              <a:rPr lang="en-US" sz="1200" b="0" i="0" u="none" strike="noStrike" dirty="0" err="1">
                <a:solidFill>
                  <a:srgbClr val="000000"/>
                </a:solidFill>
                <a:effectLst/>
                <a:latin typeface="Times New Roman" panose="02020603050405020304" pitchFamily="18" charset="0"/>
              </a:rPr>
              <a:t>Nhà</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quy</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mô</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nhỏ</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công</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năng</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thấp</a:t>
            </a:r>
            <a:endParaRPr lang="en-US" sz="1200" dirty="0"/>
          </a:p>
        </p:txBody>
      </p:sp>
      <p:sp>
        <p:nvSpPr>
          <p:cNvPr id="11" name="TextBox 10">
            <a:extLst>
              <a:ext uri="{FF2B5EF4-FFF2-40B4-BE49-F238E27FC236}">
                <a16:creationId xmlns:a16="http://schemas.microsoft.com/office/drawing/2014/main" id="{606883B4-F861-FA02-1EAE-27344314B665}"/>
              </a:ext>
            </a:extLst>
          </p:cNvPr>
          <p:cNvSpPr txBox="1"/>
          <p:nvPr/>
        </p:nvSpPr>
        <p:spPr>
          <a:xfrm>
            <a:off x="6352502" y="1714809"/>
            <a:ext cx="6223000" cy="276999"/>
          </a:xfrm>
          <a:prstGeom prst="rect">
            <a:avLst/>
          </a:prstGeom>
          <a:noFill/>
        </p:spPr>
        <p:txBody>
          <a:bodyPr wrap="square">
            <a:spAutoFit/>
          </a:bodyPr>
          <a:lstStyle/>
          <a:p>
            <a:r>
              <a:rPr lang="en-US" sz="1200" b="0" i="0" u="none" strike="noStrike" dirty="0" err="1">
                <a:solidFill>
                  <a:srgbClr val="000000"/>
                </a:solidFill>
                <a:effectLst/>
                <a:latin typeface="Times New Roman" panose="02020603050405020304" pitchFamily="18" charset="0"/>
              </a:rPr>
              <a:t>Cụm</a:t>
            </a:r>
            <a:r>
              <a:rPr lang="en-US" sz="1200" b="0" i="0" u="none" strike="noStrike" dirty="0">
                <a:solidFill>
                  <a:srgbClr val="000000"/>
                </a:solidFill>
                <a:effectLst/>
                <a:latin typeface="Times New Roman" panose="02020603050405020304" pitchFamily="18" charset="0"/>
              </a:rPr>
              <a:t> 0 – </a:t>
            </a:r>
            <a:r>
              <a:rPr lang="en-US" sz="1200" b="0" i="0" u="none" strike="noStrike" dirty="0" err="1">
                <a:solidFill>
                  <a:srgbClr val="000000"/>
                </a:solidFill>
                <a:effectLst/>
                <a:latin typeface="Times New Roman" panose="02020603050405020304" pitchFamily="18" charset="0"/>
              </a:rPr>
              <a:t>Nhà</a:t>
            </a:r>
            <a:r>
              <a:rPr lang="en-US" sz="1200" b="0" i="0" u="none" strike="noStrike" dirty="0">
                <a:solidFill>
                  <a:srgbClr val="000000"/>
                </a:solidFill>
                <a:effectLst/>
                <a:latin typeface="Times New Roman" panose="02020603050405020304" pitchFamily="18" charset="0"/>
              </a:rPr>
              <a:t> ở </a:t>
            </a:r>
            <a:r>
              <a:rPr lang="en-US" sz="1200" b="0" i="0" u="none" strike="noStrike" dirty="0" err="1">
                <a:solidFill>
                  <a:srgbClr val="000000"/>
                </a:solidFill>
                <a:effectLst/>
                <a:latin typeface="Times New Roman" panose="02020603050405020304" pitchFamily="18" charset="0"/>
              </a:rPr>
              <a:t>gia</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đình</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quy</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mô</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trung</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bình</a:t>
            </a:r>
            <a:endParaRPr lang="en-US" sz="1200" dirty="0"/>
          </a:p>
        </p:txBody>
      </p:sp>
      <p:sp>
        <p:nvSpPr>
          <p:cNvPr id="14" name="TextBox 13">
            <a:extLst>
              <a:ext uri="{FF2B5EF4-FFF2-40B4-BE49-F238E27FC236}">
                <a16:creationId xmlns:a16="http://schemas.microsoft.com/office/drawing/2014/main" id="{07656155-F25D-3C3C-CB69-B7BFC1DBF465}"/>
              </a:ext>
            </a:extLst>
          </p:cNvPr>
          <p:cNvSpPr txBox="1"/>
          <p:nvPr/>
        </p:nvSpPr>
        <p:spPr>
          <a:xfrm>
            <a:off x="6352502" y="2241041"/>
            <a:ext cx="6289040" cy="276999"/>
          </a:xfrm>
          <a:prstGeom prst="rect">
            <a:avLst/>
          </a:prstGeom>
          <a:noFill/>
        </p:spPr>
        <p:txBody>
          <a:bodyPr wrap="square">
            <a:spAutoFit/>
          </a:bodyPr>
          <a:lstStyle/>
          <a:p>
            <a:r>
              <a:rPr lang="en-US" sz="1200" b="0" i="0" u="none" strike="noStrike" dirty="0" err="1">
                <a:solidFill>
                  <a:srgbClr val="000000"/>
                </a:solidFill>
                <a:effectLst/>
                <a:latin typeface="Times New Roman" panose="02020603050405020304" pitchFamily="18" charset="0"/>
              </a:rPr>
              <a:t>Cụm</a:t>
            </a:r>
            <a:r>
              <a:rPr lang="en-US" sz="1200" b="0" i="0" u="none" strike="noStrike" dirty="0">
                <a:solidFill>
                  <a:srgbClr val="000000"/>
                </a:solidFill>
                <a:effectLst/>
                <a:latin typeface="Times New Roman" panose="02020603050405020304" pitchFamily="18" charset="0"/>
              </a:rPr>
              <a:t> 2 – </a:t>
            </a:r>
            <a:r>
              <a:rPr lang="en-US" sz="1200" b="0" i="0" u="none" strike="noStrike" dirty="0" err="1">
                <a:solidFill>
                  <a:srgbClr val="000000"/>
                </a:solidFill>
                <a:effectLst/>
                <a:latin typeface="Times New Roman" panose="02020603050405020304" pitchFamily="18" charset="0"/>
              </a:rPr>
              <a:t>Nhà</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quy</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mô</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lớn</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công</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năng</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cao</a:t>
            </a:r>
            <a:endParaRPr lang="en-US" sz="1200" dirty="0"/>
          </a:p>
        </p:txBody>
      </p:sp>
      <p:pic>
        <p:nvPicPr>
          <p:cNvPr id="7172" name="Picture 4">
            <a:extLst>
              <a:ext uri="{FF2B5EF4-FFF2-40B4-BE49-F238E27FC236}">
                <a16:creationId xmlns:a16="http://schemas.microsoft.com/office/drawing/2014/main" id="{514670E9-E08F-CF17-F8A9-7260A8079D9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92471" y="4120550"/>
            <a:ext cx="3898938" cy="2109849"/>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8F7455A8-281A-E431-B6EA-CEEDEEAE4B03}"/>
              </a:ext>
            </a:extLst>
          </p:cNvPr>
          <p:cNvSpPr txBox="1"/>
          <p:nvPr/>
        </p:nvSpPr>
        <p:spPr>
          <a:xfrm>
            <a:off x="5839499" y="3796464"/>
            <a:ext cx="5918484" cy="307777"/>
          </a:xfrm>
          <a:prstGeom prst="rect">
            <a:avLst/>
          </a:prstGeom>
          <a:noFill/>
        </p:spPr>
        <p:txBody>
          <a:bodyPr wrap="square">
            <a:spAutoFit/>
          </a:bodyPr>
          <a:lstStyle/>
          <a:p>
            <a:r>
              <a:rPr lang="en-US" sz="1400" b="0" i="1" u="none" strike="noStrike" dirty="0" err="1">
                <a:solidFill>
                  <a:srgbClr val="000000"/>
                </a:solidFill>
                <a:effectLst/>
                <a:latin typeface="Times New Roman" panose="02020603050405020304" pitchFamily="18" charset="0"/>
              </a:rPr>
              <a:t>Hình</a:t>
            </a:r>
            <a:r>
              <a:rPr lang="en-US" sz="1400" b="0" i="1" u="none" strike="noStrike" dirty="0">
                <a:solidFill>
                  <a:srgbClr val="000000"/>
                </a:solidFill>
                <a:effectLst/>
                <a:latin typeface="Times New Roman" panose="02020603050405020304" pitchFamily="18" charset="0"/>
              </a:rPr>
              <a:t> 31</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Bảng</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giá</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trị</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trung</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bình</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các</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đặc</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trưng</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vật</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lý</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và</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giá</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nhà</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theo</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từng</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cụm</a:t>
            </a:r>
            <a:endParaRPr lang="en-US" sz="1400" dirty="0"/>
          </a:p>
        </p:txBody>
      </p:sp>
      <p:sp>
        <p:nvSpPr>
          <p:cNvPr id="16" name="TextBox 15">
            <a:extLst>
              <a:ext uri="{FF2B5EF4-FFF2-40B4-BE49-F238E27FC236}">
                <a16:creationId xmlns:a16="http://schemas.microsoft.com/office/drawing/2014/main" id="{5D509E3D-79CE-82F7-556A-1F28A3FAA6EB}"/>
              </a:ext>
            </a:extLst>
          </p:cNvPr>
          <p:cNvSpPr txBox="1"/>
          <p:nvPr/>
        </p:nvSpPr>
        <p:spPr>
          <a:xfrm>
            <a:off x="1710355" y="5888150"/>
            <a:ext cx="3066258" cy="314832"/>
          </a:xfrm>
          <a:prstGeom prst="rect">
            <a:avLst/>
          </a:prstGeom>
          <a:noFill/>
        </p:spPr>
        <p:txBody>
          <a:bodyPr wrap="square">
            <a:spAutoFit/>
          </a:bodyPr>
          <a:lstStyle/>
          <a:p>
            <a:r>
              <a:rPr lang="en-US" sz="1400" b="0" i="1" u="none" strike="noStrike" dirty="0" err="1">
                <a:solidFill>
                  <a:srgbClr val="000000"/>
                </a:solidFill>
                <a:effectLst/>
                <a:latin typeface="Times New Roman" panose="02020603050405020304" pitchFamily="18" charset="0"/>
              </a:rPr>
              <a:t>Hình</a:t>
            </a:r>
            <a:r>
              <a:rPr lang="en-US" sz="1400" b="0" i="1" u="none" strike="noStrike" dirty="0">
                <a:solidFill>
                  <a:srgbClr val="000000"/>
                </a:solidFill>
                <a:effectLst/>
                <a:latin typeface="Times New Roman" panose="02020603050405020304" pitchFamily="18" charset="0"/>
              </a:rPr>
              <a:t> </a:t>
            </a:r>
            <a:r>
              <a:rPr lang="en-US" sz="1400" i="1" dirty="0">
                <a:solidFill>
                  <a:srgbClr val="000000"/>
                </a:solidFill>
                <a:latin typeface="Times New Roman" panose="02020603050405020304" pitchFamily="18" charset="0"/>
              </a:rPr>
              <a:t>30: </a:t>
            </a:r>
            <a:r>
              <a:rPr lang="en-US" sz="1400" i="1" dirty="0" err="1">
                <a:solidFill>
                  <a:srgbClr val="000000"/>
                </a:solidFill>
                <a:latin typeface="Times New Roman" panose="02020603050405020304" pitchFamily="18" charset="0"/>
              </a:rPr>
              <a:t>Kết</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quả</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phân</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cụm</a:t>
            </a:r>
            <a:endParaRPr lang="en-US" sz="1400" dirty="0"/>
          </a:p>
        </p:txBody>
      </p:sp>
      <p:sp>
        <p:nvSpPr>
          <p:cNvPr id="17" name="TextBox 16">
            <a:extLst>
              <a:ext uri="{FF2B5EF4-FFF2-40B4-BE49-F238E27FC236}">
                <a16:creationId xmlns:a16="http://schemas.microsoft.com/office/drawing/2014/main" id="{8AB8FFFF-BF47-A0FA-68B2-0824F679B12B}"/>
              </a:ext>
            </a:extLst>
          </p:cNvPr>
          <p:cNvSpPr txBox="1"/>
          <p:nvPr/>
        </p:nvSpPr>
        <p:spPr>
          <a:xfrm>
            <a:off x="5930939" y="6166143"/>
            <a:ext cx="5918484" cy="307777"/>
          </a:xfrm>
          <a:prstGeom prst="rect">
            <a:avLst/>
          </a:prstGeom>
          <a:noFill/>
        </p:spPr>
        <p:txBody>
          <a:bodyPr wrap="square">
            <a:spAutoFit/>
          </a:bodyPr>
          <a:lstStyle/>
          <a:p>
            <a:pPr algn="ctr"/>
            <a:r>
              <a:rPr lang="en-US" sz="1400" b="0" i="1" u="none" strike="noStrike" dirty="0" err="1">
                <a:solidFill>
                  <a:srgbClr val="000000"/>
                </a:solidFill>
                <a:effectLst/>
                <a:latin typeface="Times New Roman" panose="02020603050405020304" pitchFamily="18" charset="0"/>
              </a:rPr>
              <a:t>Hình</a:t>
            </a:r>
            <a:r>
              <a:rPr lang="en-US" sz="1400" b="0" i="1" u="none" strike="noStrike" dirty="0">
                <a:solidFill>
                  <a:srgbClr val="000000"/>
                </a:solidFill>
                <a:effectLst/>
                <a:latin typeface="Times New Roman" panose="02020603050405020304" pitchFamily="18" charset="0"/>
              </a:rPr>
              <a:t> 32</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Phân</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bố</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giá</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nhà</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theo</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cụm</a:t>
            </a:r>
            <a:endParaRPr lang="en-US" sz="1400" dirty="0"/>
          </a:p>
        </p:txBody>
      </p:sp>
    </p:spTree>
    <p:extLst>
      <p:ext uri="{BB962C8B-B14F-4D97-AF65-F5344CB8AC3E}">
        <p14:creationId xmlns:p14="http://schemas.microsoft.com/office/powerpoint/2010/main" val="6327323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D93BD7-4D89-778C-B2A7-E5E272DDF15A}"/>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1EE76B4B-D576-B966-BA91-DB4B197768B0}"/>
              </a:ext>
            </a:extLst>
          </p:cNvPr>
          <p:cNvSpPr>
            <a:spLocks noGrp="1"/>
          </p:cNvSpPr>
          <p:nvPr>
            <p:ph type="title"/>
          </p:nvPr>
        </p:nvSpPr>
        <p:spPr>
          <a:xfrm>
            <a:off x="629200" y="77167"/>
            <a:ext cx="10962800" cy="894000"/>
          </a:xfrm>
        </p:spPr>
        <p:txBody>
          <a:bodyPr/>
          <a:lstStyle/>
          <a:p>
            <a:r>
              <a:rPr lang="en" sz="4800" b="1" dirty="0"/>
              <a:t>Phương pháp tiếp cận</a:t>
            </a:r>
            <a:endParaRPr lang="en-US" sz="4800" b="1" dirty="0"/>
          </a:p>
        </p:txBody>
      </p:sp>
      <p:sp>
        <p:nvSpPr>
          <p:cNvPr id="12" name="Text Placeholder 2">
            <a:extLst>
              <a:ext uri="{FF2B5EF4-FFF2-40B4-BE49-F238E27FC236}">
                <a16:creationId xmlns:a16="http://schemas.microsoft.com/office/drawing/2014/main" id="{D85A648F-3928-A09C-7D17-A7CF4E83F2BC}"/>
              </a:ext>
            </a:extLst>
          </p:cNvPr>
          <p:cNvSpPr txBox="1">
            <a:spLocks/>
          </p:cNvSpPr>
          <p:nvPr/>
        </p:nvSpPr>
        <p:spPr>
          <a:xfrm>
            <a:off x="0" y="971167"/>
            <a:ext cx="10962800" cy="55192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609585" marR="0" lvl="0" indent="-491054" algn="l" rtl="0">
              <a:lnSpc>
                <a:spcPct val="115000"/>
              </a:lnSpc>
              <a:spcBef>
                <a:spcPts val="0"/>
              </a:spcBef>
              <a:spcAft>
                <a:spcPts val="0"/>
              </a:spcAft>
              <a:buClr>
                <a:srgbClr val="000000"/>
              </a:buClr>
              <a:buSzPts val="2200"/>
              <a:buFont typeface="Roboto"/>
              <a:buChar char="●"/>
              <a:defRPr sz="2933" b="0" i="0" u="none" strike="noStrike" cap="none">
                <a:solidFill>
                  <a:srgbClr val="000000"/>
                </a:solidFill>
                <a:latin typeface="Roboto"/>
                <a:ea typeface="Roboto"/>
                <a:cs typeface="Roboto"/>
                <a:sym typeface="Roboto"/>
              </a:defRPr>
            </a:lvl1pPr>
            <a:lvl2pPr marL="1219170" marR="0" lvl="1" indent="-474121" algn="l" rtl="0">
              <a:lnSpc>
                <a:spcPct val="115000"/>
              </a:lnSpc>
              <a:spcBef>
                <a:spcPts val="2133"/>
              </a:spcBef>
              <a:spcAft>
                <a:spcPts val="0"/>
              </a:spcAft>
              <a:buClr>
                <a:srgbClr val="000000"/>
              </a:buClr>
              <a:buSzPts val="2000"/>
              <a:buFont typeface="Roboto"/>
              <a:buChar char="○"/>
              <a:defRPr sz="2667" b="0" i="0" u="none" strike="noStrike" cap="none">
                <a:solidFill>
                  <a:srgbClr val="000000"/>
                </a:solidFill>
                <a:latin typeface="Roboto"/>
                <a:ea typeface="Roboto"/>
                <a:cs typeface="Roboto"/>
                <a:sym typeface="Roboto"/>
              </a:defRPr>
            </a:lvl2pPr>
            <a:lvl3pPr marL="1828754" marR="0" lvl="2" indent="-457189" algn="l" rtl="0">
              <a:lnSpc>
                <a:spcPct val="115000"/>
              </a:lnSpc>
              <a:spcBef>
                <a:spcPts val="2133"/>
              </a:spcBef>
              <a:spcAft>
                <a:spcPts val="0"/>
              </a:spcAft>
              <a:buClr>
                <a:srgbClr val="000000"/>
              </a:buClr>
              <a:buSzPts val="1800"/>
              <a:buFont typeface="Roboto"/>
              <a:buChar char="■"/>
              <a:defRPr sz="2400" b="0" i="0" u="none" strike="noStrike" cap="none">
                <a:solidFill>
                  <a:srgbClr val="000000"/>
                </a:solidFill>
                <a:latin typeface="Roboto"/>
                <a:ea typeface="Roboto"/>
                <a:cs typeface="Roboto"/>
                <a:sym typeface="Roboto"/>
              </a:defRPr>
            </a:lvl3pPr>
            <a:lvl4pPr marL="2438339" marR="0" lvl="3" indent="-440256" algn="l" rtl="0">
              <a:lnSpc>
                <a:spcPct val="115000"/>
              </a:lnSpc>
              <a:spcBef>
                <a:spcPts val="2133"/>
              </a:spcBef>
              <a:spcAft>
                <a:spcPts val="0"/>
              </a:spcAft>
              <a:buClr>
                <a:srgbClr val="000000"/>
              </a:buClr>
              <a:buSzPts val="1600"/>
              <a:buFont typeface="Roboto"/>
              <a:buChar char="●"/>
              <a:defRPr sz="2133" b="0" i="0" u="none" strike="noStrike" cap="none">
                <a:solidFill>
                  <a:srgbClr val="000000"/>
                </a:solidFill>
                <a:latin typeface="Roboto"/>
                <a:ea typeface="Roboto"/>
                <a:cs typeface="Roboto"/>
                <a:sym typeface="Roboto"/>
              </a:defRPr>
            </a:lvl4pPr>
            <a:lvl5pPr marL="3047924" marR="0" lvl="4" indent="-423323" algn="l" rtl="0">
              <a:lnSpc>
                <a:spcPct val="115000"/>
              </a:lnSpc>
              <a:spcBef>
                <a:spcPts val="2133"/>
              </a:spcBef>
              <a:spcAft>
                <a:spcPts val="0"/>
              </a:spcAft>
              <a:buClr>
                <a:srgbClr val="000000"/>
              </a:buClr>
              <a:buSzPts val="1400"/>
              <a:buFont typeface="Roboto"/>
              <a:buChar char="○"/>
              <a:defRPr sz="1867" b="0" i="0" u="none" strike="noStrike" cap="none">
                <a:solidFill>
                  <a:srgbClr val="000000"/>
                </a:solidFill>
                <a:latin typeface="Roboto"/>
                <a:ea typeface="Roboto"/>
                <a:cs typeface="Roboto"/>
                <a:sym typeface="Roboto"/>
              </a:defRPr>
            </a:lvl5pPr>
            <a:lvl6pPr marL="3657509" marR="0" lvl="5" indent="-423323" algn="l" rtl="0">
              <a:lnSpc>
                <a:spcPct val="115000"/>
              </a:lnSpc>
              <a:spcBef>
                <a:spcPts val="2133"/>
              </a:spcBef>
              <a:spcAft>
                <a:spcPts val="0"/>
              </a:spcAft>
              <a:buClr>
                <a:srgbClr val="000000"/>
              </a:buClr>
              <a:buSzPts val="1400"/>
              <a:buFont typeface="Roboto"/>
              <a:buChar char="■"/>
              <a:defRPr sz="1867" b="0" i="0" u="none" strike="noStrike" cap="none">
                <a:solidFill>
                  <a:srgbClr val="000000"/>
                </a:solidFill>
                <a:latin typeface="Roboto"/>
                <a:ea typeface="Roboto"/>
                <a:cs typeface="Roboto"/>
                <a:sym typeface="Roboto"/>
              </a:defRPr>
            </a:lvl6pPr>
            <a:lvl7pPr marL="4267093" marR="0" lvl="6" indent="-423323" algn="l" rtl="0">
              <a:lnSpc>
                <a:spcPct val="115000"/>
              </a:lnSpc>
              <a:spcBef>
                <a:spcPts val="2133"/>
              </a:spcBef>
              <a:spcAft>
                <a:spcPts val="0"/>
              </a:spcAft>
              <a:buClr>
                <a:srgbClr val="000000"/>
              </a:buClr>
              <a:buSzPts val="1400"/>
              <a:buFont typeface="Roboto"/>
              <a:buChar char="●"/>
              <a:defRPr sz="1867" b="0" i="0" u="none" strike="noStrike" cap="none">
                <a:solidFill>
                  <a:srgbClr val="000000"/>
                </a:solidFill>
                <a:latin typeface="Roboto"/>
                <a:ea typeface="Roboto"/>
                <a:cs typeface="Roboto"/>
                <a:sym typeface="Roboto"/>
              </a:defRPr>
            </a:lvl7pPr>
            <a:lvl8pPr marL="4876678" marR="0" lvl="7" indent="-423323" algn="l" rtl="0">
              <a:lnSpc>
                <a:spcPct val="115000"/>
              </a:lnSpc>
              <a:spcBef>
                <a:spcPts val="2133"/>
              </a:spcBef>
              <a:spcAft>
                <a:spcPts val="0"/>
              </a:spcAft>
              <a:buClr>
                <a:srgbClr val="000000"/>
              </a:buClr>
              <a:buSzPts val="1400"/>
              <a:buFont typeface="Roboto"/>
              <a:buChar char="○"/>
              <a:defRPr sz="1867" b="0" i="0" u="none" strike="noStrike" cap="none">
                <a:solidFill>
                  <a:srgbClr val="000000"/>
                </a:solidFill>
                <a:latin typeface="Roboto"/>
                <a:ea typeface="Roboto"/>
                <a:cs typeface="Roboto"/>
                <a:sym typeface="Roboto"/>
              </a:defRPr>
            </a:lvl8pPr>
            <a:lvl9pPr marL="5486263" marR="0" lvl="8" indent="-423323" algn="l" rtl="0">
              <a:lnSpc>
                <a:spcPct val="115000"/>
              </a:lnSpc>
              <a:spcBef>
                <a:spcPts val="2133"/>
              </a:spcBef>
              <a:spcAft>
                <a:spcPts val="2133"/>
              </a:spcAft>
              <a:buClr>
                <a:schemeClr val="lt2"/>
              </a:buClr>
              <a:buSzPts val="1400"/>
              <a:buFont typeface="Roboto"/>
              <a:buChar char="■"/>
              <a:defRPr sz="1867" b="0" i="0" u="none" strike="noStrike" cap="none">
                <a:solidFill>
                  <a:schemeClr val="lt2"/>
                </a:solidFill>
                <a:latin typeface="Roboto"/>
                <a:ea typeface="Roboto"/>
                <a:cs typeface="Roboto"/>
                <a:sym typeface="Roboto"/>
              </a:defRPr>
            </a:lvl9pPr>
          </a:lstStyle>
          <a:p>
            <a:pPr marL="118531" indent="0">
              <a:buFont typeface="Roboto"/>
              <a:buNone/>
            </a:pPr>
            <a:r>
              <a:rPr lang="en-US" sz="2000" b="1" kern="0" dirty="0"/>
              <a:t>7. </a:t>
            </a:r>
            <a:r>
              <a:rPr lang="en-US" sz="2000" b="1" kern="0" dirty="0" err="1"/>
              <a:t>Dự</a:t>
            </a:r>
            <a:r>
              <a:rPr lang="en-US" sz="2000" b="1" kern="0" dirty="0"/>
              <a:t> </a:t>
            </a:r>
            <a:r>
              <a:rPr lang="en-US" sz="2000" b="1" kern="0" dirty="0" err="1"/>
              <a:t>đoán</a:t>
            </a:r>
            <a:r>
              <a:rPr lang="en-US" sz="2000" b="1" kern="0" dirty="0"/>
              <a:t> </a:t>
            </a:r>
            <a:r>
              <a:rPr lang="en-US" sz="2000" b="1" kern="0" dirty="0" err="1"/>
              <a:t>giá</a:t>
            </a:r>
            <a:r>
              <a:rPr lang="en-US" sz="2000" b="1" kern="0" dirty="0"/>
              <a:t> </a:t>
            </a:r>
            <a:r>
              <a:rPr lang="en-US" sz="2000" b="1" kern="0" dirty="0" err="1"/>
              <a:t>nhà</a:t>
            </a:r>
            <a:endParaRPr lang="en-US" sz="2000" b="1" kern="0" dirty="0"/>
          </a:p>
        </p:txBody>
      </p:sp>
      <p:sp>
        <p:nvSpPr>
          <p:cNvPr id="10" name="TextBox 9">
            <a:extLst>
              <a:ext uri="{FF2B5EF4-FFF2-40B4-BE49-F238E27FC236}">
                <a16:creationId xmlns:a16="http://schemas.microsoft.com/office/drawing/2014/main" id="{A5780655-2728-5443-841D-FB61BBEB2D2D}"/>
              </a:ext>
            </a:extLst>
          </p:cNvPr>
          <p:cNvSpPr txBox="1"/>
          <p:nvPr/>
        </p:nvSpPr>
        <p:spPr>
          <a:xfrm>
            <a:off x="4031200" y="7287908"/>
            <a:ext cx="2661271" cy="307777"/>
          </a:xfrm>
          <a:prstGeom prst="rect">
            <a:avLst/>
          </a:prstGeom>
          <a:noFill/>
        </p:spPr>
        <p:txBody>
          <a:bodyPr wrap="square">
            <a:spAutoFit/>
          </a:bodyPr>
          <a:lstStyle/>
          <a:p>
            <a:r>
              <a:rPr lang="en-US" sz="1400" b="0" i="1" u="none" strike="noStrike" dirty="0" err="1">
                <a:solidFill>
                  <a:srgbClr val="000000"/>
                </a:solidFill>
                <a:effectLst/>
                <a:latin typeface="Times New Roman" panose="02020603050405020304" pitchFamily="18" charset="0"/>
              </a:rPr>
              <a:t>Hình</a:t>
            </a:r>
            <a:r>
              <a:rPr lang="en-US" sz="1400" b="0" i="1" u="none" strike="noStrike" dirty="0">
                <a:solidFill>
                  <a:srgbClr val="000000"/>
                </a:solidFill>
                <a:effectLst/>
                <a:latin typeface="Times New Roman" panose="02020603050405020304" pitchFamily="18" charset="0"/>
              </a:rPr>
              <a:t> 26: </a:t>
            </a:r>
            <a:r>
              <a:rPr lang="en-US" sz="1400" b="0" i="1" u="none" strike="noStrike" dirty="0" err="1">
                <a:solidFill>
                  <a:srgbClr val="000000"/>
                </a:solidFill>
                <a:effectLst/>
                <a:latin typeface="Times New Roman" panose="02020603050405020304" pitchFamily="18" charset="0"/>
              </a:rPr>
              <a:t>Kết</a:t>
            </a:r>
            <a:r>
              <a:rPr lang="en-US" sz="1400" b="0" i="1" u="none" strike="noStrike" dirty="0">
                <a:solidFill>
                  <a:srgbClr val="000000"/>
                </a:solidFill>
                <a:effectLst/>
                <a:latin typeface="Times New Roman" panose="02020603050405020304" pitchFamily="18" charset="0"/>
              </a:rPr>
              <a:t> </a:t>
            </a:r>
            <a:r>
              <a:rPr lang="en-US" sz="1400" b="0" i="1" u="none" strike="noStrike" dirty="0" err="1">
                <a:solidFill>
                  <a:srgbClr val="000000"/>
                </a:solidFill>
                <a:effectLst/>
                <a:latin typeface="Times New Roman" panose="02020603050405020304" pitchFamily="18" charset="0"/>
              </a:rPr>
              <a:t>qu</a:t>
            </a:r>
            <a:r>
              <a:rPr lang="en-US" sz="1400" i="1" dirty="0" err="1">
                <a:solidFill>
                  <a:srgbClr val="000000"/>
                </a:solidFill>
                <a:latin typeface="Times New Roman" panose="02020603050405020304" pitchFamily="18" charset="0"/>
              </a:rPr>
              <a:t>ả</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phân</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cụm</a:t>
            </a:r>
            <a:endParaRPr lang="en-US" sz="1400" dirty="0"/>
          </a:p>
        </p:txBody>
      </p:sp>
      <p:sp>
        <p:nvSpPr>
          <p:cNvPr id="16" name="TextBox 15">
            <a:extLst>
              <a:ext uri="{FF2B5EF4-FFF2-40B4-BE49-F238E27FC236}">
                <a16:creationId xmlns:a16="http://schemas.microsoft.com/office/drawing/2014/main" id="{C58DFE91-2DC3-19F4-55A7-233105C1D360}"/>
              </a:ext>
            </a:extLst>
          </p:cNvPr>
          <p:cNvSpPr txBox="1"/>
          <p:nvPr/>
        </p:nvSpPr>
        <p:spPr>
          <a:xfrm>
            <a:off x="944495" y="2825439"/>
            <a:ext cx="3086705" cy="523220"/>
          </a:xfrm>
          <a:prstGeom prst="rect">
            <a:avLst/>
          </a:prstGeom>
          <a:noFill/>
        </p:spPr>
        <p:txBody>
          <a:bodyPr wrap="square">
            <a:spAutoFit/>
          </a:bodyPr>
          <a:lstStyle/>
          <a:p>
            <a:pPr algn="ctr"/>
            <a:r>
              <a:rPr lang="en-US" sz="1400" b="0" i="1" u="none" strike="noStrike" dirty="0" err="1">
                <a:solidFill>
                  <a:srgbClr val="000000"/>
                </a:solidFill>
                <a:effectLst/>
                <a:latin typeface="Times New Roman" panose="02020603050405020304" pitchFamily="18" charset="0"/>
              </a:rPr>
              <a:t>Hình</a:t>
            </a:r>
            <a:r>
              <a:rPr lang="en-US" sz="1400" b="0" i="1" u="none" strike="noStrike" dirty="0">
                <a:solidFill>
                  <a:srgbClr val="000000"/>
                </a:solidFill>
                <a:effectLst/>
                <a:latin typeface="Times New Roman" panose="02020603050405020304" pitchFamily="18" charset="0"/>
              </a:rPr>
              <a:t> </a:t>
            </a:r>
            <a:r>
              <a:rPr lang="en-US" sz="1400" i="1" dirty="0">
                <a:solidFill>
                  <a:srgbClr val="000000"/>
                </a:solidFill>
                <a:latin typeface="Times New Roman" panose="02020603050405020304" pitchFamily="18" charset="0"/>
              </a:rPr>
              <a:t>33</a:t>
            </a:r>
            <a:r>
              <a:rPr lang="en-US" sz="1400" b="0" i="1" u="none" strike="noStrike" dirty="0">
                <a:solidFill>
                  <a:srgbClr val="000000"/>
                </a:solidFill>
                <a:effectLst/>
                <a:latin typeface="Times New Roman" panose="02020603050405020304" pitchFamily="18" charset="0"/>
              </a:rPr>
              <a:t>:</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Bảng</a:t>
            </a:r>
            <a:r>
              <a:rPr lang="en-US" sz="1400" i="1" dirty="0">
                <a:solidFill>
                  <a:srgbClr val="000000"/>
                </a:solidFill>
                <a:latin typeface="Times New Roman" panose="02020603050405020304" pitchFamily="18" charset="0"/>
              </a:rPr>
              <a:t> so </a:t>
            </a:r>
            <a:r>
              <a:rPr lang="en-US" sz="1400" i="1" dirty="0" err="1">
                <a:solidFill>
                  <a:srgbClr val="000000"/>
                </a:solidFill>
                <a:latin typeface="Times New Roman" panose="02020603050405020304" pitchFamily="18" charset="0"/>
              </a:rPr>
              <a:t>sánh</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mô</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hình</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học</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máy</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cho</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thấy</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XGboost</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tối</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ưu</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hơn</a:t>
            </a:r>
            <a:endParaRPr lang="en-US" sz="1400" dirty="0"/>
          </a:p>
        </p:txBody>
      </p:sp>
      <p:sp>
        <p:nvSpPr>
          <p:cNvPr id="17" name="TextBox 16">
            <a:extLst>
              <a:ext uri="{FF2B5EF4-FFF2-40B4-BE49-F238E27FC236}">
                <a16:creationId xmlns:a16="http://schemas.microsoft.com/office/drawing/2014/main" id="{43AD20F9-C12C-5ED9-F003-C0490680646A}"/>
              </a:ext>
            </a:extLst>
          </p:cNvPr>
          <p:cNvSpPr txBox="1"/>
          <p:nvPr/>
        </p:nvSpPr>
        <p:spPr>
          <a:xfrm>
            <a:off x="-175222" y="5938540"/>
            <a:ext cx="6098501" cy="523220"/>
          </a:xfrm>
          <a:prstGeom prst="rect">
            <a:avLst/>
          </a:prstGeom>
          <a:noFill/>
        </p:spPr>
        <p:txBody>
          <a:bodyPr wrap="square">
            <a:spAutoFit/>
          </a:bodyPr>
          <a:lstStyle/>
          <a:p>
            <a:pPr algn="ctr"/>
            <a:r>
              <a:rPr lang="en-US" sz="1400" b="0" i="1" u="none" strike="noStrike" dirty="0" err="1">
                <a:solidFill>
                  <a:srgbClr val="000000"/>
                </a:solidFill>
                <a:effectLst/>
                <a:latin typeface="Times New Roman" panose="02020603050405020304" pitchFamily="18" charset="0"/>
              </a:rPr>
              <a:t>Hình</a:t>
            </a:r>
            <a:r>
              <a:rPr lang="en-US" sz="1400" b="0" i="1" u="none" strike="noStrike" dirty="0">
                <a:solidFill>
                  <a:srgbClr val="000000"/>
                </a:solidFill>
                <a:effectLst/>
                <a:latin typeface="Times New Roman" panose="02020603050405020304" pitchFamily="18" charset="0"/>
              </a:rPr>
              <a:t> 35</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Giá</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thực</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và</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giá</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dự</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đoán</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của</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mô</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hình</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XGBoost</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khi</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được</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tối</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ưu</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bằng</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GridSearch</a:t>
            </a:r>
            <a:endParaRPr lang="en-US" sz="1400" dirty="0"/>
          </a:p>
        </p:txBody>
      </p:sp>
      <p:pic>
        <p:nvPicPr>
          <p:cNvPr id="20" name="Picture 19" descr="A screenshot of a computer&#10;&#10;AI-generated content may be incorrect.">
            <a:extLst>
              <a:ext uri="{FF2B5EF4-FFF2-40B4-BE49-F238E27FC236}">
                <a16:creationId xmlns:a16="http://schemas.microsoft.com/office/drawing/2014/main" id="{07F8CFA0-AF4C-E43E-2C2F-A9B30236DA8A}"/>
              </a:ext>
            </a:extLst>
          </p:cNvPr>
          <p:cNvPicPr>
            <a:picLocks noChangeAspect="1"/>
          </p:cNvPicPr>
          <p:nvPr/>
        </p:nvPicPr>
        <p:blipFill>
          <a:blip r:embed="rId2"/>
          <a:stretch>
            <a:fillRect/>
          </a:stretch>
        </p:blipFill>
        <p:spPr>
          <a:xfrm>
            <a:off x="423911" y="1415695"/>
            <a:ext cx="3975369" cy="1409744"/>
          </a:xfrm>
          <a:prstGeom prst="rect">
            <a:avLst/>
          </a:prstGeom>
        </p:spPr>
      </p:pic>
      <p:pic>
        <p:nvPicPr>
          <p:cNvPr id="7174" name="Picture 6">
            <a:extLst>
              <a:ext uri="{FF2B5EF4-FFF2-40B4-BE49-F238E27FC236}">
                <a16:creationId xmlns:a16="http://schemas.microsoft.com/office/drawing/2014/main" id="{7CC0DC3F-40E0-2999-3513-20B129978E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2783" y="3269967"/>
            <a:ext cx="3530127" cy="2737143"/>
          </a:xfrm>
          <a:prstGeom prst="rect">
            <a:avLst/>
          </a:prstGeom>
          <a:noFill/>
          <a:extLst>
            <a:ext uri="{909E8E84-426E-40DD-AFC4-6F175D3DCCD1}">
              <a14:hiddenFill xmlns:a14="http://schemas.microsoft.com/office/drawing/2010/main">
                <a:solidFill>
                  <a:srgbClr val="FFFFFF"/>
                </a:solidFill>
              </a14:hiddenFill>
            </a:ext>
          </a:extLst>
        </p:spPr>
      </p:pic>
      <p:pic>
        <p:nvPicPr>
          <p:cNvPr id="7176" name="Picture 8">
            <a:extLst>
              <a:ext uri="{FF2B5EF4-FFF2-40B4-BE49-F238E27FC236}">
                <a16:creationId xmlns:a16="http://schemas.microsoft.com/office/drawing/2014/main" id="{66624BA1-DAFC-7C42-55EF-14C06ADBD93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97285" y="1241928"/>
            <a:ext cx="5581650" cy="3362325"/>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B7E549D9-5892-F623-E3C7-C0CC6BA8BFCF}"/>
              </a:ext>
            </a:extLst>
          </p:cNvPr>
          <p:cNvSpPr txBox="1"/>
          <p:nvPr/>
        </p:nvSpPr>
        <p:spPr>
          <a:xfrm>
            <a:off x="5150915" y="4636188"/>
            <a:ext cx="6098501" cy="307777"/>
          </a:xfrm>
          <a:prstGeom prst="rect">
            <a:avLst/>
          </a:prstGeom>
          <a:noFill/>
        </p:spPr>
        <p:txBody>
          <a:bodyPr wrap="square">
            <a:spAutoFit/>
          </a:bodyPr>
          <a:lstStyle/>
          <a:p>
            <a:pPr algn="ctr"/>
            <a:r>
              <a:rPr lang="en-US" sz="1400" b="0" i="1" u="none" strike="noStrike" dirty="0" err="1">
                <a:solidFill>
                  <a:srgbClr val="000000"/>
                </a:solidFill>
                <a:effectLst/>
                <a:latin typeface="Times New Roman" panose="02020603050405020304" pitchFamily="18" charset="0"/>
              </a:rPr>
              <a:t>Hình</a:t>
            </a:r>
            <a:r>
              <a:rPr lang="en-US" sz="1400" b="0" i="1" u="none" strike="noStrike" dirty="0">
                <a:solidFill>
                  <a:srgbClr val="000000"/>
                </a:solidFill>
                <a:effectLst/>
                <a:latin typeface="Times New Roman" panose="02020603050405020304" pitchFamily="18" charset="0"/>
              </a:rPr>
              <a:t> 34</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Tầm</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quan</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trọng</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của</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các</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biến</a:t>
            </a:r>
            <a:endParaRPr lang="en-US" sz="1400" dirty="0"/>
          </a:p>
        </p:txBody>
      </p:sp>
      <p:sp>
        <p:nvSpPr>
          <p:cNvPr id="2" name="TextBox 1">
            <a:extLst>
              <a:ext uri="{FF2B5EF4-FFF2-40B4-BE49-F238E27FC236}">
                <a16:creationId xmlns:a16="http://schemas.microsoft.com/office/drawing/2014/main" id="{CA7C6C4B-F5B2-345E-63A6-233DDFA695CD}"/>
              </a:ext>
            </a:extLst>
          </p:cNvPr>
          <p:cNvSpPr txBox="1"/>
          <p:nvPr/>
        </p:nvSpPr>
        <p:spPr>
          <a:xfrm>
            <a:off x="5831841" y="5194335"/>
            <a:ext cx="5994399" cy="1200329"/>
          </a:xfrm>
          <a:prstGeom prst="rect">
            <a:avLst/>
          </a:prstGeom>
          <a:noFill/>
        </p:spPr>
        <p:txBody>
          <a:bodyPr wrap="square" rtlCol="0">
            <a:spAutoFit/>
          </a:bodyPr>
          <a:lstStyle/>
          <a:p>
            <a:pPr marL="285750" indent="-285750">
              <a:buFont typeface="Symbol" panose="05050102010706020507" pitchFamily="18" charset="2"/>
              <a:buChar char="Þ"/>
            </a:pPr>
            <a:r>
              <a:rPr lang="en-US" sz="1200" dirty="0" err="1">
                <a:solidFill>
                  <a:schemeClr val="accent4">
                    <a:lumMod val="10000"/>
                  </a:schemeClr>
                </a:solidFill>
              </a:rPr>
              <a:t>chọn</a:t>
            </a:r>
            <a:r>
              <a:rPr lang="en-US" sz="1200" dirty="0">
                <a:solidFill>
                  <a:schemeClr val="accent4">
                    <a:lumMod val="10000"/>
                  </a:schemeClr>
                </a:solidFill>
              </a:rPr>
              <a:t> </a:t>
            </a:r>
            <a:r>
              <a:rPr lang="en-US" sz="1200" dirty="0" err="1">
                <a:solidFill>
                  <a:schemeClr val="accent4">
                    <a:lumMod val="10000"/>
                  </a:schemeClr>
                </a:solidFill>
              </a:rPr>
              <a:t>mô</a:t>
            </a:r>
            <a:r>
              <a:rPr lang="en-US" sz="1200" dirty="0">
                <a:solidFill>
                  <a:schemeClr val="accent4">
                    <a:lumMod val="10000"/>
                  </a:schemeClr>
                </a:solidFill>
              </a:rPr>
              <a:t> </a:t>
            </a:r>
            <a:r>
              <a:rPr lang="en-US" sz="1200" dirty="0" err="1">
                <a:solidFill>
                  <a:schemeClr val="accent4">
                    <a:lumMod val="10000"/>
                  </a:schemeClr>
                </a:solidFill>
              </a:rPr>
              <a:t>hình</a:t>
            </a:r>
            <a:r>
              <a:rPr lang="en-US" sz="1200" dirty="0">
                <a:solidFill>
                  <a:schemeClr val="accent4">
                    <a:lumMod val="10000"/>
                  </a:schemeClr>
                </a:solidFill>
              </a:rPr>
              <a:t> </a:t>
            </a:r>
            <a:r>
              <a:rPr lang="en-US" sz="1200" dirty="0" err="1">
                <a:solidFill>
                  <a:schemeClr val="accent4">
                    <a:lumMod val="10000"/>
                  </a:schemeClr>
                </a:solidFill>
              </a:rPr>
              <a:t>Xgboost</a:t>
            </a:r>
            <a:r>
              <a:rPr lang="en-US" sz="1200" dirty="0">
                <a:solidFill>
                  <a:schemeClr val="accent4">
                    <a:lumMod val="10000"/>
                  </a:schemeClr>
                </a:solidFill>
              </a:rPr>
              <a:t> </a:t>
            </a:r>
            <a:r>
              <a:rPr lang="en-US" sz="1200" dirty="0" err="1">
                <a:solidFill>
                  <a:schemeClr val="accent4">
                    <a:lumMod val="10000"/>
                  </a:schemeClr>
                </a:solidFill>
              </a:rPr>
              <a:t>sau</a:t>
            </a:r>
            <a:r>
              <a:rPr lang="en-US" sz="1200" dirty="0">
                <a:solidFill>
                  <a:schemeClr val="accent4">
                    <a:lumMod val="10000"/>
                  </a:schemeClr>
                </a:solidFill>
              </a:rPr>
              <a:t> </a:t>
            </a:r>
            <a:r>
              <a:rPr lang="en-US" sz="1200" dirty="0" err="1">
                <a:solidFill>
                  <a:schemeClr val="accent4">
                    <a:lumMod val="10000"/>
                  </a:schemeClr>
                </a:solidFill>
              </a:rPr>
              <a:t>đó</a:t>
            </a:r>
            <a:r>
              <a:rPr lang="en-US" sz="1200" dirty="0">
                <a:solidFill>
                  <a:schemeClr val="accent4">
                    <a:lumMod val="10000"/>
                  </a:schemeClr>
                </a:solidFill>
              </a:rPr>
              <a:t> </a:t>
            </a:r>
            <a:r>
              <a:rPr lang="en-US" sz="1200" dirty="0" err="1">
                <a:solidFill>
                  <a:schemeClr val="accent4">
                    <a:lumMod val="10000"/>
                  </a:schemeClr>
                </a:solidFill>
              </a:rPr>
              <a:t>tối</a:t>
            </a:r>
            <a:r>
              <a:rPr lang="en-US" sz="1200" dirty="0">
                <a:solidFill>
                  <a:schemeClr val="accent4">
                    <a:lumMod val="10000"/>
                  </a:schemeClr>
                </a:solidFill>
              </a:rPr>
              <a:t> </a:t>
            </a:r>
            <a:r>
              <a:rPr lang="en-US" sz="1200" dirty="0" err="1">
                <a:solidFill>
                  <a:schemeClr val="accent4">
                    <a:lumMod val="10000"/>
                  </a:schemeClr>
                </a:solidFill>
              </a:rPr>
              <a:t>ưu</a:t>
            </a:r>
            <a:r>
              <a:rPr lang="en-US" sz="1200" dirty="0">
                <a:solidFill>
                  <a:schemeClr val="accent4">
                    <a:lumMod val="10000"/>
                  </a:schemeClr>
                </a:solidFill>
              </a:rPr>
              <a:t> </a:t>
            </a:r>
            <a:r>
              <a:rPr lang="en-US" sz="1200" dirty="0" err="1">
                <a:solidFill>
                  <a:schemeClr val="accent4">
                    <a:lumMod val="10000"/>
                  </a:schemeClr>
                </a:solidFill>
              </a:rPr>
              <a:t>hóa</a:t>
            </a:r>
            <a:r>
              <a:rPr lang="en-US" sz="1200" dirty="0">
                <a:solidFill>
                  <a:schemeClr val="accent4">
                    <a:lumMod val="10000"/>
                  </a:schemeClr>
                </a:solidFill>
              </a:rPr>
              <a:t> </a:t>
            </a:r>
            <a:r>
              <a:rPr lang="en-US" sz="1200" dirty="0" err="1">
                <a:solidFill>
                  <a:schemeClr val="accent4">
                    <a:lumMod val="10000"/>
                  </a:schemeClr>
                </a:solidFill>
              </a:rPr>
              <a:t>các</a:t>
            </a:r>
            <a:r>
              <a:rPr lang="en-US" sz="1200" dirty="0">
                <a:solidFill>
                  <a:schemeClr val="accent4">
                    <a:lumMod val="10000"/>
                  </a:schemeClr>
                </a:solidFill>
              </a:rPr>
              <a:t> </a:t>
            </a:r>
            <a:r>
              <a:rPr lang="en-US" sz="1200" dirty="0" err="1">
                <a:solidFill>
                  <a:schemeClr val="accent4">
                    <a:lumMod val="10000"/>
                  </a:schemeClr>
                </a:solidFill>
              </a:rPr>
              <a:t>siêu</a:t>
            </a:r>
            <a:r>
              <a:rPr lang="en-US" sz="1200" dirty="0">
                <a:solidFill>
                  <a:schemeClr val="accent4">
                    <a:lumMod val="10000"/>
                  </a:schemeClr>
                </a:solidFill>
              </a:rPr>
              <a:t> </a:t>
            </a:r>
            <a:r>
              <a:rPr lang="en-US" sz="1200" dirty="0" err="1">
                <a:solidFill>
                  <a:schemeClr val="accent4">
                    <a:lumMod val="10000"/>
                  </a:schemeClr>
                </a:solidFill>
              </a:rPr>
              <a:t>tham</a:t>
            </a:r>
            <a:r>
              <a:rPr lang="en-US" sz="1200" dirty="0">
                <a:solidFill>
                  <a:schemeClr val="accent4">
                    <a:lumMod val="10000"/>
                  </a:schemeClr>
                </a:solidFill>
              </a:rPr>
              <a:t> </a:t>
            </a:r>
            <a:r>
              <a:rPr lang="en-US" sz="1200" dirty="0" err="1">
                <a:solidFill>
                  <a:schemeClr val="accent4">
                    <a:lumMod val="10000"/>
                  </a:schemeClr>
                </a:solidFill>
              </a:rPr>
              <a:t>số</a:t>
            </a:r>
            <a:r>
              <a:rPr lang="en-US" sz="1200" dirty="0">
                <a:solidFill>
                  <a:schemeClr val="accent4">
                    <a:lumMod val="10000"/>
                  </a:schemeClr>
                </a:solidFill>
              </a:rPr>
              <a:t> </a:t>
            </a:r>
            <a:r>
              <a:rPr lang="en-US" sz="1200" dirty="0" err="1">
                <a:solidFill>
                  <a:schemeClr val="accent4">
                    <a:lumMod val="10000"/>
                  </a:schemeClr>
                </a:solidFill>
              </a:rPr>
              <a:t>bằng</a:t>
            </a:r>
            <a:r>
              <a:rPr lang="en-US" sz="1200" dirty="0">
                <a:solidFill>
                  <a:schemeClr val="accent4">
                    <a:lumMod val="10000"/>
                  </a:schemeClr>
                </a:solidFill>
              </a:rPr>
              <a:t> Grid Search </a:t>
            </a:r>
            <a:r>
              <a:rPr lang="en-US" sz="1200" dirty="0" err="1">
                <a:solidFill>
                  <a:schemeClr val="accent4">
                    <a:lumMod val="10000"/>
                  </a:schemeClr>
                </a:solidFill>
              </a:rPr>
              <a:t>kết</a:t>
            </a:r>
            <a:r>
              <a:rPr lang="en-US" sz="1200" dirty="0">
                <a:solidFill>
                  <a:schemeClr val="accent4">
                    <a:lumMod val="10000"/>
                  </a:schemeClr>
                </a:solidFill>
              </a:rPr>
              <a:t> </a:t>
            </a:r>
            <a:r>
              <a:rPr lang="en-US" sz="1200" dirty="0" err="1">
                <a:solidFill>
                  <a:schemeClr val="accent4">
                    <a:lumMod val="10000"/>
                  </a:schemeClr>
                </a:solidFill>
              </a:rPr>
              <a:t>hợp</a:t>
            </a:r>
            <a:r>
              <a:rPr lang="en-US" sz="1200" dirty="0">
                <a:solidFill>
                  <a:schemeClr val="accent4">
                    <a:lumMod val="10000"/>
                  </a:schemeClr>
                </a:solidFill>
              </a:rPr>
              <a:t> </a:t>
            </a:r>
            <a:r>
              <a:rPr lang="en-US" sz="1200" dirty="0" err="1">
                <a:solidFill>
                  <a:schemeClr val="accent4">
                    <a:lumMod val="10000"/>
                  </a:schemeClr>
                </a:solidFill>
              </a:rPr>
              <a:t>với</a:t>
            </a:r>
            <a:r>
              <a:rPr lang="en-US" sz="1200" dirty="0">
                <a:solidFill>
                  <a:schemeClr val="accent4">
                    <a:lumMod val="10000"/>
                  </a:schemeClr>
                </a:solidFill>
              </a:rPr>
              <a:t> Cross-Validation ta </a:t>
            </a:r>
            <a:r>
              <a:rPr lang="en-US" sz="1200" dirty="0" err="1">
                <a:solidFill>
                  <a:schemeClr val="accent4">
                    <a:lumMod val="10000"/>
                  </a:schemeClr>
                </a:solidFill>
              </a:rPr>
              <a:t>được</a:t>
            </a:r>
            <a:endParaRPr lang="en-US" sz="1200" dirty="0">
              <a:solidFill>
                <a:schemeClr val="accent4">
                  <a:lumMod val="10000"/>
                </a:schemeClr>
              </a:solidFill>
            </a:endParaRPr>
          </a:p>
          <a:p>
            <a:pPr lvl="1"/>
            <a:r>
              <a:rPr lang="pt-BR" sz="1200" dirty="0">
                <a:solidFill>
                  <a:schemeClr val="accent4">
                    <a:lumMod val="10000"/>
                  </a:schemeClr>
                </a:solidFill>
              </a:rPr>
              <a:t>RMSE: 1.31 (</a:t>
            </a:r>
            <a:r>
              <a:rPr lang="en-US" sz="1200" dirty="0" err="1">
                <a:solidFill>
                  <a:schemeClr val="accent4">
                    <a:lumMod val="10000"/>
                  </a:schemeClr>
                </a:solidFill>
              </a:rPr>
              <a:t>Lỗi</a:t>
            </a:r>
            <a:r>
              <a:rPr lang="en-US" sz="1200" dirty="0">
                <a:solidFill>
                  <a:schemeClr val="accent4">
                    <a:lumMod val="10000"/>
                  </a:schemeClr>
                </a:solidFill>
              </a:rPr>
              <a:t> </a:t>
            </a:r>
            <a:r>
              <a:rPr lang="en-US" sz="1200" dirty="0" err="1">
                <a:solidFill>
                  <a:schemeClr val="accent4">
                    <a:lumMod val="10000"/>
                  </a:schemeClr>
                </a:solidFill>
              </a:rPr>
              <a:t>trung</a:t>
            </a:r>
            <a:r>
              <a:rPr lang="en-US" sz="1200" dirty="0">
                <a:solidFill>
                  <a:schemeClr val="accent4">
                    <a:lumMod val="10000"/>
                  </a:schemeClr>
                </a:solidFill>
              </a:rPr>
              <a:t> </a:t>
            </a:r>
            <a:r>
              <a:rPr lang="en-US" sz="1200" dirty="0" err="1">
                <a:solidFill>
                  <a:schemeClr val="accent4">
                    <a:lumMod val="10000"/>
                  </a:schemeClr>
                </a:solidFill>
              </a:rPr>
              <a:t>bình</a:t>
            </a:r>
            <a:r>
              <a:rPr lang="en-US" sz="1200" dirty="0">
                <a:solidFill>
                  <a:schemeClr val="accent4">
                    <a:lumMod val="10000"/>
                  </a:schemeClr>
                </a:solidFill>
              </a:rPr>
              <a:t> </a:t>
            </a:r>
            <a:r>
              <a:rPr lang="en-US" sz="1200" dirty="0" err="1">
                <a:solidFill>
                  <a:schemeClr val="accent4">
                    <a:lumMod val="10000"/>
                  </a:schemeClr>
                </a:solidFill>
              </a:rPr>
              <a:t>bình</a:t>
            </a:r>
            <a:r>
              <a:rPr lang="en-US" sz="1200" dirty="0">
                <a:solidFill>
                  <a:schemeClr val="accent4">
                    <a:lumMod val="10000"/>
                  </a:schemeClr>
                </a:solidFill>
              </a:rPr>
              <a:t> </a:t>
            </a:r>
            <a:r>
              <a:rPr lang="en-US" sz="1200" dirty="0" err="1">
                <a:solidFill>
                  <a:schemeClr val="accent4">
                    <a:lumMod val="10000"/>
                  </a:schemeClr>
                </a:solidFill>
              </a:rPr>
              <a:t>phương</a:t>
            </a:r>
            <a:r>
              <a:rPr lang="en-US" sz="1200" dirty="0">
                <a:solidFill>
                  <a:schemeClr val="accent4">
                    <a:lumMod val="10000"/>
                  </a:schemeClr>
                </a:solidFill>
              </a:rPr>
              <a:t> </a:t>
            </a:r>
            <a:r>
              <a:rPr lang="en-US" sz="1200" dirty="0" err="1">
                <a:solidFill>
                  <a:schemeClr val="accent4">
                    <a:lumMod val="10000"/>
                  </a:schemeClr>
                </a:solidFill>
              </a:rPr>
              <a:t>căn</a:t>
            </a:r>
            <a:r>
              <a:rPr lang="en-US" sz="1200" dirty="0">
                <a:solidFill>
                  <a:schemeClr val="accent4">
                    <a:lumMod val="10000"/>
                  </a:schemeClr>
                </a:solidFill>
              </a:rPr>
              <a:t> </a:t>
            </a:r>
            <a:r>
              <a:rPr lang="en-US" sz="1200" dirty="0" err="1">
                <a:solidFill>
                  <a:schemeClr val="accent4">
                    <a:lumMod val="10000"/>
                  </a:schemeClr>
                </a:solidFill>
              </a:rPr>
              <a:t>bậc</a:t>
            </a:r>
            <a:r>
              <a:rPr lang="en-US" sz="1200" dirty="0">
                <a:solidFill>
                  <a:schemeClr val="accent4">
                    <a:lumMod val="10000"/>
                  </a:schemeClr>
                </a:solidFill>
              </a:rPr>
              <a:t> </a:t>
            </a:r>
            <a:r>
              <a:rPr lang="en-US" sz="1200" dirty="0" err="1">
                <a:solidFill>
                  <a:schemeClr val="accent4">
                    <a:lumMod val="10000"/>
                  </a:schemeClr>
                </a:solidFill>
              </a:rPr>
              <a:t>hai</a:t>
            </a:r>
            <a:r>
              <a:rPr lang="en-US" sz="1200" dirty="0">
                <a:solidFill>
                  <a:schemeClr val="accent4">
                    <a:lumMod val="10000"/>
                  </a:schemeClr>
                </a:solidFill>
              </a:rPr>
              <a:t>)</a:t>
            </a:r>
            <a:endParaRPr lang="pt-BR" sz="1200" dirty="0">
              <a:solidFill>
                <a:schemeClr val="accent4">
                  <a:lumMod val="10000"/>
                </a:schemeClr>
              </a:solidFill>
            </a:endParaRPr>
          </a:p>
          <a:p>
            <a:pPr lvl="1"/>
            <a:r>
              <a:rPr lang="pt-BR" sz="1200" dirty="0">
                <a:solidFill>
                  <a:schemeClr val="accent4">
                    <a:lumMod val="10000"/>
                  </a:schemeClr>
                </a:solidFill>
              </a:rPr>
              <a:t>MAE:  0.97 (</a:t>
            </a:r>
            <a:r>
              <a:rPr lang="en-US" sz="1200" dirty="0" err="1">
                <a:solidFill>
                  <a:schemeClr val="accent4">
                    <a:lumMod val="10000"/>
                  </a:schemeClr>
                </a:solidFill>
              </a:rPr>
              <a:t>Lỗi</a:t>
            </a:r>
            <a:r>
              <a:rPr lang="en-US" sz="1200" dirty="0">
                <a:solidFill>
                  <a:schemeClr val="accent4">
                    <a:lumMod val="10000"/>
                  </a:schemeClr>
                </a:solidFill>
              </a:rPr>
              <a:t> </a:t>
            </a:r>
            <a:r>
              <a:rPr lang="en-US" sz="1200" dirty="0" err="1">
                <a:solidFill>
                  <a:schemeClr val="accent4">
                    <a:lumMod val="10000"/>
                  </a:schemeClr>
                </a:solidFill>
              </a:rPr>
              <a:t>tuyệt</a:t>
            </a:r>
            <a:r>
              <a:rPr lang="en-US" sz="1200" dirty="0">
                <a:solidFill>
                  <a:schemeClr val="accent4">
                    <a:lumMod val="10000"/>
                  </a:schemeClr>
                </a:solidFill>
              </a:rPr>
              <a:t> </a:t>
            </a:r>
            <a:r>
              <a:rPr lang="en-US" sz="1200" dirty="0" err="1">
                <a:solidFill>
                  <a:schemeClr val="accent4">
                    <a:lumMod val="10000"/>
                  </a:schemeClr>
                </a:solidFill>
              </a:rPr>
              <a:t>đối</a:t>
            </a:r>
            <a:r>
              <a:rPr lang="en-US" sz="1200" dirty="0">
                <a:solidFill>
                  <a:schemeClr val="accent4">
                    <a:lumMod val="10000"/>
                  </a:schemeClr>
                </a:solidFill>
              </a:rPr>
              <a:t> </a:t>
            </a:r>
            <a:r>
              <a:rPr lang="en-US" sz="1200" dirty="0" err="1">
                <a:solidFill>
                  <a:schemeClr val="accent4">
                    <a:lumMod val="10000"/>
                  </a:schemeClr>
                </a:solidFill>
              </a:rPr>
              <a:t>trung</a:t>
            </a:r>
            <a:r>
              <a:rPr lang="en-US" sz="1200" dirty="0">
                <a:solidFill>
                  <a:schemeClr val="accent4">
                    <a:lumMod val="10000"/>
                  </a:schemeClr>
                </a:solidFill>
              </a:rPr>
              <a:t> </a:t>
            </a:r>
            <a:r>
              <a:rPr lang="en-US" sz="1200" dirty="0" err="1">
                <a:solidFill>
                  <a:schemeClr val="accent4">
                    <a:lumMod val="10000"/>
                  </a:schemeClr>
                </a:solidFill>
              </a:rPr>
              <a:t>bình</a:t>
            </a:r>
            <a:r>
              <a:rPr lang="en-US" sz="1200" dirty="0">
                <a:solidFill>
                  <a:schemeClr val="accent4">
                    <a:lumMod val="10000"/>
                  </a:schemeClr>
                </a:solidFill>
              </a:rPr>
              <a:t>)</a:t>
            </a:r>
            <a:endParaRPr lang="pt-BR" sz="1200" dirty="0">
              <a:solidFill>
                <a:schemeClr val="accent4">
                  <a:lumMod val="10000"/>
                </a:schemeClr>
              </a:solidFill>
            </a:endParaRPr>
          </a:p>
          <a:p>
            <a:pPr lvl="1"/>
            <a:r>
              <a:rPr lang="pt-BR" sz="1200" dirty="0">
                <a:solidFill>
                  <a:schemeClr val="accent4">
                    <a:lumMod val="10000"/>
                  </a:schemeClr>
                </a:solidFill>
              </a:rPr>
              <a:t>R²:   0.6528 (</a:t>
            </a:r>
            <a:r>
              <a:rPr lang="en-US" sz="1200" dirty="0" err="1">
                <a:solidFill>
                  <a:schemeClr val="accent4">
                    <a:lumMod val="10000"/>
                  </a:schemeClr>
                </a:solidFill>
              </a:rPr>
              <a:t>Tỷ</a:t>
            </a:r>
            <a:r>
              <a:rPr lang="en-US" sz="1200" dirty="0">
                <a:solidFill>
                  <a:schemeClr val="accent4">
                    <a:lumMod val="10000"/>
                  </a:schemeClr>
                </a:solidFill>
              </a:rPr>
              <a:t> </a:t>
            </a:r>
            <a:r>
              <a:rPr lang="en-US" sz="1200" dirty="0" err="1">
                <a:solidFill>
                  <a:schemeClr val="accent4">
                    <a:lumMod val="10000"/>
                  </a:schemeClr>
                </a:solidFill>
              </a:rPr>
              <a:t>lệ</a:t>
            </a:r>
            <a:r>
              <a:rPr lang="en-US" sz="1200" dirty="0">
                <a:solidFill>
                  <a:schemeClr val="accent4">
                    <a:lumMod val="10000"/>
                  </a:schemeClr>
                </a:solidFill>
              </a:rPr>
              <a:t> </a:t>
            </a:r>
            <a:r>
              <a:rPr lang="en-US" sz="1200" dirty="0" err="1">
                <a:solidFill>
                  <a:schemeClr val="accent4">
                    <a:lumMod val="10000"/>
                  </a:schemeClr>
                </a:solidFill>
              </a:rPr>
              <a:t>phương</a:t>
            </a:r>
            <a:r>
              <a:rPr lang="en-US" sz="1200" dirty="0">
                <a:solidFill>
                  <a:schemeClr val="accent4">
                    <a:lumMod val="10000"/>
                  </a:schemeClr>
                </a:solidFill>
              </a:rPr>
              <a:t> </a:t>
            </a:r>
            <a:r>
              <a:rPr lang="en-US" sz="1200" dirty="0" err="1">
                <a:solidFill>
                  <a:schemeClr val="accent4">
                    <a:lumMod val="10000"/>
                  </a:schemeClr>
                </a:solidFill>
              </a:rPr>
              <a:t>sai</a:t>
            </a:r>
            <a:r>
              <a:rPr lang="en-US" sz="1200" dirty="0">
                <a:solidFill>
                  <a:schemeClr val="accent4">
                    <a:lumMod val="10000"/>
                  </a:schemeClr>
                </a:solidFill>
              </a:rPr>
              <a:t> </a:t>
            </a:r>
            <a:r>
              <a:rPr lang="en-US" sz="1200" dirty="0" err="1">
                <a:solidFill>
                  <a:schemeClr val="accent4">
                    <a:lumMod val="10000"/>
                  </a:schemeClr>
                </a:solidFill>
              </a:rPr>
              <a:t>của</a:t>
            </a:r>
            <a:r>
              <a:rPr lang="en-US" sz="1200" dirty="0">
                <a:solidFill>
                  <a:schemeClr val="accent4">
                    <a:lumMod val="10000"/>
                  </a:schemeClr>
                </a:solidFill>
              </a:rPr>
              <a:t> </a:t>
            </a:r>
            <a:r>
              <a:rPr lang="en-US" sz="1200" dirty="0" err="1">
                <a:solidFill>
                  <a:schemeClr val="accent4">
                    <a:lumMod val="10000"/>
                  </a:schemeClr>
                </a:solidFill>
              </a:rPr>
              <a:t>biến</a:t>
            </a:r>
            <a:r>
              <a:rPr lang="en-US" sz="1200" dirty="0">
                <a:solidFill>
                  <a:schemeClr val="accent4">
                    <a:lumMod val="10000"/>
                  </a:schemeClr>
                </a:solidFill>
              </a:rPr>
              <a:t> </a:t>
            </a:r>
            <a:r>
              <a:rPr lang="en-US" sz="1200" dirty="0" err="1">
                <a:solidFill>
                  <a:schemeClr val="accent4">
                    <a:lumMod val="10000"/>
                  </a:schemeClr>
                </a:solidFill>
              </a:rPr>
              <a:t>mục</a:t>
            </a:r>
            <a:r>
              <a:rPr lang="en-US" sz="1200" dirty="0">
                <a:solidFill>
                  <a:schemeClr val="accent4">
                    <a:lumMod val="10000"/>
                  </a:schemeClr>
                </a:solidFill>
              </a:rPr>
              <a:t> </a:t>
            </a:r>
            <a:r>
              <a:rPr lang="en-US" sz="1200" dirty="0" err="1">
                <a:solidFill>
                  <a:schemeClr val="accent4">
                    <a:lumMod val="10000"/>
                  </a:schemeClr>
                </a:solidFill>
              </a:rPr>
              <a:t>tiêu</a:t>
            </a:r>
            <a:r>
              <a:rPr lang="en-US" sz="1200" dirty="0">
                <a:solidFill>
                  <a:schemeClr val="accent4">
                    <a:lumMod val="10000"/>
                  </a:schemeClr>
                </a:solidFill>
              </a:rPr>
              <a:t> </a:t>
            </a:r>
            <a:r>
              <a:rPr lang="en-US" sz="1200" dirty="0" err="1">
                <a:solidFill>
                  <a:schemeClr val="accent4">
                    <a:lumMod val="10000"/>
                  </a:schemeClr>
                </a:solidFill>
              </a:rPr>
              <a:t>được</a:t>
            </a:r>
            <a:r>
              <a:rPr lang="en-US" sz="1200" dirty="0">
                <a:solidFill>
                  <a:schemeClr val="accent4">
                    <a:lumMod val="10000"/>
                  </a:schemeClr>
                </a:solidFill>
              </a:rPr>
              <a:t> </a:t>
            </a:r>
            <a:r>
              <a:rPr lang="en-US" sz="1200" dirty="0" err="1">
                <a:solidFill>
                  <a:schemeClr val="accent4">
                    <a:lumMod val="10000"/>
                  </a:schemeClr>
                </a:solidFill>
              </a:rPr>
              <a:t>giải</a:t>
            </a:r>
            <a:r>
              <a:rPr lang="en-US" sz="1200" dirty="0">
                <a:solidFill>
                  <a:schemeClr val="accent4">
                    <a:lumMod val="10000"/>
                  </a:schemeClr>
                </a:solidFill>
              </a:rPr>
              <a:t> </a:t>
            </a:r>
            <a:r>
              <a:rPr lang="en-US" sz="1200" dirty="0" err="1">
                <a:solidFill>
                  <a:schemeClr val="accent4">
                    <a:lumMod val="10000"/>
                  </a:schemeClr>
                </a:solidFill>
              </a:rPr>
              <a:t>thích</a:t>
            </a:r>
            <a:r>
              <a:rPr lang="en-US" sz="1200" dirty="0">
                <a:solidFill>
                  <a:schemeClr val="accent4">
                    <a:lumMod val="10000"/>
                  </a:schemeClr>
                </a:solidFill>
              </a:rPr>
              <a:t> </a:t>
            </a:r>
            <a:r>
              <a:rPr lang="en-US" sz="1200" dirty="0" err="1">
                <a:solidFill>
                  <a:schemeClr val="accent4">
                    <a:lumMod val="10000"/>
                  </a:schemeClr>
                </a:solidFill>
              </a:rPr>
              <a:t>bởi</a:t>
            </a:r>
            <a:r>
              <a:rPr lang="en-US" sz="1200" dirty="0">
                <a:solidFill>
                  <a:schemeClr val="accent4">
                    <a:lumMod val="10000"/>
                  </a:schemeClr>
                </a:solidFill>
              </a:rPr>
              <a:t> </a:t>
            </a:r>
            <a:r>
              <a:rPr lang="en-US" sz="1200" dirty="0" err="1">
                <a:solidFill>
                  <a:schemeClr val="accent4">
                    <a:lumMod val="10000"/>
                  </a:schemeClr>
                </a:solidFill>
              </a:rPr>
              <a:t>mô</a:t>
            </a:r>
            <a:r>
              <a:rPr lang="en-US" sz="1200" dirty="0">
                <a:solidFill>
                  <a:schemeClr val="accent4">
                    <a:lumMod val="10000"/>
                  </a:schemeClr>
                </a:solidFill>
              </a:rPr>
              <a:t> </a:t>
            </a:r>
            <a:r>
              <a:rPr lang="en-US" sz="1200" dirty="0" err="1">
                <a:solidFill>
                  <a:schemeClr val="accent4">
                    <a:lumMod val="10000"/>
                  </a:schemeClr>
                </a:solidFill>
              </a:rPr>
              <a:t>hình</a:t>
            </a:r>
            <a:r>
              <a:rPr lang="en-US" sz="1200" dirty="0">
                <a:solidFill>
                  <a:schemeClr val="accent4">
                    <a:lumMod val="10000"/>
                  </a:schemeClr>
                </a:solidFill>
              </a:rPr>
              <a:t>)</a:t>
            </a:r>
            <a:br>
              <a:rPr lang="pt-BR" sz="1200" dirty="0">
                <a:solidFill>
                  <a:schemeClr val="accent4">
                    <a:lumMod val="10000"/>
                  </a:schemeClr>
                </a:solidFill>
              </a:rPr>
            </a:br>
            <a:endParaRPr lang="en-US" sz="1200" dirty="0">
              <a:solidFill>
                <a:schemeClr val="accent4">
                  <a:lumMod val="10000"/>
                </a:schemeClr>
              </a:solidFill>
            </a:endParaRPr>
          </a:p>
        </p:txBody>
      </p:sp>
    </p:spTree>
    <p:extLst>
      <p:ext uri="{BB962C8B-B14F-4D97-AF65-F5344CB8AC3E}">
        <p14:creationId xmlns:p14="http://schemas.microsoft.com/office/powerpoint/2010/main" val="929584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FD7F0-69C8-E20B-D7E5-73143218943E}"/>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FCBC58C4-FAF4-9D5A-9972-45C63623D54C}"/>
              </a:ext>
            </a:extLst>
          </p:cNvPr>
          <p:cNvSpPr>
            <a:spLocks noGrp="1"/>
          </p:cNvSpPr>
          <p:nvPr>
            <p:ph type="title"/>
          </p:nvPr>
        </p:nvSpPr>
        <p:spPr>
          <a:xfrm>
            <a:off x="629200" y="77167"/>
            <a:ext cx="10962800" cy="894000"/>
          </a:xfrm>
        </p:spPr>
        <p:txBody>
          <a:bodyPr/>
          <a:lstStyle/>
          <a:p>
            <a:r>
              <a:rPr lang="en" sz="4800" b="1" dirty="0"/>
              <a:t>Phương pháp tiếp cận</a:t>
            </a:r>
            <a:endParaRPr lang="en-US" sz="4800" b="1" dirty="0"/>
          </a:p>
        </p:txBody>
      </p:sp>
      <p:sp>
        <p:nvSpPr>
          <p:cNvPr id="12" name="Text Placeholder 2">
            <a:extLst>
              <a:ext uri="{FF2B5EF4-FFF2-40B4-BE49-F238E27FC236}">
                <a16:creationId xmlns:a16="http://schemas.microsoft.com/office/drawing/2014/main" id="{0DE1BB45-B648-D121-A0AD-082273AEEE61}"/>
              </a:ext>
            </a:extLst>
          </p:cNvPr>
          <p:cNvSpPr txBox="1">
            <a:spLocks/>
          </p:cNvSpPr>
          <p:nvPr/>
        </p:nvSpPr>
        <p:spPr>
          <a:xfrm>
            <a:off x="0" y="971167"/>
            <a:ext cx="10962800" cy="55192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609585" marR="0" lvl="0" indent="-491054" algn="l" rtl="0">
              <a:lnSpc>
                <a:spcPct val="115000"/>
              </a:lnSpc>
              <a:spcBef>
                <a:spcPts val="0"/>
              </a:spcBef>
              <a:spcAft>
                <a:spcPts val="0"/>
              </a:spcAft>
              <a:buClr>
                <a:srgbClr val="000000"/>
              </a:buClr>
              <a:buSzPts val="2200"/>
              <a:buFont typeface="Roboto"/>
              <a:buChar char="●"/>
              <a:defRPr sz="2933" b="0" i="0" u="none" strike="noStrike" cap="none">
                <a:solidFill>
                  <a:srgbClr val="000000"/>
                </a:solidFill>
                <a:latin typeface="Roboto"/>
                <a:ea typeface="Roboto"/>
                <a:cs typeface="Roboto"/>
                <a:sym typeface="Roboto"/>
              </a:defRPr>
            </a:lvl1pPr>
            <a:lvl2pPr marL="1219170" marR="0" lvl="1" indent="-474121" algn="l" rtl="0">
              <a:lnSpc>
                <a:spcPct val="115000"/>
              </a:lnSpc>
              <a:spcBef>
                <a:spcPts val="2133"/>
              </a:spcBef>
              <a:spcAft>
                <a:spcPts val="0"/>
              </a:spcAft>
              <a:buClr>
                <a:srgbClr val="000000"/>
              </a:buClr>
              <a:buSzPts val="2000"/>
              <a:buFont typeface="Roboto"/>
              <a:buChar char="○"/>
              <a:defRPr sz="2667" b="0" i="0" u="none" strike="noStrike" cap="none">
                <a:solidFill>
                  <a:srgbClr val="000000"/>
                </a:solidFill>
                <a:latin typeface="Roboto"/>
                <a:ea typeface="Roboto"/>
                <a:cs typeface="Roboto"/>
                <a:sym typeface="Roboto"/>
              </a:defRPr>
            </a:lvl2pPr>
            <a:lvl3pPr marL="1828754" marR="0" lvl="2" indent="-457189" algn="l" rtl="0">
              <a:lnSpc>
                <a:spcPct val="115000"/>
              </a:lnSpc>
              <a:spcBef>
                <a:spcPts val="2133"/>
              </a:spcBef>
              <a:spcAft>
                <a:spcPts val="0"/>
              </a:spcAft>
              <a:buClr>
                <a:srgbClr val="000000"/>
              </a:buClr>
              <a:buSzPts val="1800"/>
              <a:buFont typeface="Roboto"/>
              <a:buChar char="■"/>
              <a:defRPr sz="2400" b="0" i="0" u="none" strike="noStrike" cap="none">
                <a:solidFill>
                  <a:srgbClr val="000000"/>
                </a:solidFill>
                <a:latin typeface="Roboto"/>
                <a:ea typeface="Roboto"/>
                <a:cs typeface="Roboto"/>
                <a:sym typeface="Roboto"/>
              </a:defRPr>
            </a:lvl3pPr>
            <a:lvl4pPr marL="2438339" marR="0" lvl="3" indent="-440256" algn="l" rtl="0">
              <a:lnSpc>
                <a:spcPct val="115000"/>
              </a:lnSpc>
              <a:spcBef>
                <a:spcPts val="2133"/>
              </a:spcBef>
              <a:spcAft>
                <a:spcPts val="0"/>
              </a:spcAft>
              <a:buClr>
                <a:srgbClr val="000000"/>
              </a:buClr>
              <a:buSzPts val="1600"/>
              <a:buFont typeface="Roboto"/>
              <a:buChar char="●"/>
              <a:defRPr sz="2133" b="0" i="0" u="none" strike="noStrike" cap="none">
                <a:solidFill>
                  <a:srgbClr val="000000"/>
                </a:solidFill>
                <a:latin typeface="Roboto"/>
                <a:ea typeface="Roboto"/>
                <a:cs typeface="Roboto"/>
                <a:sym typeface="Roboto"/>
              </a:defRPr>
            </a:lvl4pPr>
            <a:lvl5pPr marL="3047924" marR="0" lvl="4" indent="-423323" algn="l" rtl="0">
              <a:lnSpc>
                <a:spcPct val="115000"/>
              </a:lnSpc>
              <a:spcBef>
                <a:spcPts val="2133"/>
              </a:spcBef>
              <a:spcAft>
                <a:spcPts val="0"/>
              </a:spcAft>
              <a:buClr>
                <a:srgbClr val="000000"/>
              </a:buClr>
              <a:buSzPts val="1400"/>
              <a:buFont typeface="Roboto"/>
              <a:buChar char="○"/>
              <a:defRPr sz="1867" b="0" i="0" u="none" strike="noStrike" cap="none">
                <a:solidFill>
                  <a:srgbClr val="000000"/>
                </a:solidFill>
                <a:latin typeface="Roboto"/>
                <a:ea typeface="Roboto"/>
                <a:cs typeface="Roboto"/>
                <a:sym typeface="Roboto"/>
              </a:defRPr>
            </a:lvl5pPr>
            <a:lvl6pPr marL="3657509" marR="0" lvl="5" indent="-423323" algn="l" rtl="0">
              <a:lnSpc>
                <a:spcPct val="115000"/>
              </a:lnSpc>
              <a:spcBef>
                <a:spcPts val="2133"/>
              </a:spcBef>
              <a:spcAft>
                <a:spcPts val="0"/>
              </a:spcAft>
              <a:buClr>
                <a:srgbClr val="000000"/>
              </a:buClr>
              <a:buSzPts val="1400"/>
              <a:buFont typeface="Roboto"/>
              <a:buChar char="■"/>
              <a:defRPr sz="1867" b="0" i="0" u="none" strike="noStrike" cap="none">
                <a:solidFill>
                  <a:srgbClr val="000000"/>
                </a:solidFill>
                <a:latin typeface="Roboto"/>
                <a:ea typeface="Roboto"/>
                <a:cs typeface="Roboto"/>
                <a:sym typeface="Roboto"/>
              </a:defRPr>
            </a:lvl6pPr>
            <a:lvl7pPr marL="4267093" marR="0" lvl="6" indent="-423323" algn="l" rtl="0">
              <a:lnSpc>
                <a:spcPct val="115000"/>
              </a:lnSpc>
              <a:spcBef>
                <a:spcPts val="2133"/>
              </a:spcBef>
              <a:spcAft>
                <a:spcPts val="0"/>
              </a:spcAft>
              <a:buClr>
                <a:srgbClr val="000000"/>
              </a:buClr>
              <a:buSzPts val="1400"/>
              <a:buFont typeface="Roboto"/>
              <a:buChar char="●"/>
              <a:defRPr sz="1867" b="0" i="0" u="none" strike="noStrike" cap="none">
                <a:solidFill>
                  <a:srgbClr val="000000"/>
                </a:solidFill>
                <a:latin typeface="Roboto"/>
                <a:ea typeface="Roboto"/>
                <a:cs typeface="Roboto"/>
                <a:sym typeface="Roboto"/>
              </a:defRPr>
            </a:lvl7pPr>
            <a:lvl8pPr marL="4876678" marR="0" lvl="7" indent="-423323" algn="l" rtl="0">
              <a:lnSpc>
                <a:spcPct val="115000"/>
              </a:lnSpc>
              <a:spcBef>
                <a:spcPts val="2133"/>
              </a:spcBef>
              <a:spcAft>
                <a:spcPts val="0"/>
              </a:spcAft>
              <a:buClr>
                <a:srgbClr val="000000"/>
              </a:buClr>
              <a:buSzPts val="1400"/>
              <a:buFont typeface="Roboto"/>
              <a:buChar char="○"/>
              <a:defRPr sz="1867" b="0" i="0" u="none" strike="noStrike" cap="none">
                <a:solidFill>
                  <a:srgbClr val="000000"/>
                </a:solidFill>
                <a:latin typeface="Roboto"/>
                <a:ea typeface="Roboto"/>
                <a:cs typeface="Roboto"/>
                <a:sym typeface="Roboto"/>
              </a:defRPr>
            </a:lvl8pPr>
            <a:lvl9pPr marL="5486263" marR="0" lvl="8" indent="-423323" algn="l" rtl="0">
              <a:lnSpc>
                <a:spcPct val="115000"/>
              </a:lnSpc>
              <a:spcBef>
                <a:spcPts val="2133"/>
              </a:spcBef>
              <a:spcAft>
                <a:spcPts val="2133"/>
              </a:spcAft>
              <a:buClr>
                <a:schemeClr val="lt2"/>
              </a:buClr>
              <a:buSzPts val="1400"/>
              <a:buFont typeface="Roboto"/>
              <a:buChar char="■"/>
              <a:defRPr sz="1867" b="0" i="0" u="none" strike="noStrike" cap="none">
                <a:solidFill>
                  <a:schemeClr val="lt2"/>
                </a:solidFill>
                <a:latin typeface="Roboto"/>
                <a:ea typeface="Roboto"/>
                <a:cs typeface="Roboto"/>
                <a:sym typeface="Roboto"/>
              </a:defRPr>
            </a:lvl9pPr>
          </a:lstStyle>
          <a:p>
            <a:pPr marL="118531" indent="0">
              <a:buFont typeface="Roboto"/>
              <a:buNone/>
            </a:pPr>
            <a:r>
              <a:rPr lang="en-US" sz="2000" b="1" kern="0" dirty="0"/>
              <a:t>7. </a:t>
            </a:r>
            <a:r>
              <a:rPr lang="en-US" sz="2000" b="1" kern="0" dirty="0" err="1"/>
              <a:t>Dự</a:t>
            </a:r>
            <a:r>
              <a:rPr lang="en-US" sz="2000" b="1" kern="0" dirty="0"/>
              <a:t> </a:t>
            </a:r>
            <a:r>
              <a:rPr lang="en-US" sz="2000" b="1" kern="0" dirty="0" err="1"/>
              <a:t>đoán</a:t>
            </a:r>
            <a:r>
              <a:rPr lang="en-US" sz="2000" b="1" kern="0" dirty="0"/>
              <a:t> </a:t>
            </a:r>
            <a:r>
              <a:rPr lang="en-US" sz="2000" b="1" kern="0" dirty="0" err="1"/>
              <a:t>giá</a:t>
            </a:r>
            <a:r>
              <a:rPr lang="en-US" sz="2000" b="1" kern="0" dirty="0"/>
              <a:t> </a:t>
            </a:r>
            <a:r>
              <a:rPr lang="en-US" sz="2000" b="1" kern="0" dirty="0" err="1"/>
              <a:t>nhà</a:t>
            </a:r>
            <a:endParaRPr lang="en-US" sz="2000" b="1" kern="0" dirty="0"/>
          </a:p>
        </p:txBody>
      </p:sp>
      <p:sp>
        <p:nvSpPr>
          <p:cNvPr id="10" name="TextBox 9">
            <a:extLst>
              <a:ext uri="{FF2B5EF4-FFF2-40B4-BE49-F238E27FC236}">
                <a16:creationId xmlns:a16="http://schemas.microsoft.com/office/drawing/2014/main" id="{B83C1370-2642-23B5-6F71-0E65C125D161}"/>
              </a:ext>
            </a:extLst>
          </p:cNvPr>
          <p:cNvSpPr txBox="1"/>
          <p:nvPr/>
        </p:nvSpPr>
        <p:spPr>
          <a:xfrm>
            <a:off x="4031200" y="7287908"/>
            <a:ext cx="2661271" cy="307777"/>
          </a:xfrm>
          <a:prstGeom prst="rect">
            <a:avLst/>
          </a:prstGeom>
          <a:noFill/>
        </p:spPr>
        <p:txBody>
          <a:bodyPr wrap="square">
            <a:spAutoFit/>
          </a:bodyPr>
          <a:lstStyle/>
          <a:p>
            <a:r>
              <a:rPr lang="en-US" sz="1400" b="0" i="1" u="none" strike="noStrike" dirty="0" err="1">
                <a:solidFill>
                  <a:srgbClr val="000000"/>
                </a:solidFill>
                <a:effectLst/>
                <a:latin typeface="Times New Roman" panose="02020603050405020304" pitchFamily="18" charset="0"/>
              </a:rPr>
              <a:t>Hình</a:t>
            </a:r>
            <a:r>
              <a:rPr lang="en-US" sz="1400" b="0" i="1" u="none" strike="noStrike" dirty="0">
                <a:solidFill>
                  <a:srgbClr val="000000"/>
                </a:solidFill>
                <a:effectLst/>
                <a:latin typeface="Times New Roman" panose="02020603050405020304" pitchFamily="18" charset="0"/>
              </a:rPr>
              <a:t> 26: </a:t>
            </a:r>
            <a:r>
              <a:rPr lang="en-US" sz="1400" b="0" i="1" u="none" strike="noStrike" dirty="0" err="1">
                <a:solidFill>
                  <a:srgbClr val="000000"/>
                </a:solidFill>
                <a:effectLst/>
                <a:latin typeface="Times New Roman" panose="02020603050405020304" pitchFamily="18" charset="0"/>
              </a:rPr>
              <a:t>Kết</a:t>
            </a:r>
            <a:r>
              <a:rPr lang="en-US" sz="1400" b="0" i="1" u="none" strike="noStrike" dirty="0">
                <a:solidFill>
                  <a:srgbClr val="000000"/>
                </a:solidFill>
                <a:effectLst/>
                <a:latin typeface="Times New Roman" panose="02020603050405020304" pitchFamily="18" charset="0"/>
              </a:rPr>
              <a:t> </a:t>
            </a:r>
            <a:r>
              <a:rPr lang="en-US" sz="1400" b="0" i="1" u="none" strike="noStrike" dirty="0" err="1">
                <a:solidFill>
                  <a:srgbClr val="000000"/>
                </a:solidFill>
                <a:effectLst/>
                <a:latin typeface="Times New Roman" panose="02020603050405020304" pitchFamily="18" charset="0"/>
              </a:rPr>
              <a:t>qu</a:t>
            </a:r>
            <a:r>
              <a:rPr lang="en-US" sz="1400" i="1" dirty="0" err="1">
                <a:solidFill>
                  <a:srgbClr val="000000"/>
                </a:solidFill>
                <a:latin typeface="Times New Roman" panose="02020603050405020304" pitchFamily="18" charset="0"/>
              </a:rPr>
              <a:t>ả</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phân</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cụm</a:t>
            </a:r>
            <a:endParaRPr lang="en-US" sz="1400" dirty="0"/>
          </a:p>
        </p:txBody>
      </p:sp>
      <p:pic>
        <p:nvPicPr>
          <p:cNvPr id="7176" name="Picture 8">
            <a:extLst>
              <a:ext uri="{FF2B5EF4-FFF2-40B4-BE49-F238E27FC236}">
                <a16:creationId xmlns:a16="http://schemas.microsoft.com/office/drawing/2014/main" id="{4B5B37A9-AD24-7EDF-BEC6-ADD0697FEB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565" y="1523087"/>
            <a:ext cx="5581650" cy="3362325"/>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DB4AEAE7-4827-373D-C0AA-80DF670A8245}"/>
              </a:ext>
            </a:extLst>
          </p:cNvPr>
          <p:cNvSpPr txBox="1"/>
          <p:nvPr/>
        </p:nvSpPr>
        <p:spPr>
          <a:xfrm>
            <a:off x="152195" y="4917347"/>
            <a:ext cx="6098501" cy="307777"/>
          </a:xfrm>
          <a:prstGeom prst="rect">
            <a:avLst/>
          </a:prstGeom>
          <a:noFill/>
        </p:spPr>
        <p:txBody>
          <a:bodyPr wrap="square">
            <a:spAutoFit/>
          </a:bodyPr>
          <a:lstStyle/>
          <a:p>
            <a:pPr algn="ctr"/>
            <a:r>
              <a:rPr lang="en-US" sz="1400" b="0" i="1" u="none" strike="noStrike" dirty="0" err="1">
                <a:solidFill>
                  <a:srgbClr val="000000"/>
                </a:solidFill>
                <a:effectLst/>
                <a:latin typeface="Times New Roman" panose="02020603050405020304" pitchFamily="18" charset="0"/>
              </a:rPr>
              <a:t>Hình</a:t>
            </a:r>
            <a:r>
              <a:rPr lang="en-US" sz="1400" b="0" i="1" u="none" strike="noStrike" dirty="0">
                <a:solidFill>
                  <a:srgbClr val="000000"/>
                </a:solidFill>
                <a:effectLst/>
                <a:latin typeface="Times New Roman" panose="02020603050405020304" pitchFamily="18" charset="0"/>
              </a:rPr>
              <a:t> 36</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Tầm</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quan</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trọng</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của</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các</a:t>
            </a:r>
            <a:r>
              <a:rPr lang="en-US" sz="1400" i="1" dirty="0">
                <a:solidFill>
                  <a:srgbClr val="000000"/>
                </a:solidFill>
                <a:latin typeface="Times New Roman" panose="02020603050405020304" pitchFamily="18" charset="0"/>
              </a:rPr>
              <a:t> </a:t>
            </a:r>
            <a:r>
              <a:rPr lang="en-US" sz="1400" i="1" dirty="0" err="1">
                <a:solidFill>
                  <a:srgbClr val="000000"/>
                </a:solidFill>
                <a:latin typeface="Times New Roman" panose="02020603050405020304" pitchFamily="18" charset="0"/>
              </a:rPr>
              <a:t>biến</a:t>
            </a:r>
            <a:endParaRPr lang="en-US" sz="1400" dirty="0"/>
          </a:p>
        </p:txBody>
      </p:sp>
      <p:sp>
        <p:nvSpPr>
          <p:cNvPr id="3" name="TextBox 2">
            <a:extLst>
              <a:ext uri="{FF2B5EF4-FFF2-40B4-BE49-F238E27FC236}">
                <a16:creationId xmlns:a16="http://schemas.microsoft.com/office/drawing/2014/main" id="{6AC0BC40-3F22-369D-CA79-ADC329A1AD4B}"/>
              </a:ext>
            </a:extLst>
          </p:cNvPr>
          <p:cNvSpPr txBox="1"/>
          <p:nvPr/>
        </p:nvSpPr>
        <p:spPr>
          <a:xfrm>
            <a:off x="5953759" y="1349045"/>
            <a:ext cx="7351915" cy="5009064"/>
          </a:xfrm>
          <a:prstGeom prst="rect">
            <a:avLst/>
          </a:prstGeom>
          <a:noFill/>
        </p:spPr>
        <p:txBody>
          <a:bodyPr wrap="square">
            <a:spAutoFit/>
          </a:bodyPr>
          <a:lstStyle/>
          <a:p>
            <a:pPr algn="l">
              <a:spcBef>
                <a:spcPts val="1200"/>
              </a:spcBef>
              <a:spcAft>
                <a:spcPts val="600"/>
              </a:spcAft>
              <a:buFont typeface="+mj-lt"/>
              <a:buAutoNum type="arabicPeriod"/>
            </a:pPr>
            <a:r>
              <a:rPr lang="vi-VN" b="1" i="0" dirty="0">
                <a:solidFill>
                  <a:srgbClr val="0F1115"/>
                </a:solidFill>
                <a:effectLst/>
                <a:latin typeface="quote-cjk-patch"/>
              </a:rPr>
              <a:t>Hiệu suất mô hình tốt</a:t>
            </a:r>
            <a:endParaRPr lang="vi-VN" b="0" i="0" dirty="0">
              <a:solidFill>
                <a:srgbClr val="0F1115"/>
              </a:solidFill>
              <a:effectLst/>
              <a:latin typeface="quote-cjk-patch"/>
            </a:endParaRPr>
          </a:p>
          <a:p>
            <a:pPr marL="742950" lvl="1" indent="-285750" algn="l">
              <a:spcBef>
                <a:spcPts val="300"/>
              </a:spcBef>
              <a:buFont typeface="+mj-lt"/>
              <a:buAutoNum type="arabicPeriod"/>
            </a:pPr>
            <a:r>
              <a:rPr lang="vi-VN" b="0" i="0" dirty="0">
                <a:solidFill>
                  <a:srgbClr val="0F1115"/>
                </a:solidFill>
                <a:effectLst/>
                <a:latin typeface="quote-cjk-patch"/>
              </a:rPr>
              <a:t>Chỉ số R² ≈ 0.65</a:t>
            </a:r>
          </a:p>
          <a:p>
            <a:pPr marL="742950" lvl="1" indent="-285750" algn="l">
              <a:spcBef>
                <a:spcPts val="450"/>
              </a:spcBef>
              <a:buFont typeface="+mj-lt"/>
              <a:buAutoNum type="arabicPeriod"/>
            </a:pPr>
            <a:r>
              <a:rPr lang="vi-VN" b="0" i="0" dirty="0">
                <a:solidFill>
                  <a:srgbClr val="0F1115"/>
                </a:solidFill>
                <a:effectLst/>
                <a:latin typeface="quote-cjk-patch"/>
              </a:rPr>
              <a:t>Dự đoán tương đối chính xác</a:t>
            </a:r>
          </a:p>
          <a:p>
            <a:pPr algn="l">
              <a:spcBef>
                <a:spcPts val="450"/>
              </a:spcBef>
              <a:spcAft>
                <a:spcPts val="600"/>
              </a:spcAft>
              <a:buFont typeface="+mj-lt"/>
              <a:buAutoNum type="arabicPeriod"/>
            </a:pPr>
            <a:r>
              <a:rPr lang="vi-VN" b="1" i="0" dirty="0">
                <a:solidFill>
                  <a:srgbClr val="0F1115"/>
                </a:solidFill>
                <a:effectLst/>
                <a:latin typeface="quote-cjk-patch"/>
              </a:rPr>
              <a:t>Nhóm yếu tố quan trọng nhất: VỊ TRÍ</a:t>
            </a:r>
            <a:endParaRPr lang="vi-VN" b="0" i="0" dirty="0">
              <a:solidFill>
                <a:srgbClr val="0F1115"/>
              </a:solidFill>
              <a:effectLst/>
              <a:latin typeface="quote-cjk-patch"/>
            </a:endParaRPr>
          </a:p>
          <a:p>
            <a:pPr marL="742950" lvl="1" indent="-285750" algn="l">
              <a:spcBef>
                <a:spcPts val="300"/>
              </a:spcBef>
              <a:buFont typeface="+mj-lt"/>
              <a:buAutoNum type="arabicPeriod"/>
            </a:pPr>
            <a:r>
              <a:rPr lang="vi-VN" b="0" i="0" dirty="0">
                <a:solidFill>
                  <a:srgbClr val="0F1115"/>
                </a:solidFill>
                <a:effectLst/>
                <a:latin typeface="quote-cjk-patch"/>
              </a:rPr>
              <a:t>Thành phố</a:t>
            </a:r>
          </a:p>
          <a:p>
            <a:pPr marL="742950" lvl="1" indent="-285750" algn="l">
              <a:spcBef>
                <a:spcPts val="450"/>
              </a:spcBef>
              <a:buFont typeface="+mj-lt"/>
              <a:buAutoNum type="arabicPeriod"/>
            </a:pPr>
            <a:r>
              <a:rPr lang="vi-VN" b="0" i="0" dirty="0">
                <a:solidFill>
                  <a:srgbClr val="0F1115"/>
                </a:solidFill>
                <a:effectLst/>
                <a:latin typeface="quote-cjk-patch"/>
              </a:rPr>
              <a:t>Quận/Huyện</a:t>
            </a:r>
          </a:p>
          <a:p>
            <a:pPr algn="l">
              <a:spcBef>
                <a:spcPts val="450"/>
              </a:spcBef>
              <a:spcAft>
                <a:spcPts val="600"/>
              </a:spcAft>
              <a:buFont typeface="+mj-lt"/>
              <a:buAutoNum type="arabicPeriod"/>
            </a:pPr>
            <a:r>
              <a:rPr lang="vi-VN" b="1" i="0" dirty="0">
                <a:solidFill>
                  <a:srgbClr val="0F1115"/>
                </a:solidFill>
                <a:effectLst/>
                <a:latin typeface="quote-cjk-patch"/>
              </a:rPr>
              <a:t>Nhóm yếu tố quan trọng thứ hai: ĐẶC ĐIỂM CÔNG NĂNG</a:t>
            </a:r>
            <a:endParaRPr lang="vi-VN" b="0" i="0" dirty="0">
              <a:solidFill>
                <a:srgbClr val="0F1115"/>
              </a:solidFill>
              <a:effectLst/>
              <a:latin typeface="quote-cjk-patch"/>
            </a:endParaRPr>
          </a:p>
          <a:p>
            <a:pPr marL="742950" lvl="1" indent="-285750" algn="l">
              <a:spcBef>
                <a:spcPts val="300"/>
              </a:spcBef>
              <a:buFont typeface="+mj-lt"/>
              <a:buAutoNum type="arabicPeriod"/>
            </a:pPr>
            <a:r>
              <a:rPr lang="vi-VN" b="0" i="0" dirty="0">
                <a:solidFill>
                  <a:srgbClr val="0F1115"/>
                </a:solidFill>
                <a:effectLst/>
                <a:latin typeface="quote-cjk-patch"/>
              </a:rPr>
              <a:t>Số phòng ngủ, phòng tắm</a:t>
            </a:r>
          </a:p>
          <a:p>
            <a:pPr marL="742950" lvl="1" indent="-285750" algn="l">
              <a:spcBef>
                <a:spcPts val="450"/>
              </a:spcBef>
              <a:buFont typeface="+mj-lt"/>
              <a:buAutoNum type="arabicPeriod"/>
            </a:pPr>
            <a:r>
              <a:rPr lang="vi-VN" b="0" i="0" dirty="0">
                <a:solidFill>
                  <a:srgbClr val="0F1115"/>
                </a:solidFill>
                <a:effectLst/>
                <a:latin typeface="quote-cjk-patch"/>
              </a:rPr>
              <a:t>Số tầng</a:t>
            </a:r>
          </a:p>
          <a:p>
            <a:pPr marL="742950" lvl="1" indent="-285750" algn="l">
              <a:spcBef>
                <a:spcPts val="450"/>
              </a:spcBef>
              <a:buFont typeface="+mj-lt"/>
              <a:buAutoNum type="arabicPeriod"/>
            </a:pPr>
            <a:r>
              <a:rPr lang="vi-VN" b="0" i="0" dirty="0">
                <a:solidFill>
                  <a:srgbClr val="0F1115"/>
                </a:solidFill>
                <a:effectLst/>
                <a:latin typeface="quote-cjk-patch"/>
              </a:rPr>
              <a:t>Diện tích</a:t>
            </a:r>
          </a:p>
          <a:p>
            <a:pPr algn="l">
              <a:spcBef>
                <a:spcPts val="450"/>
              </a:spcBef>
              <a:spcAft>
                <a:spcPts val="600"/>
              </a:spcAft>
              <a:buFont typeface="+mj-lt"/>
              <a:buAutoNum type="arabicPeriod"/>
            </a:pPr>
            <a:r>
              <a:rPr lang="vi-VN" b="1" i="0" dirty="0">
                <a:solidFill>
                  <a:srgbClr val="0F1115"/>
                </a:solidFill>
                <a:effectLst/>
                <a:latin typeface="quote-cjk-patch"/>
              </a:rPr>
              <a:t>Nhóm yếu tố có ảnh hưởng điều chỉnh</a:t>
            </a:r>
            <a:endParaRPr lang="vi-VN" b="0" i="0" dirty="0">
              <a:solidFill>
                <a:srgbClr val="0F1115"/>
              </a:solidFill>
              <a:effectLst/>
              <a:latin typeface="quote-cjk-patch"/>
            </a:endParaRPr>
          </a:p>
          <a:p>
            <a:pPr marL="742950" lvl="1" indent="-285750" algn="l">
              <a:spcBef>
                <a:spcPts val="300"/>
              </a:spcBef>
              <a:buFont typeface="+mj-lt"/>
              <a:buAutoNum type="arabicPeriod"/>
            </a:pPr>
            <a:r>
              <a:rPr lang="vi-VN" b="0" i="0" dirty="0">
                <a:solidFill>
                  <a:srgbClr val="0F1115"/>
                </a:solidFill>
                <a:effectLst/>
                <a:latin typeface="quote-cjk-patch"/>
              </a:rPr>
              <a:t>Hạ tầng tiếp cận</a:t>
            </a:r>
          </a:p>
          <a:p>
            <a:pPr marL="742950" lvl="1" indent="-285750" algn="l">
              <a:spcBef>
                <a:spcPts val="450"/>
              </a:spcBef>
              <a:buFont typeface="+mj-lt"/>
              <a:buAutoNum type="arabicPeriod"/>
            </a:pPr>
            <a:r>
              <a:rPr lang="vi-VN" b="0" i="0" dirty="0">
                <a:solidFill>
                  <a:srgbClr val="0F1115"/>
                </a:solidFill>
                <a:effectLst/>
                <a:latin typeface="quote-cjk-patch"/>
              </a:rPr>
              <a:t>Mặt tiền</a:t>
            </a:r>
          </a:p>
          <a:p>
            <a:pPr marL="742950" lvl="1" indent="-285750" algn="l">
              <a:spcBef>
                <a:spcPts val="450"/>
              </a:spcBef>
              <a:buFont typeface="+mj-lt"/>
              <a:buAutoNum type="arabicPeriod"/>
            </a:pPr>
            <a:r>
              <a:rPr lang="vi-VN" b="0" i="0" dirty="0">
                <a:solidFill>
                  <a:srgbClr val="0F1115"/>
                </a:solidFill>
                <a:effectLst/>
                <a:latin typeface="quote-cjk-patch"/>
              </a:rPr>
              <a:t>Yếu tố pháp lý</a:t>
            </a:r>
          </a:p>
        </p:txBody>
      </p:sp>
    </p:spTree>
    <p:extLst>
      <p:ext uri="{BB962C8B-B14F-4D97-AF65-F5344CB8AC3E}">
        <p14:creationId xmlns:p14="http://schemas.microsoft.com/office/powerpoint/2010/main" val="32164316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800" b="1" dirty="0" err="1"/>
              <a:t>Đánh</a:t>
            </a:r>
            <a:r>
              <a:rPr lang="en-US" sz="4800" b="1" dirty="0"/>
              <a:t> </a:t>
            </a:r>
            <a:r>
              <a:rPr lang="en-US" sz="4800" b="1" dirty="0" err="1"/>
              <a:t>giá</a:t>
            </a:r>
            <a:endParaRPr lang="en-US" sz="4800" b="1" dirty="0"/>
          </a:p>
        </p:txBody>
      </p:sp>
      <p:sp>
        <p:nvSpPr>
          <p:cNvPr id="11" name="TextBox 10">
            <a:extLst>
              <a:ext uri="{FF2B5EF4-FFF2-40B4-BE49-F238E27FC236}">
                <a16:creationId xmlns:a16="http://schemas.microsoft.com/office/drawing/2014/main" id="{C204A3A1-65F4-141A-1702-AA5011F2843F}"/>
              </a:ext>
            </a:extLst>
          </p:cNvPr>
          <p:cNvSpPr txBox="1"/>
          <p:nvPr/>
        </p:nvSpPr>
        <p:spPr>
          <a:xfrm>
            <a:off x="187320" y="971167"/>
            <a:ext cx="11846560" cy="5268109"/>
          </a:xfrm>
          <a:prstGeom prst="rect">
            <a:avLst/>
          </a:prstGeom>
          <a:noFill/>
        </p:spPr>
        <p:txBody>
          <a:bodyPr wrap="square">
            <a:spAutoFit/>
          </a:bodyPr>
          <a:lstStyle/>
          <a:p>
            <a:pPr algn="l">
              <a:spcBef>
                <a:spcPts val="1200"/>
              </a:spcBef>
              <a:spcAft>
                <a:spcPts val="1200"/>
              </a:spcAft>
              <a:buNone/>
            </a:pPr>
            <a:r>
              <a:rPr lang="vi-VN" sz="1100" b="1" i="0" dirty="0">
                <a:solidFill>
                  <a:srgbClr val="0F1115"/>
                </a:solidFill>
                <a:effectLst/>
              </a:rPr>
              <a:t>1. Phát hiện chính</a:t>
            </a:r>
            <a:endParaRPr lang="vi-VN" sz="1100" b="0" i="0" dirty="0">
              <a:solidFill>
                <a:srgbClr val="0F1115"/>
              </a:solidFill>
              <a:effectLst/>
            </a:endParaRPr>
          </a:p>
          <a:p>
            <a:pPr algn="l">
              <a:spcBef>
                <a:spcPts val="1200"/>
              </a:spcBef>
              <a:spcAft>
                <a:spcPts val="1200"/>
              </a:spcAft>
              <a:buFont typeface="Arial" panose="020B0604020202020204" pitchFamily="34" charset="0"/>
              <a:buChar char="•"/>
            </a:pPr>
            <a:r>
              <a:rPr lang="vi-VN" sz="1100" b="1" i="0" dirty="0">
                <a:solidFill>
                  <a:srgbClr val="0F1115"/>
                </a:solidFill>
                <a:effectLst/>
              </a:rPr>
              <a:t>Vị trí địa lý</a:t>
            </a:r>
            <a:r>
              <a:rPr lang="vi-VN" sz="1100" b="0" i="0" dirty="0">
                <a:solidFill>
                  <a:srgbClr val="0F1115"/>
                </a:solidFill>
                <a:effectLst/>
              </a:rPr>
              <a:t> (thành phố, quận/huyện) là yếu tố quyết định giá trị nền tảng.</a:t>
            </a:r>
          </a:p>
          <a:p>
            <a:pPr algn="l">
              <a:spcBef>
                <a:spcPts val="450"/>
              </a:spcBef>
              <a:spcAft>
                <a:spcPts val="1200"/>
              </a:spcAft>
              <a:buFont typeface="Arial" panose="020B0604020202020204" pitchFamily="34" charset="0"/>
              <a:buChar char="•"/>
            </a:pPr>
            <a:r>
              <a:rPr lang="vi-VN" sz="1100" b="1" i="0" dirty="0">
                <a:solidFill>
                  <a:srgbClr val="0F1115"/>
                </a:solidFill>
                <a:effectLst/>
              </a:rPr>
              <a:t>Công năng sử dụng</a:t>
            </a:r>
            <a:r>
              <a:rPr lang="vi-VN" sz="1100" b="0" i="0" dirty="0">
                <a:solidFill>
                  <a:srgbClr val="0F1115"/>
                </a:solidFill>
                <a:effectLst/>
              </a:rPr>
              <a:t> (số phòng tắm, phòng ngủ, tầng) có ảnh hưởng lớn hơn </a:t>
            </a:r>
            <a:r>
              <a:rPr lang="vi-VN" sz="1100" b="1" i="0" dirty="0">
                <a:solidFill>
                  <a:srgbClr val="0F1115"/>
                </a:solidFill>
                <a:effectLst/>
              </a:rPr>
              <a:t>diện tích</a:t>
            </a:r>
            <a:r>
              <a:rPr lang="vi-VN" sz="1100" b="0" i="0" dirty="0">
                <a:solidFill>
                  <a:srgbClr val="0F1115"/>
                </a:solidFill>
                <a:effectLst/>
              </a:rPr>
              <a:t>.</a:t>
            </a:r>
          </a:p>
          <a:p>
            <a:pPr algn="l">
              <a:spcBef>
                <a:spcPts val="450"/>
              </a:spcBef>
              <a:spcAft>
                <a:spcPts val="1200"/>
              </a:spcAft>
              <a:buFont typeface="Arial" panose="020B0604020202020204" pitchFamily="34" charset="0"/>
              <a:buChar char="•"/>
            </a:pPr>
            <a:r>
              <a:rPr lang="vi-VN" sz="1100" b="1" i="0" dirty="0">
                <a:solidFill>
                  <a:srgbClr val="0F1115"/>
                </a:solidFill>
                <a:effectLst/>
              </a:rPr>
              <a:t>Mô hình XGBoost</a:t>
            </a:r>
            <a:r>
              <a:rPr lang="vi-VN" sz="1100" b="0" i="0" dirty="0">
                <a:solidFill>
                  <a:srgbClr val="0F1115"/>
                </a:solidFill>
                <a:effectLst/>
              </a:rPr>
              <a:t> đạt hiệu suất tốt (R² ≈ 0.65), hỗ trợ dự đoán giá.</a:t>
            </a:r>
          </a:p>
          <a:p>
            <a:pPr algn="l">
              <a:spcBef>
                <a:spcPts val="450"/>
              </a:spcBef>
              <a:spcAft>
                <a:spcPts val="1200"/>
              </a:spcAft>
              <a:buFont typeface="Arial" panose="020B0604020202020204" pitchFamily="34" charset="0"/>
              <a:buChar char="•"/>
            </a:pPr>
            <a:r>
              <a:rPr lang="vi-VN" sz="1100" b="1" i="0" dirty="0">
                <a:solidFill>
                  <a:srgbClr val="0F1115"/>
                </a:solidFill>
                <a:effectLst/>
              </a:rPr>
              <a:t>Phân cụm</a:t>
            </a:r>
            <a:r>
              <a:rPr lang="vi-VN" sz="1100" b="0" i="0" dirty="0">
                <a:solidFill>
                  <a:srgbClr val="0F1115"/>
                </a:solidFill>
                <a:effectLst/>
              </a:rPr>
              <a:t> làm rõ cấu trúc phân khúc thị trường (nhà hẻm, mặt tiền, nhiều tầng...).</a:t>
            </a:r>
            <a:endParaRPr lang="en-US" sz="1100" b="0" i="0" dirty="0">
              <a:solidFill>
                <a:srgbClr val="0F1115"/>
              </a:solidFill>
              <a:effectLst/>
            </a:endParaRPr>
          </a:p>
          <a:p>
            <a:pPr algn="l">
              <a:spcBef>
                <a:spcPts val="450"/>
              </a:spcBef>
              <a:spcAft>
                <a:spcPts val="1200"/>
              </a:spcAft>
            </a:pPr>
            <a:r>
              <a:rPr lang="vi-VN" sz="1100" b="1" i="0" dirty="0">
                <a:solidFill>
                  <a:srgbClr val="0F1115"/>
                </a:solidFill>
                <a:effectLst/>
              </a:rPr>
              <a:t>2. Hàm ý thực tiễn</a:t>
            </a:r>
            <a:endParaRPr lang="vi-VN" sz="1100" b="0" i="0" dirty="0">
              <a:solidFill>
                <a:srgbClr val="0F1115"/>
              </a:solidFill>
              <a:effectLst/>
            </a:endParaRPr>
          </a:p>
          <a:p>
            <a:pPr algn="l">
              <a:spcBef>
                <a:spcPts val="1200"/>
              </a:spcBef>
              <a:spcAft>
                <a:spcPts val="1200"/>
              </a:spcAft>
              <a:buFont typeface="Arial" panose="020B0604020202020204" pitchFamily="34" charset="0"/>
              <a:buChar char="•"/>
            </a:pPr>
            <a:r>
              <a:rPr lang="vi-VN" sz="1100" b="1" i="0" dirty="0">
                <a:solidFill>
                  <a:srgbClr val="0F1115"/>
                </a:solidFill>
                <a:effectLst/>
              </a:rPr>
              <a:t>Người mua/nhà đầu tư:</a:t>
            </a:r>
            <a:r>
              <a:rPr lang="vi-VN" sz="1100" b="0" i="0" dirty="0">
                <a:solidFill>
                  <a:srgbClr val="0F1115"/>
                </a:solidFill>
                <a:effectLst/>
              </a:rPr>
              <a:t> Ưu tiên vị trí và công năng, sử dụng mô hình để đánh giá giá hợp lý.</a:t>
            </a:r>
          </a:p>
          <a:p>
            <a:pPr algn="l">
              <a:spcBef>
                <a:spcPts val="450"/>
              </a:spcBef>
              <a:spcAft>
                <a:spcPts val="1200"/>
              </a:spcAft>
              <a:buFont typeface="Arial" panose="020B0604020202020204" pitchFamily="34" charset="0"/>
              <a:buChar char="•"/>
            </a:pPr>
            <a:r>
              <a:rPr lang="vi-VN" sz="1100" b="1" i="0" dirty="0">
                <a:solidFill>
                  <a:srgbClr val="0F1115"/>
                </a:solidFill>
                <a:effectLst/>
              </a:rPr>
              <a:t>Nhà quản lý/Doanh nghiệp:</a:t>
            </a:r>
            <a:r>
              <a:rPr lang="vi-VN" sz="1100" b="0" i="0" dirty="0">
                <a:solidFill>
                  <a:srgbClr val="0F1115"/>
                </a:solidFill>
                <a:effectLst/>
              </a:rPr>
              <a:t> Ứng dụng mô hình định lượng để tăng minh bạch, giám sát biến động thị trường.</a:t>
            </a:r>
            <a:endParaRPr lang="en-US" sz="1100" b="0" i="0" dirty="0">
              <a:solidFill>
                <a:srgbClr val="0F1115"/>
              </a:solidFill>
              <a:effectLst/>
            </a:endParaRPr>
          </a:p>
          <a:p>
            <a:pPr algn="l">
              <a:spcBef>
                <a:spcPts val="450"/>
              </a:spcBef>
              <a:spcAft>
                <a:spcPts val="1200"/>
              </a:spcAft>
            </a:pPr>
            <a:r>
              <a:rPr lang="vi-VN" sz="1100" b="1" i="0" dirty="0">
                <a:solidFill>
                  <a:srgbClr val="0F1115"/>
                </a:solidFill>
                <a:effectLst/>
              </a:rPr>
              <a:t>3. Hạn chế</a:t>
            </a:r>
            <a:endParaRPr lang="vi-VN" sz="1100" b="0" i="0" dirty="0">
              <a:solidFill>
                <a:srgbClr val="0F1115"/>
              </a:solidFill>
              <a:effectLst/>
            </a:endParaRPr>
          </a:p>
          <a:p>
            <a:pPr algn="l">
              <a:spcBef>
                <a:spcPts val="1200"/>
              </a:spcBef>
              <a:spcAft>
                <a:spcPts val="1200"/>
              </a:spcAft>
              <a:buFont typeface="Arial" panose="020B0604020202020204" pitchFamily="34" charset="0"/>
              <a:buChar char="•"/>
            </a:pPr>
            <a:r>
              <a:rPr lang="vi-VN" sz="1100" b="0" i="0" dirty="0">
                <a:solidFill>
                  <a:srgbClr val="0F1115"/>
                </a:solidFill>
                <a:effectLst/>
              </a:rPr>
              <a:t>Dữ liệu giá chào bán (không phải giao dịch thực).</a:t>
            </a:r>
          </a:p>
          <a:p>
            <a:pPr algn="l">
              <a:spcBef>
                <a:spcPts val="450"/>
              </a:spcBef>
              <a:spcAft>
                <a:spcPts val="1200"/>
              </a:spcAft>
              <a:buFont typeface="Arial" panose="020B0604020202020204" pitchFamily="34" charset="0"/>
              <a:buChar char="•"/>
            </a:pPr>
            <a:r>
              <a:rPr lang="vi-VN" sz="1100" b="0" i="0" dirty="0">
                <a:solidFill>
                  <a:srgbClr val="0F1115"/>
                </a:solidFill>
                <a:effectLst/>
              </a:rPr>
              <a:t>Thiếu biến về hạ tầng, tiện ích và yếu tố thời gian.</a:t>
            </a:r>
            <a:endParaRPr lang="en-US" sz="1100" b="0" i="0" dirty="0">
              <a:solidFill>
                <a:srgbClr val="0F1115"/>
              </a:solidFill>
              <a:effectLst/>
            </a:endParaRPr>
          </a:p>
          <a:p>
            <a:pPr algn="l">
              <a:spcBef>
                <a:spcPts val="450"/>
              </a:spcBef>
              <a:spcAft>
                <a:spcPts val="1200"/>
              </a:spcAft>
            </a:pPr>
            <a:r>
              <a:rPr lang="vi-VN" sz="1100" b="1" i="0" dirty="0">
                <a:solidFill>
                  <a:srgbClr val="0F1115"/>
                </a:solidFill>
                <a:effectLst/>
              </a:rPr>
              <a:t>4. Hướng phát triển</a:t>
            </a:r>
            <a:endParaRPr lang="vi-VN" sz="1100" b="0" i="0" dirty="0">
              <a:solidFill>
                <a:srgbClr val="0F1115"/>
              </a:solidFill>
              <a:effectLst/>
            </a:endParaRPr>
          </a:p>
          <a:p>
            <a:pPr algn="l">
              <a:spcBef>
                <a:spcPts val="1200"/>
              </a:spcBef>
              <a:spcAft>
                <a:spcPts val="1200"/>
              </a:spcAft>
              <a:buFont typeface="Arial" panose="020B0604020202020204" pitchFamily="34" charset="0"/>
              <a:buChar char="•"/>
            </a:pPr>
            <a:r>
              <a:rPr lang="vi-VN" sz="1100" b="0" i="0" dirty="0">
                <a:solidFill>
                  <a:srgbClr val="0F1115"/>
                </a:solidFill>
                <a:effectLst/>
              </a:rPr>
              <a:t>Bổ sung dữ liệu giao dịch thực, yếu tố không gian và chuỗi thời gian.</a:t>
            </a:r>
          </a:p>
        </p:txBody>
      </p:sp>
      <p:sp>
        <p:nvSpPr>
          <p:cNvPr id="13" name="TextBox 12">
            <a:extLst>
              <a:ext uri="{FF2B5EF4-FFF2-40B4-BE49-F238E27FC236}">
                <a16:creationId xmlns:a16="http://schemas.microsoft.com/office/drawing/2014/main" id="{94475DB4-33A0-4004-C5C7-FE8D7ADBAB18}"/>
              </a:ext>
            </a:extLst>
          </p:cNvPr>
          <p:cNvSpPr txBox="1"/>
          <p:nvPr/>
        </p:nvSpPr>
        <p:spPr>
          <a:xfrm>
            <a:off x="5344160" y="5977666"/>
            <a:ext cx="6096000" cy="261610"/>
          </a:xfrm>
          <a:prstGeom prst="rect">
            <a:avLst/>
          </a:prstGeom>
          <a:noFill/>
        </p:spPr>
        <p:txBody>
          <a:bodyPr wrap="square">
            <a:spAutoFit/>
          </a:bodyPr>
          <a:lstStyle/>
          <a:p>
            <a:pPr algn="l">
              <a:spcBef>
                <a:spcPts val="450"/>
              </a:spcBef>
              <a:spcAft>
                <a:spcPts val="1200"/>
              </a:spcAft>
              <a:buFont typeface="Arial" panose="020B0604020202020204" pitchFamily="34" charset="0"/>
              <a:buChar char="•"/>
            </a:pPr>
            <a:r>
              <a:rPr lang="vi-VN" sz="1100" b="0" i="0" dirty="0">
                <a:solidFill>
                  <a:srgbClr val="0F1115"/>
                </a:solidFill>
                <a:effectLst/>
              </a:rPr>
              <a:t>Áp dụng SHAP để diễn giải mô hình sâu hơn.</a:t>
            </a:r>
          </a:p>
        </p:txBody>
      </p:sp>
    </p:spTree>
    <p:extLst>
      <p:ext uri="{BB962C8B-B14F-4D97-AF65-F5344CB8AC3E}">
        <p14:creationId xmlns:p14="http://schemas.microsoft.com/office/powerpoint/2010/main" val="21436352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86;p22"/>
          <p:cNvSpPr txBox="1">
            <a:spLocks noGrp="1"/>
          </p:cNvSpPr>
          <p:nvPr>
            <p:ph type="title"/>
          </p:nvPr>
        </p:nvSpPr>
        <p:spPr>
          <a:xfrm>
            <a:off x="484600" y="177800"/>
            <a:ext cx="8222100" cy="728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4800" b="1" dirty="0"/>
              <a:t>Tài liệu tham khảo</a:t>
            </a:r>
            <a:endParaRPr sz="4800" dirty="0"/>
          </a:p>
        </p:txBody>
      </p:sp>
    </p:spTree>
    <p:extLst>
      <p:ext uri="{BB962C8B-B14F-4D97-AF65-F5344CB8AC3E}">
        <p14:creationId xmlns:p14="http://schemas.microsoft.com/office/powerpoint/2010/main" val="494219874"/>
      </p:ext>
    </p:extLst>
  </p:cSld>
  <p:clrMapOvr>
    <a:masterClrMapping/>
  </p:clrMapOvr>
</p:sld>
</file>

<file path=ppt/theme/theme1.xml><?xml version="1.0" encoding="utf-8"?>
<a:theme xmlns:a="http://schemas.openxmlformats.org/drawingml/2006/main" name="1_Material - R01">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1627</TotalTime>
  <Words>2483</Words>
  <Application>Microsoft Office PowerPoint</Application>
  <PresentationFormat>Widescreen</PresentationFormat>
  <Paragraphs>178</Paragraphs>
  <Slides>22</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Calibri</vt:lpstr>
      <vt:lpstr>quote-cjk-patch</vt:lpstr>
      <vt:lpstr>Roboto</vt:lpstr>
      <vt:lpstr>Symbol</vt:lpstr>
      <vt:lpstr>Times New Roman</vt:lpstr>
      <vt:lpstr>1_Material - R01</vt:lpstr>
      <vt:lpstr>Phân Tích Và Dự Đoán Giá Nhà</vt:lpstr>
      <vt:lpstr>Giới thiệu</vt:lpstr>
      <vt:lpstr>Giới thiệu</vt:lpstr>
      <vt:lpstr>Giới thiệu</vt:lpstr>
      <vt:lpstr>Giới thiệu</vt:lpstr>
      <vt:lpstr>Giới thiệu</vt:lpstr>
      <vt:lpstr>Giới thiệu</vt:lpstr>
      <vt:lpstr>Phương pháp tiếp cận</vt:lpstr>
      <vt:lpstr>Phương pháp tiếp cận</vt:lpstr>
      <vt:lpstr>Phương pháp tiếp cận</vt:lpstr>
      <vt:lpstr>Phương pháp tiếp cận</vt:lpstr>
      <vt:lpstr>Phương pháp tiếp cận</vt:lpstr>
      <vt:lpstr>Phương pháp tiếp cận</vt:lpstr>
      <vt:lpstr>Phương pháp tiếp cận</vt:lpstr>
      <vt:lpstr>Phương pháp tiếp cận</vt:lpstr>
      <vt:lpstr>Phương pháp tiếp cận</vt:lpstr>
      <vt:lpstr>Phương pháp tiếp cận</vt:lpstr>
      <vt:lpstr>Phương pháp tiếp cận</vt:lpstr>
      <vt:lpstr>Phương pháp tiếp cận</vt:lpstr>
      <vt:lpstr>Phương pháp tiếp cận</vt:lpstr>
      <vt:lpstr>Đánh giá</vt:lpstr>
      <vt:lpstr>Tài liệu tham khảo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COLORIZING GRAYSCALE IMAGES USING DEEP LEARNING MODELS</dc:title>
  <dc:creator>DELL</dc:creator>
  <cp:lastModifiedBy>Phan Hoàng Vũ</cp:lastModifiedBy>
  <cp:revision>62</cp:revision>
  <dcterms:created xsi:type="dcterms:W3CDTF">2025-05-02T12:23:01Z</dcterms:created>
  <dcterms:modified xsi:type="dcterms:W3CDTF">2025-12-19T06:23:55Z</dcterms:modified>
</cp:coreProperties>
</file>